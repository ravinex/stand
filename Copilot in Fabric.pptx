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sldIdLst>
    <p:sldId id="293" r:id="rId2"/>
    <p:sldId id="296" r:id="rId3"/>
    <p:sldId id="295" r:id="rId4"/>
    <p:sldId id="297" r:id="rId5"/>
    <p:sldId id="298" r:id="rId6"/>
    <p:sldId id="299" r:id="rId7"/>
    <p:sldId id="300" r:id="rId8"/>
    <p:sldId id="301" r:id="rId9"/>
    <p:sldId id="302" r:id="rId10"/>
    <p:sldId id="303" r:id="rId11"/>
    <p:sldId id="304" r:id="rId12"/>
    <p:sldId id="305" r:id="rId13"/>
    <p:sldId id="307" r:id="rId14"/>
    <p:sldId id="308"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72263" autoAdjust="0"/>
  </p:normalViewPr>
  <p:slideViewPr>
    <p:cSldViewPr snapToGrid="0">
      <p:cViewPr varScale="1">
        <p:scale>
          <a:sx n="45" d="100"/>
          <a:sy n="45" d="100"/>
        </p:scale>
        <p:origin x="516" y="2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D644A52-903E-4871-B160-2603F125808E}" type="datetimeFigureOut">
              <a:rPr lang="en-AU" smtClean="0"/>
              <a:t>19/11/2025</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3588F27-7D87-4EC6-95FC-D7E5994196E5}" type="slidenum">
              <a:rPr lang="en-AU" smtClean="0"/>
              <a:t>‹#›</a:t>
            </a:fld>
            <a:endParaRPr lang="en-AU"/>
          </a:p>
        </p:txBody>
      </p:sp>
    </p:spTree>
    <p:extLst>
      <p:ext uri="{BB962C8B-B14F-4D97-AF65-F5344CB8AC3E}">
        <p14:creationId xmlns:p14="http://schemas.microsoft.com/office/powerpoint/2010/main" val="32893377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54A4EC1-C524-ED45-A185-10510AA0C8D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7996580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73588F27-7D87-4EC6-95FC-D7E5994196E5}" type="slidenum">
              <a:rPr lang="en-AU" smtClean="0"/>
              <a:t>6</a:t>
            </a:fld>
            <a:endParaRPr lang="en-AU"/>
          </a:p>
        </p:txBody>
      </p:sp>
    </p:spTree>
    <p:extLst>
      <p:ext uri="{BB962C8B-B14F-4D97-AF65-F5344CB8AC3E}">
        <p14:creationId xmlns:p14="http://schemas.microsoft.com/office/powerpoint/2010/main" val="93960127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C3114D-F497-8518-982C-E18929A7F7A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5A1B8FE-D1E1-A4ED-B328-8EE6C7BE850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225F56F-C4C6-D147-A047-77D9ED923E95}"/>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F9CCC4C4-1EE0-1CD8-131A-EFC90390B95B}"/>
              </a:ext>
            </a:extLst>
          </p:cNvPr>
          <p:cNvSpPr>
            <a:spLocks noGrp="1"/>
          </p:cNvSpPr>
          <p:nvPr>
            <p:ph type="sldNum" sz="quarter" idx="5"/>
          </p:nvPr>
        </p:nvSpPr>
        <p:spPr/>
        <p:txBody>
          <a:bodyPr/>
          <a:lstStyle/>
          <a:p>
            <a:fld id="{73588F27-7D87-4EC6-95FC-D7E5994196E5}" type="slidenum">
              <a:rPr lang="en-AU" smtClean="0"/>
              <a:t>7</a:t>
            </a:fld>
            <a:endParaRPr lang="en-AU"/>
          </a:p>
        </p:txBody>
      </p:sp>
    </p:spTree>
    <p:extLst>
      <p:ext uri="{BB962C8B-B14F-4D97-AF65-F5344CB8AC3E}">
        <p14:creationId xmlns:p14="http://schemas.microsoft.com/office/powerpoint/2010/main" val="90111037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5DAD47-5FDC-2CB5-AF14-C079524D68C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AU"/>
          </a:p>
        </p:txBody>
      </p:sp>
      <p:sp>
        <p:nvSpPr>
          <p:cNvPr id="3" name="Subtitle 2">
            <a:extLst>
              <a:ext uri="{FF2B5EF4-FFF2-40B4-BE49-F238E27FC236}">
                <a16:creationId xmlns:a16="http://schemas.microsoft.com/office/drawing/2014/main" id="{C0BD56AC-6D1A-F3E2-8107-29E6208D29E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AU"/>
          </a:p>
        </p:txBody>
      </p:sp>
      <p:sp>
        <p:nvSpPr>
          <p:cNvPr id="4" name="Date Placeholder 3">
            <a:extLst>
              <a:ext uri="{FF2B5EF4-FFF2-40B4-BE49-F238E27FC236}">
                <a16:creationId xmlns:a16="http://schemas.microsoft.com/office/drawing/2014/main" id="{F1C3B70B-6663-0D0E-F0B5-3F81FA566DC9}"/>
              </a:ext>
            </a:extLst>
          </p:cNvPr>
          <p:cNvSpPr>
            <a:spLocks noGrp="1"/>
          </p:cNvSpPr>
          <p:nvPr>
            <p:ph type="dt" sz="half" idx="10"/>
          </p:nvPr>
        </p:nvSpPr>
        <p:spPr/>
        <p:txBody>
          <a:bodyPr/>
          <a:lstStyle/>
          <a:p>
            <a:fld id="{CEA847C5-2B01-4A68-AAF0-23BF3BEFF0E4}" type="datetimeFigureOut">
              <a:rPr lang="en-AU" smtClean="0"/>
              <a:t>19/11/2025</a:t>
            </a:fld>
            <a:endParaRPr lang="en-AU"/>
          </a:p>
        </p:txBody>
      </p:sp>
      <p:sp>
        <p:nvSpPr>
          <p:cNvPr id="5" name="Footer Placeholder 4">
            <a:extLst>
              <a:ext uri="{FF2B5EF4-FFF2-40B4-BE49-F238E27FC236}">
                <a16:creationId xmlns:a16="http://schemas.microsoft.com/office/drawing/2014/main" id="{4C87D66A-6FB4-47B7-8C1F-3031A40CFF7A}"/>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84C121B2-DED7-E583-DFD5-A04939DDEC77}"/>
              </a:ext>
            </a:extLst>
          </p:cNvPr>
          <p:cNvSpPr>
            <a:spLocks noGrp="1"/>
          </p:cNvSpPr>
          <p:nvPr>
            <p:ph type="sldNum" sz="quarter" idx="12"/>
          </p:nvPr>
        </p:nvSpPr>
        <p:spPr/>
        <p:txBody>
          <a:bodyPr/>
          <a:lstStyle/>
          <a:p>
            <a:fld id="{126420BC-4690-4AB5-A138-F39DF2867DCD}" type="slidenum">
              <a:rPr lang="en-AU" smtClean="0"/>
              <a:t>‹#›</a:t>
            </a:fld>
            <a:endParaRPr lang="en-AU"/>
          </a:p>
        </p:txBody>
      </p:sp>
    </p:spTree>
    <p:extLst>
      <p:ext uri="{BB962C8B-B14F-4D97-AF65-F5344CB8AC3E}">
        <p14:creationId xmlns:p14="http://schemas.microsoft.com/office/powerpoint/2010/main" val="41817548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98850E-A487-D7B0-C8E1-F526BA18850E}"/>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CB341294-8446-5639-C14C-860D8D5A93A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827C3DE3-1994-433E-307F-BFCE0EAE1DFD}"/>
              </a:ext>
            </a:extLst>
          </p:cNvPr>
          <p:cNvSpPr>
            <a:spLocks noGrp="1"/>
          </p:cNvSpPr>
          <p:nvPr>
            <p:ph type="dt" sz="half" idx="10"/>
          </p:nvPr>
        </p:nvSpPr>
        <p:spPr/>
        <p:txBody>
          <a:bodyPr/>
          <a:lstStyle/>
          <a:p>
            <a:fld id="{CEA847C5-2B01-4A68-AAF0-23BF3BEFF0E4}" type="datetimeFigureOut">
              <a:rPr lang="en-AU" smtClean="0"/>
              <a:t>19/11/2025</a:t>
            </a:fld>
            <a:endParaRPr lang="en-AU"/>
          </a:p>
        </p:txBody>
      </p:sp>
      <p:sp>
        <p:nvSpPr>
          <p:cNvPr id="5" name="Footer Placeholder 4">
            <a:extLst>
              <a:ext uri="{FF2B5EF4-FFF2-40B4-BE49-F238E27FC236}">
                <a16:creationId xmlns:a16="http://schemas.microsoft.com/office/drawing/2014/main" id="{75A2A843-FCCA-16B8-65E1-F0BC418648D3}"/>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E9DD618E-D51D-EF70-333F-C776EBE19E55}"/>
              </a:ext>
            </a:extLst>
          </p:cNvPr>
          <p:cNvSpPr>
            <a:spLocks noGrp="1"/>
          </p:cNvSpPr>
          <p:nvPr>
            <p:ph type="sldNum" sz="quarter" idx="12"/>
          </p:nvPr>
        </p:nvSpPr>
        <p:spPr/>
        <p:txBody>
          <a:bodyPr/>
          <a:lstStyle/>
          <a:p>
            <a:fld id="{126420BC-4690-4AB5-A138-F39DF2867DCD}" type="slidenum">
              <a:rPr lang="en-AU" smtClean="0"/>
              <a:t>‹#›</a:t>
            </a:fld>
            <a:endParaRPr lang="en-AU"/>
          </a:p>
        </p:txBody>
      </p:sp>
    </p:spTree>
    <p:extLst>
      <p:ext uri="{BB962C8B-B14F-4D97-AF65-F5344CB8AC3E}">
        <p14:creationId xmlns:p14="http://schemas.microsoft.com/office/powerpoint/2010/main" val="10407828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757444-D244-5516-268E-B724B8ACAA1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AU"/>
          </a:p>
        </p:txBody>
      </p:sp>
      <p:sp>
        <p:nvSpPr>
          <p:cNvPr id="3" name="Text Placeholder 2">
            <a:extLst>
              <a:ext uri="{FF2B5EF4-FFF2-40B4-BE49-F238E27FC236}">
                <a16:creationId xmlns:a16="http://schemas.microsoft.com/office/drawing/2014/main" id="{1583ACC7-4494-5EB4-DA25-0FE2D410B45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97730A0-4A1A-06B1-6CF3-0A4BBA1304B0}"/>
              </a:ext>
            </a:extLst>
          </p:cNvPr>
          <p:cNvSpPr>
            <a:spLocks noGrp="1"/>
          </p:cNvSpPr>
          <p:nvPr>
            <p:ph type="dt" sz="half" idx="10"/>
          </p:nvPr>
        </p:nvSpPr>
        <p:spPr/>
        <p:txBody>
          <a:bodyPr/>
          <a:lstStyle/>
          <a:p>
            <a:fld id="{CEA847C5-2B01-4A68-AAF0-23BF3BEFF0E4}" type="datetimeFigureOut">
              <a:rPr lang="en-AU" smtClean="0"/>
              <a:t>19/11/2025</a:t>
            </a:fld>
            <a:endParaRPr lang="en-AU"/>
          </a:p>
        </p:txBody>
      </p:sp>
      <p:sp>
        <p:nvSpPr>
          <p:cNvPr id="5" name="Footer Placeholder 4">
            <a:extLst>
              <a:ext uri="{FF2B5EF4-FFF2-40B4-BE49-F238E27FC236}">
                <a16:creationId xmlns:a16="http://schemas.microsoft.com/office/drawing/2014/main" id="{68A6A7C6-3F6D-4F38-8BD9-DBD63F7E212F}"/>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B885F05B-9C50-2CBB-82CF-4A8CA009984F}"/>
              </a:ext>
            </a:extLst>
          </p:cNvPr>
          <p:cNvSpPr>
            <a:spLocks noGrp="1"/>
          </p:cNvSpPr>
          <p:nvPr>
            <p:ph type="sldNum" sz="quarter" idx="12"/>
          </p:nvPr>
        </p:nvSpPr>
        <p:spPr/>
        <p:txBody>
          <a:bodyPr/>
          <a:lstStyle/>
          <a:p>
            <a:fld id="{126420BC-4690-4AB5-A138-F39DF2867DCD}" type="slidenum">
              <a:rPr lang="en-AU" smtClean="0"/>
              <a:t>‹#›</a:t>
            </a:fld>
            <a:endParaRPr lang="en-AU"/>
          </a:p>
        </p:txBody>
      </p:sp>
    </p:spTree>
    <p:extLst>
      <p:ext uri="{BB962C8B-B14F-4D97-AF65-F5344CB8AC3E}">
        <p14:creationId xmlns:p14="http://schemas.microsoft.com/office/powerpoint/2010/main" val="4014161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B9DDE7-26D8-1116-6EDD-99FA9E3D90D5}"/>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58558274-9001-922F-C589-6E7220EB717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a:extLst>
              <a:ext uri="{FF2B5EF4-FFF2-40B4-BE49-F238E27FC236}">
                <a16:creationId xmlns:a16="http://schemas.microsoft.com/office/drawing/2014/main" id="{50AAB7CE-4048-4379-2D60-9BBFEEFC8AD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Date Placeholder 4">
            <a:extLst>
              <a:ext uri="{FF2B5EF4-FFF2-40B4-BE49-F238E27FC236}">
                <a16:creationId xmlns:a16="http://schemas.microsoft.com/office/drawing/2014/main" id="{87103BAA-B191-8EF3-0064-9A04DB9A6ADE}"/>
              </a:ext>
            </a:extLst>
          </p:cNvPr>
          <p:cNvSpPr>
            <a:spLocks noGrp="1"/>
          </p:cNvSpPr>
          <p:nvPr>
            <p:ph type="dt" sz="half" idx="10"/>
          </p:nvPr>
        </p:nvSpPr>
        <p:spPr/>
        <p:txBody>
          <a:bodyPr/>
          <a:lstStyle/>
          <a:p>
            <a:fld id="{CEA847C5-2B01-4A68-AAF0-23BF3BEFF0E4}" type="datetimeFigureOut">
              <a:rPr lang="en-AU" smtClean="0"/>
              <a:t>19/11/2025</a:t>
            </a:fld>
            <a:endParaRPr lang="en-AU"/>
          </a:p>
        </p:txBody>
      </p:sp>
      <p:sp>
        <p:nvSpPr>
          <p:cNvPr id="6" name="Footer Placeholder 5">
            <a:extLst>
              <a:ext uri="{FF2B5EF4-FFF2-40B4-BE49-F238E27FC236}">
                <a16:creationId xmlns:a16="http://schemas.microsoft.com/office/drawing/2014/main" id="{CC24CF13-AA12-E6DF-D786-794D7F55D3B4}"/>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E89C4273-2901-D1F9-0363-0C80D048A0CB}"/>
              </a:ext>
            </a:extLst>
          </p:cNvPr>
          <p:cNvSpPr>
            <a:spLocks noGrp="1"/>
          </p:cNvSpPr>
          <p:nvPr>
            <p:ph type="sldNum" sz="quarter" idx="12"/>
          </p:nvPr>
        </p:nvSpPr>
        <p:spPr/>
        <p:txBody>
          <a:bodyPr/>
          <a:lstStyle/>
          <a:p>
            <a:fld id="{126420BC-4690-4AB5-A138-F39DF2867DCD}" type="slidenum">
              <a:rPr lang="en-AU" smtClean="0"/>
              <a:t>‹#›</a:t>
            </a:fld>
            <a:endParaRPr lang="en-AU"/>
          </a:p>
        </p:txBody>
      </p:sp>
    </p:spTree>
    <p:extLst>
      <p:ext uri="{BB962C8B-B14F-4D97-AF65-F5344CB8AC3E}">
        <p14:creationId xmlns:p14="http://schemas.microsoft.com/office/powerpoint/2010/main" val="21307488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BE6CEE-379E-65D4-93B1-A07C316DC30C}"/>
              </a:ext>
            </a:extLst>
          </p:cNvPr>
          <p:cNvSpPr>
            <a:spLocks noGrp="1"/>
          </p:cNvSpPr>
          <p:nvPr>
            <p:ph type="title"/>
          </p:nvPr>
        </p:nvSpPr>
        <p:spPr>
          <a:xfrm>
            <a:off x="839788" y="365125"/>
            <a:ext cx="10515600" cy="1325563"/>
          </a:xfrm>
        </p:spPr>
        <p:txBody>
          <a:bodyPr/>
          <a:lstStyle/>
          <a:p>
            <a:r>
              <a:rPr lang="en-US"/>
              <a:t>Click to edit Master title style</a:t>
            </a:r>
            <a:endParaRPr lang="en-AU"/>
          </a:p>
        </p:txBody>
      </p:sp>
      <p:sp>
        <p:nvSpPr>
          <p:cNvPr id="3" name="Text Placeholder 2">
            <a:extLst>
              <a:ext uri="{FF2B5EF4-FFF2-40B4-BE49-F238E27FC236}">
                <a16:creationId xmlns:a16="http://schemas.microsoft.com/office/drawing/2014/main" id="{751125C8-A7EA-051A-4FDA-2704B681D8D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45333F1-A74A-FDAB-5416-D501C6D0102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Text Placeholder 4">
            <a:extLst>
              <a:ext uri="{FF2B5EF4-FFF2-40B4-BE49-F238E27FC236}">
                <a16:creationId xmlns:a16="http://schemas.microsoft.com/office/drawing/2014/main" id="{17F2CCA9-2B60-97BB-8EBC-21DE2B11F63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90E5975-2A45-6F41-9BB3-435CE279E31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7" name="Date Placeholder 6">
            <a:extLst>
              <a:ext uri="{FF2B5EF4-FFF2-40B4-BE49-F238E27FC236}">
                <a16:creationId xmlns:a16="http://schemas.microsoft.com/office/drawing/2014/main" id="{D632C750-0ED6-1065-0624-BD38317ABF5D}"/>
              </a:ext>
            </a:extLst>
          </p:cNvPr>
          <p:cNvSpPr>
            <a:spLocks noGrp="1"/>
          </p:cNvSpPr>
          <p:nvPr>
            <p:ph type="dt" sz="half" idx="10"/>
          </p:nvPr>
        </p:nvSpPr>
        <p:spPr/>
        <p:txBody>
          <a:bodyPr/>
          <a:lstStyle/>
          <a:p>
            <a:fld id="{CEA847C5-2B01-4A68-AAF0-23BF3BEFF0E4}" type="datetimeFigureOut">
              <a:rPr lang="en-AU" smtClean="0"/>
              <a:t>19/11/2025</a:t>
            </a:fld>
            <a:endParaRPr lang="en-AU"/>
          </a:p>
        </p:txBody>
      </p:sp>
      <p:sp>
        <p:nvSpPr>
          <p:cNvPr id="8" name="Footer Placeholder 7">
            <a:extLst>
              <a:ext uri="{FF2B5EF4-FFF2-40B4-BE49-F238E27FC236}">
                <a16:creationId xmlns:a16="http://schemas.microsoft.com/office/drawing/2014/main" id="{09F1FC3A-4E04-C297-FB2B-C68B43A8C5E0}"/>
              </a:ext>
            </a:extLst>
          </p:cNvPr>
          <p:cNvSpPr>
            <a:spLocks noGrp="1"/>
          </p:cNvSpPr>
          <p:nvPr>
            <p:ph type="ftr" sz="quarter" idx="11"/>
          </p:nvPr>
        </p:nvSpPr>
        <p:spPr/>
        <p:txBody>
          <a:bodyPr/>
          <a:lstStyle/>
          <a:p>
            <a:endParaRPr lang="en-AU"/>
          </a:p>
        </p:txBody>
      </p:sp>
      <p:sp>
        <p:nvSpPr>
          <p:cNvPr id="9" name="Slide Number Placeholder 8">
            <a:extLst>
              <a:ext uri="{FF2B5EF4-FFF2-40B4-BE49-F238E27FC236}">
                <a16:creationId xmlns:a16="http://schemas.microsoft.com/office/drawing/2014/main" id="{95199AAE-189A-15BA-807D-489EBEF8088F}"/>
              </a:ext>
            </a:extLst>
          </p:cNvPr>
          <p:cNvSpPr>
            <a:spLocks noGrp="1"/>
          </p:cNvSpPr>
          <p:nvPr>
            <p:ph type="sldNum" sz="quarter" idx="12"/>
          </p:nvPr>
        </p:nvSpPr>
        <p:spPr/>
        <p:txBody>
          <a:bodyPr/>
          <a:lstStyle/>
          <a:p>
            <a:fld id="{126420BC-4690-4AB5-A138-F39DF2867DCD}" type="slidenum">
              <a:rPr lang="en-AU" smtClean="0"/>
              <a:t>‹#›</a:t>
            </a:fld>
            <a:endParaRPr lang="en-AU"/>
          </a:p>
        </p:txBody>
      </p:sp>
    </p:spTree>
    <p:extLst>
      <p:ext uri="{BB962C8B-B14F-4D97-AF65-F5344CB8AC3E}">
        <p14:creationId xmlns:p14="http://schemas.microsoft.com/office/powerpoint/2010/main" val="15771437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2A47B3-E0A6-6FD1-AB50-9FB923763E54}"/>
              </a:ext>
            </a:extLst>
          </p:cNvPr>
          <p:cNvSpPr>
            <a:spLocks noGrp="1"/>
          </p:cNvSpPr>
          <p:nvPr>
            <p:ph type="title"/>
          </p:nvPr>
        </p:nvSpPr>
        <p:spPr/>
        <p:txBody>
          <a:bodyPr/>
          <a:lstStyle/>
          <a:p>
            <a:r>
              <a:rPr lang="en-US"/>
              <a:t>Click to edit Master title style</a:t>
            </a:r>
            <a:endParaRPr lang="en-AU"/>
          </a:p>
        </p:txBody>
      </p:sp>
      <p:sp>
        <p:nvSpPr>
          <p:cNvPr id="3" name="Date Placeholder 2">
            <a:extLst>
              <a:ext uri="{FF2B5EF4-FFF2-40B4-BE49-F238E27FC236}">
                <a16:creationId xmlns:a16="http://schemas.microsoft.com/office/drawing/2014/main" id="{158DA605-73A3-21BB-8744-A5BFFA8DCB91}"/>
              </a:ext>
            </a:extLst>
          </p:cNvPr>
          <p:cNvSpPr>
            <a:spLocks noGrp="1"/>
          </p:cNvSpPr>
          <p:nvPr>
            <p:ph type="dt" sz="half" idx="10"/>
          </p:nvPr>
        </p:nvSpPr>
        <p:spPr/>
        <p:txBody>
          <a:bodyPr/>
          <a:lstStyle/>
          <a:p>
            <a:fld id="{CEA847C5-2B01-4A68-AAF0-23BF3BEFF0E4}" type="datetimeFigureOut">
              <a:rPr lang="en-AU" smtClean="0"/>
              <a:t>19/11/2025</a:t>
            </a:fld>
            <a:endParaRPr lang="en-AU"/>
          </a:p>
        </p:txBody>
      </p:sp>
      <p:sp>
        <p:nvSpPr>
          <p:cNvPr id="4" name="Footer Placeholder 3">
            <a:extLst>
              <a:ext uri="{FF2B5EF4-FFF2-40B4-BE49-F238E27FC236}">
                <a16:creationId xmlns:a16="http://schemas.microsoft.com/office/drawing/2014/main" id="{75CDBAAF-7D94-A65A-8C4D-A8C9ADD7E11E}"/>
              </a:ext>
            </a:extLst>
          </p:cNvPr>
          <p:cNvSpPr>
            <a:spLocks noGrp="1"/>
          </p:cNvSpPr>
          <p:nvPr>
            <p:ph type="ftr" sz="quarter" idx="11"/>
          </p:nvPr>
        </p:nvSpPr>
        <p:spPr/>
        <p:txBody>
          <a:bodyPr/>
          <a:lstStyle/>
          <a:p>
            <a:endParaRPr lang="en-AU"/>
          </a:p>
        </p:txBody>
      </p:sp>
      <p:sp>
        <p:nvSpPr>
          <p:cNvPr id="5" name="Slide Number Placeholder 4">
            <a:extLst>
              <a:ext uri="{FF2B5EF4-FFF2-40B4-BE49-F238E27FC236}">
                <a16:creationId xmlns:a16="http://schemas.microsoft.com/office/drawing/2014/main" id="{3815C48D-73B0-C1B7-87A6-4A675795781F}"/>
              </a:ext>
            </a:extLst>
          </p:cNvPr>
          <p:cNvSpPr>
            <a:spLocks noGrp="1"/>
          </p:cNvSpPr>
          <p:nvPr>
            <p:ph type="sldNum" sz="quarter" idx="12"/>
          </p:nvPr>
        </p:nvSpPr>
        <p:spPr/>
        <p:txBody>
          <a:bodyPr/>
          <a:lstStyle/>
          <a:p>
            <a:fld id="{126420BC-4690-4AB5-A138-F39DF2867DCD}" type="slidenum">
              <a:rPr lang="en-AU" smtClean="0"/>
              <a:t>‹#›</a:t>
            </a:fld>
            <a:endParaRPr lang="en-AU"/>
          </a:p>
        </p:txBody>
      </p:sp>
    </p:spTree>
    <p:extLst>
      <p:ext uri="{BB962C8B-B14F-4D97-AF65-F5344CB8AC3E}">
        <p14:creationId xmlns:p14="http://schemas.microsoft.com/office/powerpoint/2010/main" val="27069790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4B086A0-5733-EE56-0874-23A21196C84F}"/>
              </a:ext>
            </a:extLst>
          </p:cNvPr>
          <p:cNvSpPr>
            <a:spLocks noGrp="1"/>
          </p:cNvSpPr>
          <p:nvPr>
            <p:ph type="dt" sz="half" idx="10"/>
          </p:nvPr>
        </p:nvSpPr>
        <p:spPr/>
        <p:txBody>
          <a:bodyPr/>
          <a:lstStyle/>
          <a:p>
            <a:fld id="{CEA847C5-2B01-4A68-AAF0-23BF3BEFF0E4}" type="datetimeFigureOut">
              <a:rPr lang="en-AU" smtClean="0"/>
              <a:t>19/11/2025</a:t>
            </a:fld>
            <a:endParaRPr lang="en-AU"/>
          </a:p>
        </p:txBody>
      </p:sp>
      <p:sp>
        <p:nvSpPr>
          <p:cNvPr id="3" name="Footer Placeholder 2">
            <a:extLst>
              <a:ext uri="{FF2B5EF4-FFF2-40B4-BE49-F238E27FC236}">
                <a16:creationId xmlns:a16="http://schemas.microsoft.com/office/drawing/2014/main" id="{6EFB0E34-2B57-27C1-E40F-AC3F3D66FF5B}"/>
              </a:ext>
            </a:extLst>
          </p:cNvPr>
          <p:cNvSpPr>
            <a:spLocks noGrp="1"/>
          </p:cNvSpPr>
          <p:nvPr>
            <p:ph type="ftr" sz="quarter" idx="11"/>
          </p:nvPr>
        </p:nvSpPr>
        <p:spPr/>
        <p:txBody>
          <a:bodyPr/>
          <a:lstStyle/>
          <a:p>
            <a:endParaRPr lang="en-AU"/>
          </a:p>
        </p:txBody>
      </p:sp>
      <p:sp>
        <p:nvSpPr>
          <p:cNvPr id="4" name="Slide Number Placeholder 3">
            <a:extLst>
              <a:ext uri="{FF2B5EF4-FFF2-40B4-BE49-F238E27FC236}">
                <a16:creationId xmlns:a16="http://schemas.microsoft.com/office/drawing/2014/main" id="{BE33A117-EB3E-2FBB-9A3A-3DF6A15BA140}"/>
              </a:ext>
            </a:extLst>
          </p:cNvPr>
          <p:cNvSpPr>
            <a:spLocks noGrp="1"/>
          </p:cNvSpPr>
          <p:nvPr>
            <p:ph type="sldNum" sz="quarter" idx="12"/>
          </p:nvPr>
        </p:nvSpPr>
        <p:spPr/>
        <p:txBody>
          <a:bodyPr/>
          <a:lstStyle/>
          <a:p>
            <a:fld id="{126420BC-4690-4AB5-A138-F39DF2867DCD}" type="slidenum">
              <a:rPr lang="en-AU" smtClean="0"/>
              <a:t>‹#›</a:t>
            </a:fld>
            <a:endParaRPr lang="en-AU"/>
          </a:p>
        </p:txBody>
      </p:sp>
    </p:spTree>
    <p:extLst>
      <p:ext uri="{BB962C8B-B14F-4D97-AF65-F5344CB8AC3E}">
        <p14:creationId xmlns:p14="http://schemas.microsoft.com/office/powerpoint/2010/main" val="37648197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1BBF5F-15E2-9CF7-6ABE-DD9DF448915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Content Placeholder 2">
            <a:extLst>
              <a:ext uri="{FF2B5EF4-FFF2-40B4-BE49-F238E27FC236}">
                <a16:creationId xmlns:a16="http://schemas.microsoft.com/office/drawing/2014/main" id="{8C4A0C0D-524C-5668-DCB7-D3926397F8F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Text Placeholder 3">
            <a:extLst>
              <a:ext uri="{FF2B5EF4-FFF2-40B4-BE49-F238E27FC236}">
                <a16:creationId xmlns:a16="http://schemas.microsoft.com/office/drawing/2014/main" id="{8C087D61-D24C-549B-4B12-762AFFA7A45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2226461-D2BD-78D7-C688-BE166C80C315}"/>
              </a:ext>
            </a:extLst>
          </p:cNvPr>
          <p:cNvSpPr>
            <a:spLocks noGrp="1"/>
          </p:cNvSpPr>
          <p:nvPr>
            <p:ph type="dt" sz="half" idx="10"/>
          </p:nvPr>
        </p:nvSpPr>
        <p:spPr/>
        <p:txBody>
          <a:bodyPr/>
          <a:lstStyle/>
          <a:p>
            <a:fld id="{CEA847C5-2B01-4A68-AAF0-23BF3BEFF0E4}" type="datetimeFigureOut">
              <a:rPr lang="en-AU" smtClean="0"/>
              <a:t>19/11/2025</a:t>
            </a:fld>
            <a:endParaRPr lang="en-AU"/>
          </a:p>
        </p:txBody>
      </p:sp>
      <p:sp>
        <p:nvSpPr>
          <p:cNvPr id="6" name="Footer Placeholder 5">
            <a:extLst>
              <a:ext uri="{FF2B5EF4-FFF2-40B4-BE49-F238E27FC236}">
                <a16:creationId xmlns:a16="http://schemas.microsoft.com/office/drawing/2014/main" id="{C9472D94-6B02-5532-E838-EB5B8DE7E6F0}"/>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DE9B7DF7-C98C-1E1A-864E-6EB17EF8D54B}"/>
              </a:ext>
            </a:extLst>
          </p:cNvPr>
          <p:cNvSpPr>
            <a:spLocks noGrp="1"/>
          </p:cNvSpPr>
          <p:nvPr>
            <p:ph type="sldNum" sz="quarter" idx="12"/>
          </p:nvPr>
        </p:nvSpPr>
        <p:spPr/>
        <p:txBody>
          <a:bodyPr/>
          <a:lstStyle/>
          <a:p>
            <a:fld id="{126420BC-4690-4AB5-A138-F39DF2867DCD}" type="slidenum">
              <a:rPr lang="en-AU" smtClean="0"/>
              <a:t>‹#›</a:t>
            </a:fld>
            <a:endParaRPr lang="en-AU"/>
          </a:p>
        </p:txBody>
      </p:sp>
    </p:spTree>
    <p:extLst>
      <p:ext uri="{BB962C8B-B14F-4D97-AF65-F5344CB8AC3E}">
        <p14:creationId xmlns:p14="http://schemas.microsoft.com/office/powerpoint/2010/main" val="18413320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07D6C4-D6E5-EAD9-9EA9-2AAFB3E8451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Picture Placeholder 2">
            <a:extLst>
              <a:ext uri="{FF2B5EF4-FFF2-40B4-BE49-F238E27FC236}">
                <a16:creationId xmlns:a16="http://schemas.microsoft.com/office/drawing/2014/main" id="{ECA8585F-9357-0BD0-A9F8-F3C1C0FC73C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a:extLst>
              <a:ext uri="{FF2B5EF4-FFF2-40B4-BE49-F238E27FC236}">
                <a16:creationId xmlns:a16="http://schemas.microsoft.com/office/drawing/2014/main" id="{F3AC094E-A85A-1621-4386-04A6731513A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EC45296-C997-6FA8-A97A-A7DABD3B97B6}"/>
              </a:ext>
            </a:extLst>
          </p:cNvPr>
          <p:cNvSpPr>
            <a:spLocks noGrp="1"/>
          </p:cNvSpPr>
          <p:nvPr>
            <p:ph type="dt" sz="half" idx="10"/>
          </p:nvPr>
        </p:nvSpPr>
        <p:spPr/>
        <p:txBody>
          <a:bodyPr/>
          <a:lstStyle/>
          <a:p>
            <a:fld id="{CEA847C5-2B01-4A68-AAF0-23BF3BEFF0E4}" type="datetimeFigureOut">
              <a:rPr lang="en-AU" smtClean="0"/>
              <a:t>19/11/2025</a:t>
            </a:fld>
            <a:endParaRPr lang="en-AU"/>
          </a:p>
        </p:txBody>
      </p:sp>
      <p:sp>
        <p:nvSpPr>
          <p:cNvPr id="6" name="Footer Placeholder 5">
            <a:extLst>
              <a:ext uri="{FF2B5EF4-FFF2-40B4-BE49-F238E27FC236}">
                <a16:creationId xmlns:a16="http://schemas.microsoft.com/office/drawing/2014/main" id="{F2831E0A-C703-F329-6158-965B4CB15CC1}"/>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F2931150-688D-1E88-06E3-773CF728C074}"/>
              </a:ext>
            </a:extLst>
          </p:cNvPr>
          <p:cNvSpPr>
            <a:spLocks noGrp="1"/>
          </p:cNvSpPr>
          <p:nvPr>
            <p:ph type="sldNum" sz="quarter" idx="12"/>
          </p:nvPr>
        </p:nvSpPr>
        <p:spPr/>
        <p:txBody>
          <a:bodyPr/>
          <a:lstStyle/>
          <a:p>
            <a:fld id="{126420BC-4690-4AB5-A138-F39DF2867DCD}" type="slidenum">
              <a:rPr lang="en-AU" smtClean="0"/>
              <a:t>‹#›</a:t>
            </a:fld>
            <a:endParaRPr lang="en-AU"/>
          </a:p>
        </p:txBody>
      </p:sp>
    </p:spTree>
    <p:extLst>
      <p:ext uri="{BB962C8B-B14F-4D97-AF65-F5344CB8AC3E}">
        <p14:creationId xmlns:p14="http://schemas.microsoft.com/office/powerpoint/2010/main" val="23325126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E0647E-5046-24C6-C3F2-4E38293ECAE2}"/>
              </a:ext>
            </a:extLst>
          </p:cNvPr>
          <p:cNvSpPr>
            <a:spLocks noGrp="1"/>
          </p:cNvSpPr>
          <p:nvPr>
            <p:ph type="title"/>
          </p:nvPr>
        </p:nvSpPr>
        <p:spPr/>
        <p:txBody>
          <a:bodyPr/>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E7ADA652-998C-5795-35CB-79F99110B36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5F326B28-8553-DFD4-FECA-C042B69D4365}"/>
              </a:ext>
            </a:extLst>
          </p:cNvPr>
          <p:cNvSpPr>
            <a:spLocks noGrp="1"/>
          </p:cNvSpPr>
          <p:nvPr>
            <p:ph type="dt" sz="half" idx="10"/>
          </p:nvPr>
        </p:nvSpPr>
        <p:spPr/>
        <p:txBody>
          <a:bodyPr/>
          <a:lstStyle/>
          <a:p>
            <a:fld id="{CEA847C5-2B01-4A68-AAF0-23BF3BEFF0E4}" type="datetimeFigureOut">
              <a:rPr lang="en-AU" smtClean="0"/>
              <a:t>19/11/2025</a:t>
            </a:fld>
            <a:endParaRPr lang="en-AU"/>
          </a:p>
        </p:txBody>
      </p:sp>
      <p:sp>
        <p:nvSpPr>
          <p:cNvPr id="5" name="Footer Placeholder 4">
            <a:extLst>
              <a:ext uri="{FF2B5EF4-FFF2-40B4-BE49-F238E27FC236}">
                <a16:creationId xmlns:a16="http://schemas.microsoft.com/office/drawing/2014/main" id="{C45DE14C-76C4-5408-445B-9EE6C35668BE}"/>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122B4BCD-19C3-6F82-AEC4-5E1C3DE8D1F7}"/>
              </a:ext>
            </a:extLst>
          </p:cNvPr>
          <p:cNvSpPr>
            <a:spLocks noGrp="1"/>
          </p:cNvSpPr>
          <p:nvPr>
            <p:ph type="sldNum" sz="quarter" idx="12"/>
          </p:nvPr>
        </p:nvSpPr>
        <p:spPr/>
        <p:txBody>
          <a:bodyPr/>
          <a:lstStyle/>
          <a:p>
            <a:fld id="{126420BC-4690-4AB5-A138-F39DF2867DCD}" type="slidenum">
              <a:rPr lang="en-AU" smtClean="0"/>
              <a:t>‹#›</a:t>
            </a:fld>
            <a:endParaRPr lang="en-AU"/>
          </a:p>
        </p:txBody>
      </p:sp>
    </p:spTree>
    <p:extLst>
      <p:ext uri="{BB962C8B-B14F-4D97-AF65-F5344CB8AC3E}">
        <p14:creationId xmlns:p14="http://schemas.microsoft.com/office/powerpoint/2010/main" val="30842643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865F478-EFC5-C078-6E12-4D35BD05A48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884CB59A-DA8B-841C-D323-0EB11E51333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E0AE79B3-312E-5F00-183F-925262357116}"/>
              </a:ext>
            </a:extLst>
          </p:cNvPr>
          <p:cNvSpPr>
            <a:spLocks noGrp="1"/>
          </p:cNvSpPr>
          <p:nvPr>
            <p:ph type="dt" sz="half" idx="10"/>
          </p:nvPr>
        </p:nvSpPr>
        <p:spPr/>
        <p:txBody>
          <a:bodyPr/>
          <a:lstStyle/>
          <a:p>
            <a:fld id="{CEA847C5-2B01-4A68-AAF0-23BF3BEFF0E4}" type="datetimeFigureOut">
              <a:rPr lang="en-AU" smtClean="0"/>
              <a:t>19/11/2025</a:t>
            </a:fld>
            <a:endParaRPr lang="en-AU"/>
          </a:p>
        </p:txBody>
      </p:sp>
      <p:sp>
        <p:nvSpPr>
          <p:cNvPr id="5" name="Footer Placeholder 4">
            <a:extLst>
              <a:ext uri="{FF2B5EF4-FFF2-40B4-BE49-F238E27FC236}">
                <a16:creationId xmlns:a16="http://schemas.microsoft.com/office/drawing/2014/main" id="{1A42B9C5-887E-253D-879D-C37FDEBE9906}"/>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36DC361E-6CB1-4AA9-6058-D751B0318761}"/>
              </a:ext>
            </a:extLst>
          </p:cNvPr>
          <p:cNvSpPr>
            <a:spLocks noGrp="1"/>
          </p:cNvSpPr>
          <p:nvPr>
            <p:ph type="sldNum" sz="quarter" idx="12"/>
          </p:nvPr>
        </p:nvSpPr>
        <p:spPr/>
        <p:txBody>
          <a:bodyPr/>
          <a:lstStyle/>
          <a:p>
            <a:fld id="{126420BC-4690-4AB5-A138-F39DF2867DCD}" type="slidenum">
              <a:rPr lang="en-AU" smtClean="0"/>
              <a:t>‹#›</a:t>
            </a:fld>
            <a:endParaRPr lang="en-AU"/>
          </a:p>
        </p:txBody>
      </p:sp>
    </p:spTree>
    <p:extLst>
      <p:ext uri="{BB962C8B-B14F-4D97-AF65-F5344CB8AC3E}">
        <p14:creationId xmlns:p14="http://schemas.microsoft.com/office/powerpoint/2010/main" val="241626084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Section Title - Data 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2980408"/>
            <a:ext cx="9144000" cy="553998"/>
          </a:xfrm>
          <a:noFill/>
        </p:spPr>
        <p:txBody>
          <a:bodyPr vert="horz" wrap="square" lIns="0" tIns="0" rIns="0" bIns="0" rtlCol="0" anchor="b" anchorCtr="0">
            <a:spAutoFit/>
          </a:bodyPr>
          <a:lstStyle>
            <a:lvl1pPr>
              <a:defRPr lang="en-US" sz="4000" b="0" dirty="0">
                <a:solidFill>
                  <a:schemeClr val="bg1"/>
                </a:solidFill>
                <a:latin typeface="+mj-lt"/>
              </a:defRPr>
            </a:lvl1pPr>
          </a:lstStyle>
          <a:p>
            <a:pPr lvl="0">
              <a:lnSpc>
                <a:spcPct val="90000"/>
              </a:lnSpc>
            </a:pPr>
            <a:r>
              <a:rPr lang="en-US"/>
              <a:t>Section title</a:t>
            </a:r>
          </a:p>
        </p:txBody>
      </p:sp>
    </p:spTree>
    <p:extLst>
      <p:ext uri="{BB962C8B-B14F-4D97-AF65-F5344CB8AC3E}">
        <p14:creationId xmlns:p14="http://schemas.microsoft.com/office/powerpoint/2010/main" val="175983275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1911">
          <p15:clr>
            <a:srgbClr val="5ACBF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AEBD179-7E86-F266-4723-AA508ADAF75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AU"/>
          </a:p>
        </p:txBody>
      </p:sp>
      <p:sp>
        <p:nvSpPr>
          <p:cNvPr id="3" name="Text Placeholder 2">
            <a:extLst>
              <a:ext uri="{FF2B5EF4-FFF2-40B4-BE49-F238E27FC236}">
                <a16:creationId xmlns:a16="http://schemas.microsoft.com/office/drawing/2014/main" id="{B91BEB52-A879-1847-DA1E-AA7DD66F9EF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67DA9FDC-4635-430A-644B-8ED0A95156F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EA847C5-2B01-4A68-AAF0-23BF3BEFF0E4}" type="datetimeFigureOut">
              <a:rPr lang="en-AU" smtClean="0"/>
              <a:t>19/11/2025</a:t>
            </a:fld>
            <a:endParaRPr lang="en-AU"/>
          </a:p>
        </p:txBody>
      </p:sp>
      <p:sp>
        <p:nvSpPr>
          <p:cNvPr id="5" name="Footer Placeholder 4">
            <a:extLst>
              <a:ext uri="{FF2B5EF4-FFF2-40B4-BE49-F238E27FC236}">
                <a16:creationId xmlns:a16="http://schemas.microsoft.com/office/drawing/2014/main" id="{D2CDBDCC-19CE-E401-8B21-9032F4FB665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AU"/>
          </a:p>
        </p:txBody>
      </p:sp>
      <p:sp>
        <p:nvSpPr>
          <p:cNvPr id="6" name="Slide Number Placeholder 5">
            <a:extLst>
              <a:ext uri="{FF2B5EF4-FFF2-40B4-BE49-F238E27FC236}">
                <a16:creationId xmlns:a16="http://schemas.microsoft.com/office/drawing/2014/main" id="{986FB21F-08D7-C49C-068E-A2FC6A92DE0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26420BC-4690-4AB5-A138-F39DF2867DCD}" type="slidenum">
              <a:rPr lang="en-AU" smtClean="0"/>
              <a:t>‹#›</a:t>
            </a:fld>
            <a:endParaRPr lang="en-AU"/>
          </a:p>
        </p:txBody>
      </p:sp>
    </p:spTree>
    <p:extLst>
      <p:ext uri="{BB962C8B-B14F-4D97-AF65-F5344CB8AC3E}">
        <p14:creationId xmlns:p14="http://schemas.microsoft.com/office/powerpoint/2010/main" val="122290021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hyperlink" Target="https://aka.ms/Copilot-Billing-Docs" TargetMode="Externa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hyperlink" Target="https://learn.microsoft.com/en-us/power-bi/create-reports/copilot-power-bi-desktop?utm_source=chatgpt.com" TargetMode="External"/><Relationship Id="rId2" Type="http://schemas.openxmlformats.org/officeDocument/2006/relationships/hyperlink" Target="https://learn.microsoft.com/en-us/power-bi/create-reports/copilot-enable-power-bi?utm_source=chatgpt.com" TargetMode="External"/><Relationship Id="rId1" Type="http://schemas.openxmlformats.org/officeDocument/2006/relationships/slideLayout" Target="../slideLayouts/slideLayout7.xml"/><Relationship Id="rId5" Type="http://schemas.openxmlformats.org/officeDocument/2006/relationships/hyperlink" Target="https://blog.atwork.at/post.aspx?id=afc7a8e6-373b-4fb4-bd81-5f9ec8701b6d&amp;utm_source=chatgpt.com" TargetMode="External"/><Relationship Id="rId4" Type="http://schemas.openxmlformats.org/officeDocument/2006/relationships/hyperlink" Target="https://learn.microsoft.com/en-us/power-bi/create-reports/copilot-introduction?utm_source=chatgpt.com" TargetMode="Externa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FB51733-ACCB-97C0-BE3A-C2EB29E8B127}"/>
              </a:ext>
            </a:extLst>
          </p:cNvPr>
          <p:cNvSpPr>
            <a:spLocks noGrp="1"/>
          </p:cNvSpPr>
          <p:nvPr>
            <p:ph type="title"/>
          </p:nvPr>
        </p:nvSpPr>
        <p:spPr>
          <a:xfrm>
            <a:off x="585216" y="2980408"/>
            <a:ext cx="9144000" cy="553998"/>
          </a:xfrm>
        </p:spPr>
        <p:txBody>
          <a:bodyPr/>
          <a:lstStyle/>
          <a:p>
            <a:r>
              <a:rPr lang="en-US"/>
              <a:t>Copilot in Fabric</a:t>
            </a:r>
          </a:p>
        </p:txBody>
      </p:sp>
    </p:spTree>
    <p:extLst>
      <p:ext uri="{BB962C8B-B14F-4D97-AF65-F5344CB8AC3E}">
        <p14:creationId xmlns:p14="http://schemas.microsoft.com/office/powerpoint/2010/main" val="9066571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0">
            <a:extLst>
              <a:ext uri="{FF2B5EF4-FFF2-40B4-BE49-F238E27FC236}">
                <a16:creationId xmlns:a16="http://schemas.microsoft.com/office/drawing/2014/main" id="{52B5C28D-070B-E8DD-C09B-156C1C41C661}"/>
              </a:ext>
              <a:ext uri="{C183D7F6-B498-43B3-948B-1728B52AA6E4}">
                <adec:decorative xmlns:adec="http://schemas.microsoft.com/office/drawing/2017/decorative" val="1"/>
              </a:ext>
            </a:extLst>
          </p:cNvPr>
          <p:cNvSpPr/>
          <p:nvPr/>
        </p:nvSpPr>
        <p:spPr bwMode="auto">
          <a:xfrm>
            <a:off x="4356100" y="997897"/>
            <a:ext cx="7249301" cy="4979410"/>
          </a:xfrm>
          <a:prstGeom prst="roundRect">
            <a:avLst>
              <a:gd name="adj" fmla="val 4013"/>
            </a:avLst>
          </a:prstGeom>
          <a:solidFill>
            <a:schemeClr val="bg1">
              <a:alpha val="85000"/>
            </a:schemeClr>
          </a:solidFill>
          <a:ln w="25400">
            <a:gradFill flip="none" rotWithShape="1">
              <a:gsLst>
                <a:gs pos="0">
                  <a:schemeClr val="accent3"/>
                </a:gs>
                <a:gs pos="50000">
                  <a:schemeClr val="accent1"/>
                </a:gs>
                <a:gs pos="100000">
                  <a:srgbClr val="8661C5"/>
                </a:gs>
              </a:gsLst>
              <a:lin ang="0" scaled="1"/>
              <a:tileRect/>
            </a:gradFill>
          </a:ln>
          <a:effectLst>
            <a:outerShdw blurRad="190500" dist="63500" dir="8100000" algn="tr" rotWithShape="0">
              <a:schemeClr val="bg1">
                <a:lumMod val="50000"/>
                <a:alpha val="1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tIns="1280160" rtlCol="0" anchor="t">
            <a:no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err="1">
              <a:ln>
                <a:noFill/>
              </a:ln>
              <a:solidFill>
                <a:srgbClr val="0078D4"/>
              </a:solidFill>
              <a:effectLst/>
              <a:uLnTx/>
              <a:uFillTx/>
              <a:latin typeface="Segoe Sans Text Semibold"/>
              <a:ea typeface="+mn-ea"/>
              <a:cs typeface="+mn-cs"/>
            </a:endParaRPr>
          </a:p>
        </p:txBody>
      </p:sp>
      <p:cxnSp>
        <p:nvCxnSpPr>
          <p:cNvPr id="3" name="Straight Connector 2">
            <a:extLst>
              <a:ext uri="{FF2B5EF4-FFF2-40B4-BE49-F238E27FC236}">
                <a16:creationId xmlns:a16="http://schemas.microsoft.com/office/drawing/2014/main" id="{C959226D-64AB-C4DC-45EF-BC8C11A9B2AA}"/>
              </a:ext>
              <a:ext uri="{C183D7F6-B498-43B3-948B-1728B52AA6E4}">
                <adec:decorative xmlns:adec="http://schemas.microsoft.com/office/drawing/2017/decorative" val="1"/>
              </a:ext>
            </a:extLst>
          </p:cNvPr>
          <p:cNvCxnSpPr>
            <a:cxnSpLocks/>
          </p:cNvCxnSpPr>
          <p:nvPr/>
        </p:nvCxnSpPr>
        <p:spPr>
          <a:xfrm>
            <a:off x="4635500" y="2808811"/>
            <a:ext cx="6690500" cy="0"/>
          </a:xfrm>
          <a:prstGeom prst="line">
            <a:avLst/>
          </a:prstGeom>
          <a:ln w="6350" cap="rnd">
            <a:solidFill>
              <a:schemeClr val="tx1">
                <a:alpha val="20000"/>
              </a:schemeClr>
            </a:solidFill>
            <a:headEnd type="none" w="sm" len="sm"/>
            <a:tailEnd type="none" w="lg" len="med"/>
          </a:ln>
        </p:spPr>
        <p:style>
          <a:lnRef idx="1">
            <a:schemeClr val="accent1"/>
          </a:lnRef>
          <a:fillRef idx="0">
            <a:schemeClr val="accent1"/>
          </a:fillRef>
          <a:effectRef idx="0">
            <a:schemeClr val="accent1"/>
          </a:effectRef>
          <a:fontRef idx="minor">
            <a:schemeClr val="tx1"/>
          </a:fontRef>
        </p:style>
      </p:cxnSp>
      <p:sp>
        <p:nvSpPr>
          <p:cNvPr id="4" name="Title 5">
            <a:extLst>
              <a:ext uri="{FF2B5EF4-FFF2-40B4-BE49-F238E27FC236}">
                <a16:creationId xmlns:a16="http://schemas.microsoft.com/office/drawing/2014/main" id="{38EC8676-B6C0-B31E-2FA7-DCB69BB21DB8}"/>
              </a:ext>
            </a:extLst>
          </p:cNvPr>
          <p:cNvSpPr txBox="1">
            <a:spLocks/>
          </p:cNvSpPr>
          <p:nvPr/>
        </p:nvSpPr>
        <p:spPr>
          <a:xfrm>
            <a:off x="588263" y="2871651"/>
            <a:ext cx="3234437" cy="1231901"/>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t>Copilot in Microsoft Fabric</a:t>
            </a:r>
            <a:endParaRPr lang="en-US" dirty="0"/>
          </a:p>
        </p:txBody>
      </p:sp>
      <p:sp>
        <p:nvSpPr>
          <p:cNvPr id="5" name="TextBox 4">
            <a:extLst>
              <a:ext uri="{FF2B5EF4-FFF2-40B4-BE49-F238E27FC236}">
                <a16:creationId xmlns:a16="http://schemas.microsoft.com/office/drawing/2014/main" id="{C05E2866-6971-6BDE-0F98-1BB3A3662A7A}"/>
              </a:ext>
            </a:extLst>
          </p:cNvPr>
          <p:cNvSpPr txBox="1">
            <a:spLocks/>
          </p:cNvSpPr>
          <p:nvPr/>
        </p:nvSpPr>
        <p:spPr>
          <a:xfrm>
            <a:off x="4635500" y="1500379"/>
            <a:ext cx="6690500" cy="1015663"/>
          </a:xfrm>
          <a:prstGeom prst="rect">
            <a:avLst/>
          </a:prstGeom>
        </p:spPr>
        <p:txBody>
          <a:bodyPr wrap="square" l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srgbClr val="000000"/>
                </a:solidFill>
                <a:effectLst/>
                <a:uLnTx/>
                <a:uFillTx/>
                <a:latin typeface="Segoe Sans Text"/>
                <a:ea typeface="+mn-ea"/>
                <a:cs typeface="+mn-cs"/>
              </a:rPr>
              <a:t>You can simply count Copilot usage against your existing Fabric or Power BI Premium capacity just like any other Fabric capability.</a:t>
            </a:r>
          </a:p>
        </p:txBody>
      </p:sp>
      <p:sp>
        <p:nvSpPr>
          <p:cNvPr id="6" name="TextBox 5">
            <a:extLst>
              <a:ext uri="{FF2B5EF4-FFF2-40B4-BE49-F238E27FC236}">
                <a16:creationId xmlns:a16="http://schemas.microsoft.com/office/drawing/2014/main" id="{C7F85202-F8F5-45B0-5B61-E5CA74147909}"/>
              </a:ext>
            </a:extLst>
          </p:cNvPr>
          <p:cNvSpPr txBox="1">
            <a:spLocks/>
          </p:cNvSpPr>
          <p:nvPr/>
        </p:nvSpPr>
        <p:spPr>
          <a:xfrm>
            <a:off x="4635500" y="3101580"/>
            <a:ext cx="6690500" cy="1015663"/>
          </a:xfrm>
          <a:prstGeom prst="rect">
            <a:avLst/>
          </a:prstGeom>
        </p:spPr>
        <p:txBody>
          <a:bodyPr wrap="square" l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Segoe Sans Text"/>
                <a:ea typeface="+mn-ea"/>
                <a:cs typeface="+mn-cs"/>
              </a:rPr>
              <a:t>Copilot in Fabric usage is charged at a rate of 100 Capacity Units seconds per 1,000 input tokens and 400 Capacity Units seconds per 1,000 output tokens.</a:t>
            </a:r>
          </a:p>
        </p:txBody>
      </p:sp>
      <p:sp>
        <p:nvSpPr>
          <p:cNvPr id="7" name="TextBox 6">
            <a:extLst>
              <a:ext uri="{FF2B5EF4-FFF2-40B4-BE49-F238E27FC236}">
                <a16:creationId xmlns:a16="http://schemas.microsoft.com/office/drawing/2014/main" id="{9602BCF5-2E79-4D97-754C-A74B08499541}"/>
              </a:ext>
            </a:extLst>
          </p:cNvPr>
          <p:cNvSpPr txBox="1">
            <a:spLocks/>
          </p:cNvSpPr>
          <p:nvPr/>
        </p:nvSpPr>
        <p:spPr>
          <a:xfrm>
            <a:off x="4635500" y="4619724"/>
            <a:ext cx="6690500" cy="1073967"/>
          </a:xfrm>
          <a:prstGeom prst="roundRect">
            <a:avLst>
              <a:gd name="adj" fmla="val 14775"/>
            </a:avLst>
          </a:prstGeom>
          <a:gradFill flip="none" rotWithShape="1">
            <a:gsLst>
              <a:gs pos="0">
                <a:schemeClr val="accent3"/>
              </a:gs>
              <a:gs pos="100000">
                <a:srgbClr val="8661C5"/>
              </a:gs>
              <a:gs pos="52000">
                <a:schemeClr val="tx2"/>
              </a:gs>
            </a:gsLst>
            <a:path path="circle">
              <a:fillToRect r="100000" b="100000"/>
            </a:path>
            <a:tileRect l="-100000" t="-10000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US"/>
            </a:defPPr>
            <a:lvl1pPr marL="12700" marR="0" lvl="0" indent="0" algn="ctr" defTabSz="932742" fontAlgn="auto">
              <a:lnSpc>
                <a:spcPct val="100000"/>
              </a:lnSpc>
              <a:spcBef>
                <a:spcPct val="20000"/>
              </a:spcBef>
              <a:spcAft>
                <a:spcPts val="0"/>
              </a:spcAft>
              <a:buClrTx/>
              <a:buSzPct val="90000"/>
              <a:buFont typeface="Wingdings" panose="05000000000000000000" pitchFamily="2" charset="2"/>
              <a:buNone/>
              <a:tabLst/>
              <a:defRPr kumimoji="0" sz="2000" b="0" i="0" u="none" strike="noStrike" cap="none" spc="0" normalizeH="0" baseline="0">
                <a:ln>
                  <a:noFill/>
                </a:ln>
                <a:solidFill>
                  <a:schemeClr val="bg1"/>
                </a:solidFill>
                <a:effectLst/>
                <a:uLnTx/>
                <a:uFillTx/>
                <a:latin typeface="+mj-lt"/>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1270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kumimoji="0" lang="en-US" sz="2000" b="0" i="0" u="none" strike="noStrike" kern="1200" cap="none" spc="0" normalizeH="0" baseline="0" noProof="0" dirty="0">
                <a:ln>
                  <a:noFill/>
                </a:ln>
                <a:solidFill>
                  <a:srgbClr val="FFFFFF"/>
                </a:solidFill>
                <a:effectLst/>
                <a:uLnTx/>
                <a:uFillTx/>
                <a:latin typeface="Segoe Sans Text Semibold"/>
                <a:ea typeface="+mn-ea"/>
                <a:cs typeface="+mn-cs"/>
              </a:rPr>
              <a:t>See full details here: </a:t>
            </a:r>
            <a:br>
              <a:rPr kumimoji="0" lang="en-US" sz="2000" b="0" i="0" u="none" strike="noStrike" kern="1200" cap="none" spc="0" normalizeH="0" baseline="0" noProof="0" dirty="0">
                <a:ln>
                  <a:noFill/>
                </a:ln>
                <a:solidFill>
                  <a:srgbClr val="FFFFFF"/>
                </a:solidFill>
                <a:effectLst/>
                <a:uLnTx/>
                <a:uFillTx/>
                <a:latin typeface="Segoe Sans Text Semibold"/>
                <a:ea typeface="+mn-ea"/>
                <a:cs typeface="+mn-cs"/>
              </a:rPr>
            </a:br>
            <a:r>
              <a:rPr kumimoji="0" lang="en-US" sz="2000" b="0" i="0" u="none" strike="noStrike" kern="1200" cap="none" spc="0" normalizeH="0" baseline="0" noProof="0" dirty="0">
                <a:ln>
                  <a:noFill/>
                </a:ln>
                <a:solidFill>
                  <a:srgbClr val="FFFFFF"/>
                </a:solidFill>
                <a:effectLst/>
                <a:uLnTx/>
                <a:uFillTx/>
                <a:latin typeface="Segoe Sans Text Semibold"/>
                <a:ea typeface="+mn-ea"/>
                <a:cs typeface="+mn-cs"/>
                <a:hlinkClick r:id="rId2">
                  <a:extLst>
                    <a:ext uri="{A12FA001-AC4F-418D-AE19-62706E023703}">
                      <ahyp:hlinkClr xmlns:ahyp="http://schemas.microsoft.com/office/drawing/2018/hyperlinkcolor" val="tx"/>
                    </a:ext>
                  </a:extLst>
                </a:hlinkClick>
              </a:rPr>
              <a:t>https://aka.ms/Copilot-Billing-Docs</a:t>
            </a:r>
            <a:r>
              <a:rPr kumimoji="0" lang="en-US" sz="2000" b="0" i="0" u="none" strike="noStrike" kern="1200" cap="none" spc="0" normalizeH="0" baseline="0" noProof="0" dirty="0">
                <a:ln>
                  <a:noFill/>
                </a:ln>
                <a:solidFill>
                  <a:srgbClr val="FFFFFF"/>
                </a:solidFill>
                <a:effectLst/>
                <a:uLnTx/>
                <a:uFillTx/>
                <a:latin typeface="Segoe Sans Text Semibold"/>
                <a:ea typeface="+mn-ea"/>
                <a:cs typeface="+mn-cs"/>
              </a:rPr>
              <a:t>.</a:t>
            </a:r>
          </a:p>
        </p:txBody>
      </p:sp>
    </p:spTree>
    <p:extLst>
      <p:ext uri="{BB962C8B-B14F-4D97-AF65-F5344CB8AC3E}">
        <p14:creationId xmlns:p14="http://schemas.microsoft.com/office/powerpoint/2010/main" val="8916235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500"/>
                                        <p:tgtEl>
                                          <p:spTgt spid="5"/>
                                        </p:tgtEl>
                                      </p:cBhvr>
                                    </p:animEffect>
                                  </p:childTnLst>
                                </p:cTn>
                              </p:par>
                              <p:par>
                                <p:cTn id="12" presetID="42" presetClass="path" presetSubtype="0" decel="100000" fill="hold" grpId="1" nodeType="withEffect">
                                  <p:stCondLst>
                                    <p:cond delay="0"/>
                                  </p:stCondLst>
                                  <p:childTnLst>
                                    <p:animMotion origin="layout" path="M -0.01719 -0.00024 L 2.70833E-6 4.81481E-6 " pathEditMode="relative" rAng="0" ptsTypes="AA">
                                      <p:cBhvr>
                                        <p:cTn id="13" dur="750" fill="hold"/>
                                        <p:tgtEl>
                                          <p:spTgt spid="5"/>
                                        </p:tgtEl>
                                        <p:attrNameLst>
                                          <p:attrName>ppt_x</p:attrName>
                                          <p:attrName>ppt_y</p:attrName>
                                        </p:attrNameLst>
                                      </p:cBhvr>
                                      <p:rCtr x="859" y="0"/>
                                    </p:animMotion>
                                  </p:childTnLst>
                                </p:cTn>
                              </p:par>
                              <p:par>
                                <p:cTn id="14" presetID="10" presetClass="entr" presetSubtype="0" fill="hold" nodeType="withEffect">
                                  <p:stCondLst>
                                    <p:cond delay="0"/>
                                  </p:stCondLst>
                                  <p:childTnLst>
                                    <p:set>
                                      <p:cBhvr>
                                        <p:cTn id="15" dur="1" fill="hold">
                                          <p:stCondLst>
                                            <p:cond delay="0"/>
                                          </p:stCondLst>
                                        </p:cTn>
                                        <p:tgtEl>
                                          <p:spTgt spid="3"/>
                                        </p:tgtEl>
                                        <p:attrNameLst>
                                          <p:attrName>style.visibility</p:attrName>
                                        </p:attrNameLst>
                                      </p:cBhvr>
                                      <p:to>
                                        <p:strVal val="visible"/>
                                      </p:to>
                                    </p:set>
                                    <p:animEffect transition="in" filter="fade">
                                      <p:cBhvr>
                                        <p:cTn id="16" dur="500"/>
                                        <p:tgtEl>
                                          <p:spTgt spid="3"/>
                                        </p:tgtEl>
                                      </p:cBhvr>
                                    </p:animEffect>
                                  </p:childTnLst>
                                </p:cTn>
                              </p:par>
                              <p:par>
                                <p:cTn id="17" presetID="42" presetClass="path" presetSubtype="0" decel="100000" fill="hold" nodeType="withEffect">
                                  <p:stCondLst>
                                    <p:cond delay="0"/>
                                  </p:stCondLst>
                                  <p:childTnLst>
                                    <p:animMotion origin="layout" path="M -0.01719 -0.00023 L 2.70833E-6 5.55112E-17 " pathEditMode="relative" rAng="0" ptsTypes="AA">
                                      <p:cBhvr>
                                        <p:cTn id="18" dur="750" fill="hold"/>
                                        <p:tgtEl>
                                          <p:spTgt spid="3"/>
                                        </p:tgtEl>
                                        <p:attrNameLst>
                                          <p:attrName>ppt_x</p:attrName>
                                          <p:attrName>ppt_y</p:attrName>
                                        </p:attrNameLst>
                                      </p:cBhvr>
                                      <p:rCtr x="859" y="0"/>
                                    </p:animMotion>
                                  </p:childTnLst>
                                </p:cTn>
                              </p:par>
                              <p:par>
                                <p:cTn id="19" presetID="10" presetClass="entr" presetSubtype="0" fill="hold" grpId="0" nodeType="withEffect">
                                  <p:stCondLst>
                                    <p:cond delay="300"/>
                                  </p:stCondLst>
                                  <p:childTnLst>
                                    <p:set>
                                      <p:cBhvr>
                                        <p:cTn id="20" dur="1" fill="hold">
                                          <p:stCondLst>
                                            <p:cond delay="0"/>
                                          </p:stCondLst>
                                        </p:cTn>
                                        <p:tgtEl>
                                          <p:spTgt spid="6"/>
                                        </p:tgtEl>
                                        <p:attrNameLst>
                                          <p:attrName>style.visibility</p:attrName>
                                        </p:attrNameLst>
                                      </p:cBhvr>
                                      <p:to>
                                        <p:strVal val="visible"/>
                                      </p:to>
                                    </p:set>
                                    <p:animEffect transition="in" filter="fade">
                                      <p:cBhvr>
                                        <p:cTn id="21" dur="500"/>
                                        <p:tgtEl>
                                          <p:spTgt spid="6"/>
                                        </p:tgtEl>
                                      </p:cBhvr>
                                    </p:animEffect>
                                  </p:childTnLst>
                                </p:cTn>
                              </p:par>
                              <p:par>
                                <p:cTn id="22" presetID="42" presetClass="path" presetSubtype="0" decel="100000" fill="hold" grpId="1" nodeType="withEffect">
                                  <p:stCondLst>
                                    <p:cond delay="300"/>
                                  </p:stCondLst>
                                  <p:childTnLst>
                                    <p:animMotion origin="layout" path="M -0.01719 -0.00023 L -1.25E-6 1.85185E-6 " pathEditMode="relative" rAng="0" ptsTypes="AA">
                                      <p:cBhvr>
                                        <p:cTn id="23" dur="750" fill="hold"/>
                                        <p:tgtEl>
                                          <p:spTgt spid="6"/>
                                        </p:tgtEl>
                                        <p:attrNameLst>
                                          <p:attrName>ppt_x</p:attrName>
                                          <p:attrName>ppt_y</p:attrName>
                                        </p:attrNameLst>
                                      </p:cBhvr>
                                      <p:rCtr x="859" y="0"/>
                                    </p:animMotion>
                                  </p:childTnLst>
                                </p:cTn>
                              </p:par>
                              <p:par>
                                <p:cTn id="24" presetID="10" presetClass="entr" presetSubtype="0" fill="hold" grpId="0" nodeType="withEffect">
                                  <p:stCondLst>
                                    <p:cond delay="600"/>
                                  </p:stCondLst>
                                  <p:childTnLst>
                                    <p:set>
                                      <p:cBhvr>
                                        <p:cTn id="25" dur="1" fill="hold">
                                          <p:stCondLst>
                                            <p:cond delay="0"/>
                                          </p:stCondLst>
                                        </p:cTn>
                                        <p:tgtEl>
                                          <p:spTgt spid="7"/>
                                        </p:tgtEl>
                                        <p:attrNameLst>
                                          <p:attrName>style.visibility</p:attrName>
                                        </p:attrNameLst>
                                      </p:cBhvr>
                                      <p:to>
                                        <p:strVal val="visible"/>
                                      </p:to>
                                    </p:set>
                                    <p:animEffect transition="in" filter="fade">
                                      <p:cBhvr>
                                        <p:cTn id="26" dur="500"/>
                                        <p:tgtEl>
                                          <p:spTgt spid="7"/>
                                        </p:tgtEl>
                                      </p:cBhvr>
                                    </p:animEffect>
                                  </p:childTnLst>
                                </p:cTn>
                              </p:par>
                              <p:par>
                                <p:cTn id="27" presetID="42" presetClass="path" presetSubtype="0" decel="100000" fill="hold" grpId="1" nodeType="withEffect">
                                  <p:stCondLst>
                                    <p:cond delay="600"/>
                                  </p:stCondLst>
                                  <p:childTnLst>
                                    <p:animMotion origin="layout" path="M -0.01719 -0.00024 L 2.70833E-6 3.7037E-6 " pathEditMode="relative" rAng="0" ptsTypes="AA">
                                      <p:cBhvr>
                                        <p:cTn id="28" dur="750" fill="hold"/>
                                        <p:tgtEl>
                                          <p:spTgt spid="7"/>
                                        </p:tgtEl>
                                        <p:attrNameLst>
                                          <p:attrName>ppt_x</p:attrName>
                                          <p:attrName>ppt_y</p:attrName>
                                        </p:attrNameLst>
                                      </p:cBhvr>
                                      <p:rCtr x="859"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5" grpId="0"/>
      <p:bldP spid="5" grpId="1"/>
      <p:bldP spid="6" grpId="0"/>
      <p:bldP spid="6" grpId="1"/>
      <p:bldP spid="7" grpId="0" animBg="1"/>
      <p:bldP spid="7" grpId="1"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val 1">
            <a:extLst>
              <a:ext uri="{FF2B5EF4-FFF2-40B4-BE49-F238E27FC236}">
                <a16:creationId xmlns:a16="http://schemas.microsoft.com/office/drawing/2014/main" id="{BC97A35E-2202-6D63-4101-2ADA50DE8850}"/>
              </a:ext>
              <a:ext uri="{C183D7F6-B498-43B3-948B-1728B52AA6E4}">
                <adec:decorative xmlns:adec="http://schemas.microsoft.com/office/drawing/2017/decorative" val="1"/>
              </a:ext>
            </a:extLst>
          </p:cNvPr>
          <p:cNvSpPr/>
          <p:nvPr/>
        </p:nvSpPr>
        <p:spPr bwMode="auto">
          <a:xfrm>
            <a:off x="10810543" y="294186"/>
            <a:ext cx="809958" cy="818153"/>
          </a:xfrm>
          <a:prstGeom prst="ellipse">
            <a:avLst/>
          </a:prstGeom>
          <a:solidFill>
            <a:srgbClr val="FFFFFF"/>
          </a:solidFill>
          <a:ln w="76200" cap="rnd" cmpd="sng" algn="ctr">
            <a:gradFill flip="none" rotWithShape="1">
              <a:gsLst>
                <a:gs pos="0">
                  <a:srgbClr val="B9DCD2">
                    <a:alpha val="40000"/>
                  </a:srgbClr>
                </a:gs>
                <a:gs pos="99000">
                  <a:srgbClr val="C5B4E3">
                    <a:alpha val="40000"/>
                  </a:srgbClr>
                </a:gs>
                <a:gs pos="51000">
                  <a:srgbClr val="8DC8E8">
                    <a:alpha val="40000"/>
                  </a:srgbClr>
                </a:gs>
              </a:gsLst>
              <a:path path="circle">
                <a:fillToRect r="100000" b="100000"/>
              </a:path>
              <a:tileRect l="-100000" t="-100000"/>
            </a:gradFill>
            <a:prstDash val="solid"/>
            <a:headEnd type="none" w="lg" len="med"/>
            <a:tailEnd type="arrow" w="lg" len="sm"/>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ts val="0"/>
              </a:spcBef>
              <a:spcAft>
                <a:spcPts val="600"/>
              </a:spcAft>
              <a:buClrTx/>
              <a:buSzTx/>
              <a:buFontTx/>
              <a:buNone/>
              <a:tabLst/>
              <a:defRPr/>
            </a:pPr>
            <a:endParaRPr kumimoji="0" lang="en-US" sz="800" b="0" i="0" u="none" strike="noStrike" kern="0" cap="none" spc="0" normalizeH="0" baseline="0" noProof="0" err="1">
              <a:ln>
                <a:noFill/>
              </a:ln>
              <a:solidFill>
                <a:srgbClr val="000000"/>
              </a:solidFill>
              <a:effectLst/>
              <a:uLnTx/>
              <a:uFillTx/>
              <a:latin typeface="Segoe Sans Text"/>
              <a:ea typeface="+mn-ea"/>
              <a:cs typeface="Segoe UI" pitchFamily="34" charset="0"/>
            </a:endParaRPr>
          </a:p>
        </p:txBody>
      </p:sp>
      <p:sp>
        <p:nvSpPr>
          <p:cNvPr id="3" name="Rectangle: Rounded Corners 2">
            <a:extLst>
              <a:ext uri="{FF2B5EF4-FFF2-40B4-BE49-F238E27FC236}">
                <a16:creationId xmlns:a16="http://schemas.microsoft.com/office/drawing/2014/main" id="{3FF79068-EBBA-F073-5AEF-C62D56F78F6B}"/>
              </a:ext>
              <a:ext uri="{C183D7F6-B498-43B3-948B-1728B52AA6E4}">
                <adec:decorative xmlns:adec="http://schemas.microsoft.com/office/drawing/2017/decorative" val="1"/>
              </a:ext>
            </a:extLst>
          </p:cNvPr>
          <p:cNvSpPr>
            <a:spLocks/>
          </p:cNvSpPr>
          <p:nvPr/>
        </p:nvSpPr>
        <p:spPr bwMode="auto">
          <a:xfrm>
            <a:off x="577299" y="2194946"/>
            <a:ext cx="5338721" cy="4074087"/>
          </a:xfrm>
          <a:prstGeom prst="roundRect">
            <a:avLst>
              <a:gd name="adj" fmla="val 4274"/>
            </a:avLst>
          </a:prstGeom>
          <a:solidFill>
            <a:schemeClr val="bg1">
              <a:alpha val="85000"/>
            </a:schemeClr>
          </a:solidFill>
          <a:ln w="12700">
            <a:noFill/>
          </a:ln>
          <a:effectLst>
            <a:outerShdw blurRad="190500" dist="63500" dir="8100000" algn="tr" rotWithShape="0">
              <a:schemeClr val="bg1">
                <a:lumMod val="50000"/>
                <a:alpha val="1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err="1">
              <a:ln>
                <a:noFill/>
              </a:ln>
              <a:solidFill>
                <a:srgbClr val="FFFFFF"/>
              </a:solidFill>
              <a:effectLst/>
              <a:uLnTx/>
              <a:uFillTx/>
              <a:latin typeface="Segoe Sans Text"/>
              <a:ea typeface="+mn-ea"/>
              <a:cs typeface="+mn-cs"/>
            </a:endParaRPr>
          </a:p>
        </p:txBody>
      </p:sp>
      <p:sp>
        <p:nvSpPr>
          <p:cNvPr id="4" name="Rectangle: Rounded Corners 3">
            <a:extLst>
              <a:ext uri="{FF2B5EF4-FFF2-40B4-BE49-F238E27FC236}">
                <a16:creationId xmlns:a16="http://schemas.microsoft.com/office/drawing/2014/main" id="{1BA38A5F-38F2-0446-8334-70E8ED92F143}"/>
              </a:ext>
              <a:ext uri="{C183D7F6-B498-43B3-948B-1728B52AA6E4}">
                <adec:decorative xmlns:adec="http://schemas.microsoft.com/office/drawing/2017/decorative" val="1"/>
              </a:ext>
            </a:extLst>
          </p:cNvPr>
          <p:cNvSpPr>
            <a:spLocks/>
          </p:cNvSpPr>
          <p:nvPr/>
        </p:nvSpPr>
        <p:spPr bwMode="auto">
          <a:xfrm>
            <a:off x="6281779" y="2194946"/>
            <a:ext cx="5338721" cy="4074087"/>
          </a:xfrm>
          <a:prstGeom prst="roundRect">
            <a:avLst>
              <a:gd name="adj" fmla="val 4274"/>
            </a:avLst>
          </a:prstGeom>
          <a:solidFill>
            <a:schemeClr val="bg1">
              <a:alpha val="85000"/>
            </a:schemeClr>
          </a:solidFill>
          <a:ln w="12700">
            <a:noFill/>
          </a:ln>
          <a:effectLst>
            <a:outerShdw blurRad="190500" dist="63500" dir="8100000" algn="tr" rotWithShape="0">
              <a:schemeClr val="bg1">
                <a:lumMod val="50000"/>
                <a:alpha val="1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err="1">
              <a:ln>
                <a:noFill/>
              </a:ln>
              <a:solidFill>
                <a:srgbClr val="FFFFFF"/>
              </a:solidFill>
              <a:effectLst/>
              <a:uLnTx/>
              <a:uFillTx/>
              <a:latin typeface="Segoe Sans Text"/>
              <a:ea typeface="+mn-ea"/>
              <a:cs typeface="+mn-cs"/>
            </a:endParaRPr>
          </a:p>
        </p:txBody>
      </p:sp>
      <p:sp>
        <p:nvSpPr>
          <p:cNvPr id="5" name="Oval 4">
            <a:extLst>
              <a:ext uri="{FF2B5EF4-FFF2-40B4-BE49-F238E27FC236}">
                <a16:creationId xmlns:a16="http://schemas.microsoft.com/office/drawing/2014/main" id="{10B105C1-771D-623F-469C-508CE4DDCDC1}"/>
              </a:ext>
              <a:ext uri="{C183D7F6-B498-43B3-948B-1728B52AA6E4}">
                <adec:decorative xmlns:adec="http://schemas.microsoft.com/office/drawing/2017/decorative" val="1"/>
              </a:ext>
            </a:extLst>
          </p:cNvPr>
          <p:cNvSpPr/>
          <p:nvPr/>
        </p:nvSpPr>
        <p:spPr bwMode="auto">
          <a:xfrm>
            <a:off x="2841681" y="1785869"/>
            <a:ext cx="809958" cy="818153"/>
          </a:xfrm>
          <a:prstGeom prst="ellipse">
            <a:avLst/>
          </a:prstGeom>
          <a:solidFill>
            <a:srgbClr val="FFFFFF"/>
          </a:solidFill>
          <a:ln w="76200" cap="rnd" cmpd="sng" algn="ctr">
            <a:gradFill flip="none" rotWithShape="1">
              <a:gsLst>
                <a:gs pos="0">
                  <a:srgbClr val="B9DCD2">
                    <a:alpha val="40000"/>
                  </a:srgbClr>
                </a:gs>
                <a:gs pos="99000">
                  <a:srgbClr val="C5B4E3">
                    <a:alpha val="40000"/>
                  </a:srgbClr>
                </a:gs>
                <a:gs pos="51000">
                  <a:srgbClr val="8DC8E8">
                    <a:alpha val="40000"/>
                  </a:srgbClr>
                </a:gs>
              </a:gsLst>
              <a:path path="circle">
                <a:fillToRect r="100000" b="100000"/>
              </a:path>
              <a:tileRect l="-100000" t="-100000"/>
            </a:gradFill>
            <a:prstDash val="solid"/>
            <a:headEnd type="none" w="lg" len="med"/>
            <a:tailEnd type="arrow" w="lg" len="sm"/>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ts val="0"/>
              </a:spcBef>
              <a:spcAft>
                <a:spcPts val="600"/>
              </a:spcAft>
              <a:buClrTx/>
              <a:buSzTx/>
              <a:buFontTx/>
              <a:buNone/>
              <a:tabLst/>
              <a:defRPr/>
            </a:pPr>
            <a:endParaRPr kumimoji="0" lang="en-US" sz="800" b="0" i="0" u="none" strike="noStrike" kern="0" cap="none" spc="0" normalizeH="0" baseline="0" noProof="0" err="1">
              <a:ln>
                <a:noFill/>
              </a:ln>
              <a:solidFill>
                <a:srgbClr val="000000"/>
              </a:solidFill>
              <a:effectLst/>
              <a:uLnTx/>
              <a:uFillTx/>
              <a:latin typeface="Segoe Sans Text"/>
              <a:ea typeface="+mn-ea"/>
              <a:cs typeface="Segoe UI" pitchFamily="34" charset="0"/>
            </a:endParaRPr>
          </a:p>
        </p:txBody>
      </p:sp>
      <p:sp>
        <p:nvSpPr>
          <p:cNvPr id="6" name="Oval 5">
            <a:extLst>
              <a:ext uri="{FF2B5EF4-FFF2-40B4-BE49-F238E27FC236}">
                <a16:creationId xmlns:a16="http://schemas.microsoft.com/office/drawing/2014/main" id="{41027882-6777-4042-9193-0D9ECBA64B34}"/>
              </a:ext>
              <a:ext uri="{C183D7F6-B498-43B3-948B-1728B52AA6E4}">
                <adec:decorative xmlns:adec="http://schemas.microsoft.com/office/drawing/2017/decorative" val="1"/>
              </a:ext>
            </a:extLst>
          </p:cNvPr>
          <p:cNvSpPr/>
          <p:nvPr/>
        </p:nvSpPr>
        <p:spPr bwMode="auto">
          <a:xfrm>
            <a:off x="8546161" y="1785869"/>
            <a:ext cx="809958" cy="818153"/>
          </a:xfrm>
          <a:prstGeom prst="ellipse">
            <a:avLst/>
          </a:prstGeom>
          <a:solidFill>
            <a:srgbClr val="FFFFFF"/>
          </a:solidFill>
          <a:ln w="76200" cap="rnd" cmpd="sng" algn="ctr">
            <a:gradFill flip="none" rotWithShape="1">
              <a:gsLst>
                <a:gs pos="0">
                  <a:srgbClr val="B9DCD2">
                    <a:alpha val="40000"/>
                  </a:srgbClr>
                </a:gs>
                <a:gs pos="99000">
                  <a:srgbClr val="C5B4E3">
                    <a:alpha val="40000"/>
                  </a:srgbClr>
                </a:gs>
                <a:gs pos="51000">
                  <a:srgbClr val="8DC8E8">
                    <a:alpha val="40000"/>
                  </a:srgbClr>
                </a:gs>
              </a:gsLst>
              <a:path path="circle">
                <a:fillToRect r="100000" b="100000"/>
              </a:path>
              <a:tileRect l="-100000" t="-100000"/>
            </a:gradFill>
            <a:prstDash val="solid"/>
            <a:headEnd type="none" w="lg" len="med"/>
            <a:tailEnd type="arrow" w="lg" len="sm"/>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ts val="0"/>
              </a:spcBef>
              <a:spcAft>
                <a:spcPts val="600"/>
              </a:spcAft>
              <a:buClrTx/>
              <a:buSzTx/>
              <a:buFontTx/>
              <a:buNone/>
              <a:tabLst/>
              <a:defRPr/>
            </a:pPr>
            <a:endParaRPr kumimoji="0" lang="en-US" sz="800" b="0" i="0" u="none" strike="noStrike" kern="0" cap="none" spc="0" normalizeH="0" baseline="0" noProof="0" err="1">
              <a:ln>
                <a:noFill/>
              </a:ln>
              <a:solidFill>
                <a:srgbClr val="000000"/>
              </a:solidFill>
              <a:effectLst/>
              <a:uLnTx/>
              <a:uFillTx/>
              <a:latin typeface="Segoe Sans Text"/>
              <a:ea typeface="+mn-ea"/>
              <a:cs typeface="Segoe UI" pitchFamily="34" charset="0"/>
            </a:endParaRPr>
          </a:p>
        </p:txBody>
      </p:sp>
      <p:cxnSp>
        <p:nvCxnSpPr>
          <p:cNvPr id="7" name="Straight Connector 6">
            <a:extLst>
              <a:ext uri="{FF2B5EF4-FFF2-40B4-BE49-F238E27FC236}">
                <a16:creationId xmlns:a16="http://schemas.microsoft.com/office/drawing/2014/main" id="{C9568281-E1B4-F15C-3CA3-4DAA01E47DFA}"/>
              </a:ext>
              <a:ext uri="{C183D7F6-B498-43B3-948B-1728B52AA6E4}">
                <adec:decorative xmlns:adec="http://schemas.microsoft.com/office/drawing/2017/decorative" val="1"/>
              </a:ext>
            </a:extLst>
          </p:cNvPr>
          <p:cNvCxnSpPr>
            <a:cxnSpLocks/>
          </p:cNvCxnSpPr>
          <p:nvPr/>
        </p:nvCxnSpPr>
        <p:spPr>
          <a:xfrm flipH="1">
            <a:off x="791736" y="4799025"/>
            <a:ext cx="5013889" cy="0"/>
          </a:xfrm>
          <a:prstGeom prst="line">
            <a:avLst/>
          </a:prstGeom>
          <a:ln w="6350" cap="rnd">
            <a:solidFill>
              <a:schemeClr val="tx1">
                <a:alpha val="20000"/>
              </a:schemeClr>
            </a:solidFill>
            <a:headEnd type="none" w="sm" len="sm"/>
            <a:tailEnd type="none" w="lg" len="med"/>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ABE7236F-897F-BA89-B72B-864A23A93AD7}"/>
              </a:ext>
              <a:ext uri="{C183D7F6-B498-43B3-948B-1728B52AA6E4}">
                <adec:decorative xmlns:adec="http://schemas.microsoft.com/office/drawing/2017/decorative" val="1"/>
              </a:ext>
            </a:extLst>
          </p:cNvPr>
          <p:cNvCxnSpPr>
            <a:cxnSpLocks/>
          </p:cNvCxnSpPr>
          <p:nvPr/>
        </p:nvCxnSpPr>
        <p:spPr>
          <a:xfrm flipH="1">
            <a:off x="6444195" y="4800222"/>
            <a:ext cx="5013889" cy="0"/>
          </a:xfrm>
          <a:prstGeom prst="line">
            <a:avLst/>
          </a:prstGeom>
          <a:ln w="6350" cap="rnd">
            <a:solidFill>
              <a:schemeClr val="tx1">
                <a:alpha val="20000"/>
              </a:schemeClr>
            </a:solidFill>
            <a:headEnd type="none" w="sm" len="sm"/>
            <a:tailEnd type="none" w="lg" len="med"/>
          </a:ln>
        </p:spPr>
        <p:style>
          <a:lnRef idx="1">
            <a:schemeClr val="accent1"/>
          </a:lnRef>
          <a:fillRef idx="0">
            <a:schemeClr val="accent1"/>
          </a:fillRef>
          <a:effectRef idx="0">
            <a:schemeClr val="accent1"/>
          </a:effectRef>
          <a:fontRef idx="minor">
            <a:schemeClr val="tx1"/>
          </a:fontRef>
        </p:style>
      </p:cxnSp>
      <p:sp>
        <p:nvSpPr>
          <p:cNvPr id="9" name="Graphic 57">
            <a:extLst>
              <a:ext uri="{FF2B5EF4-FFF2-40B4-BE49-F238E27FC236}">
                <a16:creationId xmlns:a16="http://schemas.microsoft.com/office/drawing/2014/main" id="{4D18DB6B-3915-CE09-F5A8-7D14BA388E5C}"/>
              </a:ext>
              <a:ext uri="{C183D7F6-B498-43B3-948B-1728B52AA6E4}">
                <adec:decorative xmlns:adec="http://schemas.microsoft.com/office/drawing/2017/decorative" val="1"/>
              </a:ext>
            </a:extLst>
          </p:cNvPr>
          <p:cNvSpPr>
            <a:spLocks/>
          </p:cNvSpPr>
          <p:nvPr/>
        </p:nvSpPr>
        <p:spPr>
          <a:xfrm>
            <a:off x="3016695" y="1976466"/>
            <a:ext cx="459930" cy="436958"/>
          </a:xfrm>
          <a:custGeom>
            <a:avLst/>
            <a:gdLst>
              <a:gd name="connsiteX0" fmla="*/ 45244 w 190490"/>
              <a:gd name="connsiteY0" fmla="*/ 180975 h 180975"/>
              <a:gd name="connsiteX1" fmla="*/ 38102 w 190490"/>
              <a:gd name="connsiteY1" fmla="*/ 173829 h 180975"/>
              <a:gd name="connsiteX2" fmla="*/ 44272 w 190490"/>
              <a:gd name="connsiteY2" fmla="*/ 166754 h 180975"/>
              <a:gd name="connsiteX3" fmla="*/ 45244 w 190490"/>
              <a:gd name="connsiteY3" fmla="*/ 166688 h 180975"/>
              <a:gd name="connsiteX4" fmla="*/ 61903 w 190490"/>
              <a:gd name="connsiteY4" fmla="*/ 166688 h 180975"/>
              <a:gd name="connsiteX5" fmla="*/ 61903 w 190490"/>
              <a:gd name="connsiteY5" fmla="*/ 142894 h 180975"/>
              <a:gd name="connsiteX6" fmla="*/ 21431 w 190490"/>
              <a:gd name="connsiteY6" fmla="*/ 142894 h 180975"/>
              <a:gd name="connsiteX7" fmla="*/ 48 w 190490"/>
              <a:gd name="connsiteY7" fmla="*/ 122930 h 180975"/>
              <a:gd name="connsiteX8" fmla="*/ 0 w 190490"/>
              <a:gd name="connsiteY8" fmla="*/ 121463 h 180975"/>
              <a:gd name="connsiteX9" fmla="*/ 0 w 190490"/>
              <a:gd name="connsiteY9" fmla="*/ 21431 h 180975"/>
              <a:gd name="connsiteX10" fmla="*/ 19964 w 190490"/>
              <a:gd name="connsiteY10" fmla="*/ 48 h 180975"/>
              <a:gd name="connsiteX11" fmla="*/ 21431 w 190490"/>
              <a:gd name="connsiteY11" fmla="*/ 0 h 180975"/>
              <a:gd name="connsiteX12" fmla="*/ 169059 w 190490"/>
              <a:gd name="connsiteY12" fmla="*/ 0 h 180975"/>
              <a:gd name="connsiteX13" fmla="*/ 190443 w 190490"/>
              <a:gd name="connsiteY13" fmla="*/ 19964 h 180975"/>
              <a:gd name="connsiteX14" fmla="*/ 190490 w 190490"/>
              <a:gd name="connsiteY14" fmla="*/ 21431 h 180975"/>
              <a:gd name="connsiteX15" fmla="*/ 190490 w 190490"/>
              <a:gd name="connsiteY15" fmla="*/ 121463 h 180975"/>
              <a:gd name="connsiteX16" fmla="*/ 170526 w 190490"/>
              <a:gd name="connsiteY16" fmla="*/ 142846 h 180975"/>
              <a:gd name="connsiteX17" fmla="*/ 169059 w 190490"/>
              <a:gd name="connsiteY17" fmla="*/ 142894 h 180975"/>
              <a:gd name="connsiteX18" fmla="*/ 128578 w 190490"/>
              <a:gd name="connsiteY18" fmla="*/ 142894 h 180975"/>
              <a:gd name="connsiteX19" fmla="*/ 128578 w 190490"/>
              <a:gd name="connsiteY19" fmla="*/ 166688 h 180975"/>
              <a:gd name="connsiteX20" fmla="*/ 145256 w 190490"/>
              <a:gd name="connsiteY20" fmla="*/ 166688 h 180975"/>
              <a:gd name="connsiteX21" fmla="*/ 152472 w 190490"/>
              <a:gd name="connsiteY21" fmla="*/ 173758 h 180975"/>
              <a:gd name="connsiteX22" fmla="*/ 146228 w 190490"/>
              <a:gd name="connsiteY22" fmla="*/ 180918 h 180975"/>
              <a:gd name="connsiteX23" fmla="*/ 145256 w 190490"/>
              <a:gd name="connsiteY23" fmla="*/ 180975 h 180975"/>
              <a:gd name="connsiteX24" fmla="*/ 45244 w 190490"/>
              <a:gd name="connsiteY24" fmla="*/ 180975 h 180975"/>
              <a:gd name="connsiteX25" fmla="*/ 114281 w 190490"/>
              <a:gd name="connsiteY25" fmla="*/ 142894 h 180975"/>
              <a:gd name="connsiteX26" fmla="*/ 76181 w 190490"/>
              <a:gd name="connsiteY26" fmla="*/ 142894 h 180975"/>
              <a:gd name="connsiteX27" fmla="*/ 76190 w 190490"/>
              <a:gd name="connsiteY27" fmla="*/ 166688 h 180975"/>
              <a:gd name="connsiteX28" fmla="*/ 114290 w 190490"/>
              <a:gd name="connsiteY28" fmla="*/ 166688 h 180975"/>
              <a:gd name="connsiteX29" fmla="*/ 114281 w 190490"/>
              <a:gd name="connsiteY29" fmla="*/ 142894 h 180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90490" h="180975">
                <a:moveTo>
                  <a:pt x="45244" y="180975"/>
                </a:moveTo>
                <a:cubicBezTo>
                  <a:pt x="41298" y="180974"/>
                  <a:pt x="38101" y="177775"/>
                  <a:pt x="38102" y="173829"/>
                </a:cubicBezTo>
                <a:cubicBezTo>
                  <a:pt x="38103" y="170260"/>
                  <a:pt x="40737" y="167241"/>
                  <a:pt x="44272" y="166754"/>
                </a:cubicBezTo>
                <a:lnTo>
                  <a:pt x="45244" y="166688"/>
                </a:lnTo>
                <a:lnTo>
                  <a:pt x="61903" y="166688"/>
                </a:lnTo>
                <a:lnTo>
                  <a:pt x="61903" y="142894"/>
                </a:lnTo>
                <a:lnTo>
                  <a:pt x="21431" y="142894"/>
                </a:lnTo>
                <a:cubicBezTo>
                  <a:pt x="10163" y="142895"/>
                  <a:pt x="819" y="134171"/>
                  <a:pt x="48" y="122930"/>
                </a:cubicBezTo>
                <a:lnTo>
                  <a:pt x="0" y="121463"/>
                </a:lnTo>
                <a:lnTo>
                  <a:pt x="0" y="21431"/>
                </a:lnTo>
                <a:cubicBezTo>
                  <a:pt x="-1" y="10163"/>
                  <a:pt x="8723" y="819"/>
                  <a:pt x="19964" y="48"/>
                </a:cubicBezTo>
                <a:lnTo>
                  <a:pt x="21431" y="0"/>
                </a:lnTo>
                <a:lnTo>
                  <a:pt x="169059" y="0"/>
                </a:lnTo>
                <a:cubicBezTo>
                  <a:pt x="180327" y="-1"/>
                  <a:pt x="189671" y="8723"/>
                  <a:pt x="190443" y="19964"/>
                </a:cubicBezTo>
                <a:lnTo>
                  <a:pt x="190490" y="21431"/>
                </a:lnTo>
                <a:lnTo>
                  <a:pt x="190490" y="121463"/>
                </a:lnTo>
                <a:cubicBezTo>
                  <a:pt x="190491" y="132731"/>
                  <a:pt x="181767" y="142075"/>
                  <a:pt x="170526" y="142846"/>
                </a:cubicBezTo>
                <a:lnTo>
                  <a:pt x="169059" y="142894"/>
                </a:lnTo>
                <a:lnTo>
                  <a:pt x="128578" y="142894"/>
                </a:lnTo>
                <a:lnTo>
                  <a:pt x="128578" y="166688"/>
                </a:lnTo>
                <a:lnTo>
                  <a:pt x="145256" y="166688"/>
                </a:lnTo>
                <a:cubicBezTo>
                  <a:pt x="149202" y="166648"/>
                  <a:pt x="152432" y="169813"/>
                  <a:pt x="152472" y="173758"/>
                </a:cubicBezTo>
                <a:cubicBezTo>
                  <a:pt x="152510" y="177383"/>
                  <a:pt x="149824" y="180462"/>
                  <a:pt x="146228" y="180918"/>
                </a:cubicBezTo>
                <a:lnTo>
                  <a:pt x="145256" y="180975"/>
                </a:lnTo>
                <a:lnTo>
                  <a:pt x="45244" y="180975"/>
                </a:lnTo>
                <a:close/>
                <a:moveTo>
                  <a:pt x="114281" y="142894"/>
                </a:moveTo>
                <a:lnTo>
                  <a:pt x="76181" y="142894"/>
                </a:lnTo>
                <a:lnTo>
                  <a:pt x="76190" y="166688"/>
                </a:lnTo>
                <a:lnTo>
                  <a:pt x="114290" y="166688"/>
                </a:lnTo>
                <a:lnTo>
                  <a:pt x="114281" y="142894"/>
                </a:lnTo>
                <a:close/>
              </a:path>
            </a:pathLst>
          </a:custGeom>
          <a:gradFill flip="none" rotWithShape="1">
            <a:gsLst>
              <a:gs pos="0">
                <a:schemeClr val="accent3"/>
              </a:gs>
              <a:gs pos="78000">
                <a:schemeClr val="tx2"/>
              </a:gs>
            </a:gsLst>
            <a:path path="circle">
              <a:fillToRect r="100000" b="100000"/>
            </a:path>
            <a:tileRect l="-100000" t="-100000"/>
          </a:gradFill>
          <a:ln w="52388"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Segoe Sans Text"/>
              <a:ea typeface="+mn-ea"/>
              <a:cs typeface="+mn-cs"/>
            </a:endParaRPr>
          </a:p>
        </p:txBody>
      </p:sp>
      <p:sp>
        <p:nvSpPr>
          <p:cNvPr id="10" name="Graphic 125">
            <a:extLst>
              <a:ext uri="{FF2B5EF4-FFF2-40B4-BE49-F238E27FC236}">
                <a16:creationId xmlns:a16="http://schemas.microsoft.com/office/drawing/2014/main" id="{42CA30BF-AA77-5018-6D61-992EB5C0542A}"/>
              </a:ext>
              <a:ext uri="{C183D7F6-B498-43B3-948B-1728B52AA6E4}">
                <adec:decorative xmlns:adec="http://schemas.microsoft.com/office/drawing/2017/decorative" val="1"/>
              </a:ext>
            </a:extLst>
          </p:cNvPr>
          <p:cNvSpPr>
            <a:spLocks/>
          </p:cNvSpPr>
          <p:nvPr/>
        </p:nvSpPr>
        <p:spPr>
          <a:xfrm>
            <a:off x="8710330" y="2074541"/>
            <a:ext cx="481620" cy="240809"/>
          </a:xfrm>
          <a:custGeom>
            <a:avLst/>
            <a:gdLst>
              <a:gd name="connsiteX0" fmla="*/ 28575 w 190500"/>
              <a:gd name="connsiteY0" fmla="*/ 0 h 95250"/>
              <a:gd name="connsiteX1" fmla="*/ 161925 w 190500"/>
              <a:gd name="connsiteY1" fmla="*/ 0 h 95250"/>
              <a:gd name="connsiteX2" fmla="*/ 190452 w 190500"/>
              <a:gd name="connsiteY2" fmla="*/ 26899 h 95250"/>
              <a:gd name="connsiteX3" fmla="*/ 190500 w 190500"/>
              <a:gd name="connsiteY3" fmla="*/ 28575 h 95250"/>
              <a:gd name="connsiteX4" fmla="*/ 190500 w 190500"/>
              <a:gd name="connsiteY4" fmla="*/ 66675 h 95250"/>
              <a:gd name="connsiteX5" fmla="*/ 163601 w 190500"/>
              <a:gd name="connsiteY5" fmla="*/ 95202 h 95250"/>
              <a:gd name="connsiteX6" fmla="*/ 161925 w 190500"/>
              <a:gd name="connsiteY6" fmla="*/ 95250 h 95250"/>
              <a:gd name="connsiteX7" fmla="*/ 28575 w 190500"/>
              <a:gd name="connsiteY7" fmla="*/ 95250 h 95250"/>
              <a:gd name="connsiteX8" fmla="*/ 48 w 190500"/>
              <a:gd name="connsiteY8" fmla="*/ 68351 h 95250"/>
              <a:gd name="connsiteX9" fmla="*/ 0 w 190500"/>
              <a:gd name="connsiteY9" fmla="*/ 66675 h 95250"/>
              <a:gd name="connsiteX10" fmla="*/ 0 w 190500"/>
              <a:gd name="connsiteY10" fmla="*/ 28575 h 95250"/>
              <a:gd name="connsiteX11" fmla="*/ 26899 w 190500"/>
              <a:gd name="connsiteY11" fmla="*/ 48 h 95250"/>
              <a:gd name="connsiteX12" fmla="*/ 28575 w 190500"/>
              <a:gd name="connsiteY12" fmla="*/ 0 h 95250"/>
              <a:gd name="connsiteX13" fmla="*/ 161925 w 190500"/>
              <a:gd name="connsiteY13" fmla="*/ 0 h 95250"/>
              <a:gd name="connsiteX14" fmla="*/ 28575 w 190500"/>
              <a:gd name="connsiteY14" fmla="*/ 0 h 95250"/>
              <a:gd name="connsiteX15" fmla="*/ 152400 w 190500"/>
              <a:gd name="connsiteY15" fmla="*/ 28575 h 95250"/>
              <a:gd name="connsiteX16" fmla="*/ 142875 w 190500"/>
              <a:gd name="connsiteY16" fmla="*/ 38100 h 95250"/>
              <a:gd name="connsiteX17" fmla="*/ 152400 w 190500"/>
              <a:gd name="connsiteY17" fmla="*/ 47625 h 95250"/>
              <a:gd name="connsiteX18" fmla="*/ 161925 w 190500"/>
              <a:gd name="connsiteY18" fmla="*/ 38100 h 95250"/>
              <a:gd name="connsiteX19" fmla="*/ 152400 w 190500"/>
              <a:gd name="connsiteY19" fmla="*/ 28575 h 95250"/>
              <a:gd name="connsiteX20" fmla="*/ 114300 w 190500"/>
              <a:gd name="connsiteY20" fmla="*/ 28575 h 95250"/>
              <a:gd name="connsiteX21" fmla="*/ 104775 w 190500"/>
              <a:gd name="connsiteY21" fmla="*/ 38100 h 95250"/>
              <a:gd name="connsiteX22" fmla="*/ 114300 w 190500"/>
              <a:gd name="connsiteY22" fmla="*/ 47625 h 95250"/>
              <a:gd name="connsiteX23" fmla="*/ 123825 w 190500"/>
              <a:gd name="connsiteY23" fmla="*/ 38100 h 95250"/>
              <a:gd name="connsiteX24" fmla="*/ 114300 w 190500"/>
              <a:gd name="connsiteY24" fmla="*/ 28575 h 95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90500" h="95250">
                <a:moveTo>
                  <a:pt x="28575" y="0"/>
                </a:moveTo>
                <a:lnTo>
                  <a:pt x="161925" y="0"/>
                </a:lnTo>
                <a:cubicBezTo>
                  <a:pt x="177056" y="-1"/>
                  <a:pt x="189565" y="11794"/>
                  <a:pt x="190452" y="26899"/>
                </a:cubicBezTo>
                <a:lnTo>
                  <a:pt x="190500" y="28575"/>
                </a:lnTo>
                <a:lnTo>
                  <a:pt x="190500" y="66675"/>
                </a:lnTo>
                <a:cubicBezTo>
                  <a:pt x="190501" y="81806"/>
                  <a:pt x="178706" y="94315"/>
                  <a:pt x="163601" y="95202"/>
                </a:cubicBezTo>
                <a:lnTo>
                  <a:pt x="161925" y="95250"/>
                </a:lnTo>
                <a:lnTo>
                  <a:pt x="28575" y="95250"/>
                </a:lnTo>
                <a:cubicBezTo>
                  <a:pt x="13444" y="95251"/>
                  <a:pt x="935" y="83456"/>
                  <a:pt x="48" y="68351"/>
                </a:cubicBezTo>
                <a:lnTo>
                  <a:pt x="0" y="66675"/>
                </a:lnTo>
                <a:lnTo>
                  <a:pt x="0" y="28575"/>
                </a:lnTo>
                <a:cubicBezTo>
                  <a:pt x="-1" y="13444"/>
                  <a:pt x="11794" y="935"/>
                  <a:pt x="26899" y="48"/>
                </a:cubicBezTo>
                <a:lnTo>
                  <a:pt x="28575" y="0"/>
                </a:lnTo>
                <a:lnTo>
                  <a:pt x="161925" y="0"/>
                </a:lnTo>
                <a:lnTo>
                  <a:pt x="28575" y="0"/>
                </a:lnTo>
                <a:close/>
                <a:moveTo>
                  <a:pt x="152400" y="28575"/>
                </a:moveTo>
                <a:cubicBezTo>
                  <a:pt x="147139" y="28575"/>
                  <a:pt x="142875" y="32839"/>
                  <a:pt x="142875" y="38100"/>
                </a:cubicBezTo>
                <a:cubicBezTo>
                  <a:pt x="142875" y="43361"/>
                  <a:pt x="147139" y="47625"/>
                  <a:pt x="152400" y="47625"/>
                </a:cubicBezTo>
                <a:cubicBezTo>
                  <a:pt x="157661" y="47625"/>
                  <a:pt x="161925" y="43361"/>
                  <a:pt x="161925" y="38100"/>
                </a:cubicBezTo>
                <a:cubicBezTo>
                  <a:pt x="161925" y="32839"/>
                  <a:pt x="157661" y="28575"/>
                  <a:pt x="152400" y="28575"/>
                </a:cubicBezTo>
                <a:close/>
                <a:moveTo>
                  <a:pt x="114300" y="28575"/>
                </a:moveTo>
                <a:cubicBezTo>
                  <a:pt x="109039" y="28575"/>
                  <a:pt x="104775" y="32839"/>
                  <a:pt x="104775" y="38100"/>
                </a:cubicBezTo>
                <a:cubicBezTo>
                  <a:pt x="104775" y="43361"/>
                  <a:pt x="109039" y="47625"/>
                  <a:pt x="114300" y="47625"/>
                </a:cubicBezTo>
                <a:cubicBezTo>
                  <a:pt x="119561" y="47625"/>
                  <a:pt x="123825" y="43361"/>
                  <a:pt x="123825" y="38100"/>
                </a:cubicBezTo>
                <a:cubicBezTo>
                  <a:pt x="123825" y="32839"/>
                  <a:pt x="119561" y="28575"/>
                  <a:pt x="114300" y="28575"/>
                </a:cubicBezTo>
                <a:close/>
              </a:path>
            </a:pathLst>
          </a:custGeom>
          <a:gradFill flip="none" rotWithShape="1">
            <a:gsLst>
              <a:gs pos="0">
                <a:schemeClr val="accent3"/>
              </a:gs>
              <a:gs pos="78000">
                <a:schemeClr val="tx2"/>
              </a:gs>
            </a:gsLst>
            <a:path path="circle">
              <a:fillToRect r="100000" b="100000"/>
            </a:path>
            <a:tileRect l="-100000" t="-100000"/>
          </a:gradFill>
          <a:ln w="52388"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Segoe Sans Text"/>
              <a:ea typeface="+mn-ea"/>
              <a:cs typeface="+mn-cs"/>
            </a:endParaRPr>
          </a:p>
        </p:txBody>
      </p:sp>
      <p:sp>
        <p:nvSpPr>
          <p:cNvPr id="11" name="Title 7">
            <a:extLst>
              <a:ext uri="{FF2B5EF4-FFF2-40B4-BE49-F238E27FC236}">
                <a16:creationId xmlns:a16="http://schemas.microsoft.com/office/drawing/2014/main" id="{DCD0B742-ED23-ABF8-9DF9-098EA171B6A6}"/>
              </a:ext>
            </a:extLst>
          </p:cNvPr>
          <p:cNvSpPr txBox="1">
            <a:spLocks/>
          </p:cNvSpPr>
          <p:nvPr/>
        </p:nvSpPr>
        <p:spPr>
          <a:xfrm>
            <a:off x="588963" y="457200"/>
            <a:ext cx="9799637" cy="49212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t>Making Copilot in Fabric and data agents more accessible</a:t>
            </a:r>
          </a:p>
        </p:txBody>
      </p:sp>
      <p:pic>
        <p:nvPicPr>
          <p:cNvPr id="12" name="Picture 11" descr="Copilot logo">
            <a:extLst>
              <a:ext uri="{FF2B5EF4-FFF2-40B4-BE49-F238E27FC236}">
                <a16:creationId xmlns:a16="http://schemas.microsoft.com/office/drawing/2014/main" id="{71575478-F34E-6714-C8F8-01152D6D7B3A}"/>
              </a:ext>
            </a:extLst>
          </p:cNvPr>
          <p:cNvPicPr>
            <a:picLocks noChangeAspect="1"/>
          </p:cNvPicPr>
          <p:nvPr/>
        </p:nvPicPr>
        <p:blipFill>
          <a:blip r:embed="rId2"/>
          <a:stretch>
            <a:fillRect/>
          </a:stretch>
        </p:blipFill>
        <p:spPr>
          <a:xfrm>
            <a:off x="10958515" y="473094"/>
            <a:ext cx="514014" cy="460336"/>
          </a:xfrm>
          <a:prstGeom prst="rect">
            <a:avLst/>
          </a:prstGeom>
        </p:spPr>
      </p:pic>
      <p:sp>
        <p:nvSpPr>
          <p:cNvPr id="13" name="Rectangle: Rounded Corners 12">
            <a:extLst>
              <a:ext uri="{FF2B5EF4-FFF2-40B4-BE49-F238E27FC236}">
                <a16:creationId xmlns:a16="http://schemas.microsoft.com/office/drawing/2014/main" id="{D80D0EF9-EA01-D6CF-7211-720087FC3EA1}"/>
              </a:ext>
              <a:ext uri="{C183D7F6-B498-43B3-948B-1728B52AA6E4}">
                <adec:decorative xmlns:adec="http://schemas.microsoft.com/office/drawing/2017/decorative" val="0"/>
              </a:ext>
            </a:extLst>
          </p:cNvPr>
          <p:cNvSpPr/>
          <p:nvPr/>
        </p:nvSpPr>
        <p:spPr bwMode="auto">
          <a:xfrm>
            <a:off x="739715" y="2902320"/>
            <a:ext cx="5013890" cy="562642"/>
          </a:xfrm>
          <a:prstGeom prst="roundRect">
            <a:avLst/>
          </a:prstGeom>
          <a:gradFill flip="none" rotWithShape="1">
            <a:gsLst>
              <a:gs pos="0">
                <a:schemeClr val="accent3"/>
              </a:gs>
              <a:gs pos="100000">
                <a:srgbClr val="8661C5"/>
              </a:gs>
              <a:gs pos="52000">
                <a:schemeClr val="tx2"/>
              </a:gs>
            </a:gsLst>
            <a:path path="circle">
              <a:fillToRect r="100000" b="100000"/>
            </a:path>
            <a:tileRect l="-100000" t="-10000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1270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kumimoji="0" lang="en-US" sz="2000" b="0" i="0" u="none" strike="noStrike" kern="1200" cap="none" spc="0" normalizeH="0" baseline="0" noProof="0">
                <a:ln>
                  <a:noFill/>
                </a:ln>
                <a:solidFill>
                  <a:srgbClr val="FFFFFF"/>
                </a:solidFill>
                <a:effectLst/>
                <a:uLnTx/>
                <a:uFillTx/>
                <a:latin typeface="Segoe Sans Text Semibold"/>
                <a:ea typeface="+mn-ea"/>
                <a:cs typeface="+mn-cs"/>
              </a:rPr>
              <a:t>Expanding access to all users</a:t>
            </a:r>
          </a:p>
        </p:txBody>
      </p:sp>
      <p:sp>
        <p:nvSpPr>
          <p:cNvPr id="14" name="TextBox 13">
            <a:extLst>
              <a:ext uri="{FF2B5EF4-FFF2-40B4-BE49-F238E27FC236}">
                <a16:creationId xmlns:a16="http://schemas.microsoft.com/office/drawing/2014/main" id="{EE793FAA-3F77-A5E3-BBD7-78A5AF8783A3}"/>
              </a:ext>
            </a:extLst>
          </p:cNvPr>
          <p:cNvSpPr txBox="1">
            <a:spLocks/>
          </p:cNvSpPr>
          <p:nvPr/>
        </p:nvSpPr>
        <p:spPr>
          <a:xfrm>
            <a:off x="907312" y="3886371"/>
            <a:ext cx="4782736" cy="492443"/>
          </a:xfrm>
          <a:prstGeom prst="rect">
            <a:avLst/>
          </a:prstGeom>
          <a:noFill/>
        </p:spPr>
        <p:txBody>
          <a:bodyPr wrap="square" lIns="0" tIns="0" rIns="0" bIns="0" anchor="ctr">
            <a:spAutoFit/>
          </a:bodyPr>
          <a:lstStyle/>
          <a:p>
            <a:pPr marL="0" marR="0" lvl="0" indent="0" algn="ctr" defTabSz="932742"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Segoe Sans Text Semibold"/>
                <a:ea typeface="+mn-ea"/>
                <a:cs typeface="+mn-cs"/>
              </a:rPr>
              <a:t>Expanding Copilot to all F-SKUs: </a:t>
            </a:r>
            <a:r>
              <a:rPr kumimoji="0" lang="en-US" sz="1600" b="0" i="0" u="none" strike="noStrike" kern="1200" cap="none" spc="0" normalizeH="0" baseline="0" noProof="0" dirty="0">
                <a:ln>
                  <a:noFill/>
                </a:ln>
                <a:solidFill>
                  <a:srgbClr val="000000"/>
                </a:solidFill>
                <a:effectLst/>
                <a:uLnTx/>
                <a:uFillTx/>
                <a:latin typeface="Segoe Sans Text"/>
                <a:ea typeface="+mn-ea"/>
                <a:cs typeface="+mn-cs"/>
              </a:rPr>
              <a:t>Copilot and AI capabilities will be enabled for all paid SKUs in Fabric.</a:t>
            </a:r>
          </a:p>
        </p:txBody>
      </p:sp>
      <p:sp>
        <p:nvSpPr>
          <p:cNvPr id="15" name="TextBox 14">
            <a:extLst>
              <a:ext uri="{FF2B5EF4-FFF2-40B4-BE49-F238E27FC236}">
                <a16:creationId xmlns:a16="http://schemas.microsoft.com/office/drawing/2014/main" id="{855ADA6D-9E3C-B8D4-B8E2-1E78179455C8}"/>
              </a:ext>
            </a:extLst>
          </p:cNvPr>
          <p:cNvSpPr txBox="1">
            <a:spLocks/>
          </p:cNvSpPr>
          <p:nvPr/>
        </p:nvSpPr>
        <p:spPr>
          <a:xfrm>
            <a:off x="1058400" y="5221631"/>
            <a:ext cx="4480560" cy="492443"/>
          </a:xfrm>
          <a:prstGeom prst="rect">
            <a:avLst/>
          </a:prstGeom>
          <a:noFill/>
        </p:spPr>
        <p:txBody>
          <a:bodyPr wrap="square" lIns="0" tIns="0" rIns="0" bIns="0" anchor="ctr">
            <a:spAutoFit/>
          </a:bodyPr>
          <a:lstStyle/>
          <a:p>
            <a:pPr marL="0" marR="0" lvl="0" indent="0" algn="ctr" defTabSz="932742"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000000"/>
                </a:solidFill>
                <a:effectLst/>
                <a:uLnTx/>
                <a:uFillTx/>
                <a:latin typeface="Segoe Sans Text Semibold"/>
                <a:ea typeface="+mn-ea"/>
                <a:cs typeface="+mn-cs"/>
              </a:rPr>
              <a:t>Rate reduction: </a:t>
            </a:r>
            <a:r>
              <a:rPr kumimoji="0" lang="en-US" sz="1600" b="0" i="0" u="none" strike="noStrike" kern="1200" cap="none" spc="0" normalizeH="0" baseline="0" noProof="0">
                <a:ln>
                  <a:noFill/>
                </a:ln>
                <a:solidFill>
                  <a:srgbClr val="000000"/>
                </a:solidFill>
                <a:effectLst/>
                <a:uLnTx/>
                <a:uFillTx/>
                <a:latin typeface="Segoe Sans Text"/>
                <a:ea typeface="+mn-ea"/>
                <a:cs typeface="+mn-cs"/>
              </a:rPr>
              <a:t>We’ve reduced the Copilot in Fabric consumption rate by ~70% since launch. </a:t>
            </a:r>
          </a:p>
        </p:txBody>
      </p:sp>
      <p:sp>
        <p:nvSpPr>
          <p:cNvPr id="16" name="Rectangle: Rounded Corners 15">
            <a:extLst>
              <a:ext uri="{FF2B5EF4-FFF2-40B4-BE49-F238E27FC236}">
                <a16:creationId xmlns:a16="http://schemas.microsoft.com/office/drawing/2014/main" id="{16C6147B-2B14-AC6B-0823-0BC3B68053FD}"/>
              </a:ext>
              <a:ext uri="{C183D7F6-B498-43B3-948B-1728B52AA6E4}">
                <adec:decorative xmlns:adec="http://schemas.microsoft.com/office/drawing/2017/decorative" val="0"/>
              </a:ext>
            </a:extLst>
          </p:cNvPr>
          <p:cNvSpPr/>
          <p:nvPr/>
        </p:nvSpPr>
        <p:spPr bwMode="auto">
          <a:xfrm>
            <a:off x="6444195" y="2902320"/>
            <a:ext cx="5013890" cy="562642"/>
          </a:xfrm>
          <a:prstGeom prst="roundRect">
            <a:avLst/>
          </a:prstGeom>
          <a:gradFill flip="none" rotWithShape="1">
            <a:gsLst>
              <a:gs pos="0">
                <a:schemeClr val="accent3"/>
              </a:gs>
              <a:gs pos="100000">
                <a:srgbClr val="8661C5"/>
              </a:gs>
              <a:gs pos="52000">
                <a:schemeClr val="tx2"/>
              </a:gs>
            </a:gsLst>
            <a:path path="circle">
              <a:fillToRect r="100000" b="100000"/>
            </a:path>
            <a:tileRect l="-100000" t="-10000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1270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kumimoji="0" lang="en-US" sz="2000" b="0" i="0" u="none" strike="noStrike" kern="1200" cap="none" spc="0" normalizeH="0" baseline="0" noProof="0">
                <a:ln>
                  <a:noFill/>
                </a:ln>
                <a:solidFill>
                  <a:srgbClr val="FFFFFF"/>
                </a:solidFill>
                <a:effectLst/>
                <a:uLnTx/>
                <a:uFillTx/>
                <a:latin typeface="Segoe Sans Text Semibold"/>
                <a:ea typeface="+mn-ea"/>
                <a:cs typeface="+mn-cs"/>
              </a:rPr>
              <a:t>New Copilot capacity</a:t>
            </a:r>
          </a:p>
        </p:txBody>
      </p:sp>
      <p:sp>
        <p:nvSpPr>
          <p:cNvPr id="17" name="TextBox 16">
            <a:extLst>
              <a:ext uri="{FF2B5EF4-FFF2-40B4-BE49-F238E27FC236}">
                <a16:creationId xmlns:a16="http://schemas.microsoft.com/office/drawing/2014/main" id="{BB632355-1060-E2F3-12A8-570A25FCD340}"/>
              </a:ext>
            </a:extLst>
          </p:cNvPr>
          <p:cNvSpPr txBox="1">
            <a:spLocks/>
          </p:cNvSpPr>
          <p:nvPr/>
        </p:nvSpPr>
        <p:spPr>
          <a:xfrm>
            <a:off x="6501952" y="3763260"/>
            <a:ext cx="4782736" cy="738664"/>
          </a:xfrm>
          <a:prstGeom prst="rect">
            <a:avLst/>
          </a:prstGeom>
          <a:noFill/>
        </p:spPr>
        <p:txBody>
          <a:bodyPr wrap="square" lIns="0" tIns="0" rIns="0" bIns="0" anchor="ctr">
            <a:spAutoFit/>
          </a:bodyPr>
          <a:lstStyle/>
          <a:p>
            <a:pPr marL="0" marR="0" lvl="0" indent="0" algn="ctr" defTabSz="932742"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000000"/>
                </a:solidFill>
                <a:effectLst/>
                <a:uLnTx/>
                <a:uFillTx/>
                <a:latin typeface="Segoe Sans Text"/>
                <a:ea typeface="+mn-ea"/>
                <a:cs typeface="+mn-cs"/>
              </a:rPr>
              <a:t>Organizations with multiple capacities can direct Copilot consumption and billing to a specific capacity, no matter where the usage takes place.</a:t>
            </a:r>
          </a:p>
        </p:txBody>
      </p:sp>
      <p:sp>
        <p:nvSpPr>
          <p:cNvPr id="18" name="TextBox 17">
            <a:extLst>
              <a:ext uri="{FF2B5EF4-FFF2-40B4-BE49-F238E27FC236}">
                <a16:creationId xmlns:a16="http://schemas.microsoft.com/office/drawing/2014/main" id="{7301E0ED-C60F-944D-0BCF-755E5FE4DE09}"/>
              </a:ext>
            </a:extLst>
          </p:cNvPr>
          <p:cNvSpPr txBox="1">
            <a:spLocks/>
          </p:cNvSpPr>
          <p:nvPr/>
        </p:nvSpPr>
        <p:spPr>
          <a:xfrm>
            <a:off x="6653040" y="5098520"/>
            <a:ext cx="4480560" cy="738664"/>
          </a:xfrm>
          <a:prstGeom prst="rect">
            <a:avLst/>
          </a:prstGeom>
          <a:noFill/>
        </p:spPr>
        <p:txBody>
          <a:bodyPr wrap="square" lIns="0" tIns="0" rIns="0" bIns="0" anchor="ctr">
            <a:spAutoFit/>
          </a:bodyPr>
          <a:lstStyle/>
          <a:p>
            <a:pPr marL="0" marR="0" lvl="0" indent="0" algn="ctr" defTabSz="932742"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000000"/>
                </a:solidFill>
                <a:effectLst/>
                <a:uLnTx/>
                <a:uFillTx/>
                <a:latin typeface="Segoe Sans Text"/>
                <a:ea typeface="+mn-ea"/>
                <a:cs typeface="+mn-cs"/>
              </a:rPr>
              <a:t>Admins can assign specific users to a specific capacity for all their Copilot requests, ensuring their requests don’t impact priority jobs.</a:t>
            </a:r>
          </a:p>
        </p:txBody>
      </p:sp>
    </p:spTree>
    <p:extLst>
      <p:ext uri="{BB962C8B-B14F-4D97-AF65-F5344CB8AC3E}">
        <p14:creationId xmlns:p14="http://schemas.microsoft.com/office/powerpoint/2010/main" val="5804527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47" name="Rectangle 1046">
            <a:extLst>
              <a:ext uri="{FF2B5EF4-FFF2-40B4-BE49-F238E27FC236}">
                <a16:creationId xmlns:a16="http://schemas.microsoft.com/office/drawing/2014/main" id="{DBC6133C-0615-4CE4-9132-37E609A9BD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63766264-8A12-42A6-AB93-276F4C2CFB71}"/>
              </a:ext>
            </a:extLst>
          </p:cNvPr>
          <p:cNvSpPr txBox="1"/>
          <p:nvPr/>
        </p:nvSpPr>
        <p:spPr>
          <a:xfrm>
            <a:off x="645064" y="525982"/>
            <a:ext cx="4282983" cy="1200361"/>
          </a:xfrm>
          <a:prstGeom prst="rect">
            <a:avLst/>
          </a:prstGeom>
        </p:spPr>
        <p:txBody>
          <a:bodyPr vert="horz" lIns="91440" tIns="45720" rIns="91440" bIns="45720" rtlCol="0" anchor="b">
            <a:normAutofit/>
          </a:bodyPr>
          <a:lstStyle/>
          <a:p>
            <a:pPr marL="0" indent="0">
              <a:lnSpc>
                <a:spcPct val="90000"/>
              </a:lnSpc>
              <a:spcBef>
                <a:spcPct val="0"/>
              </a:spcBef>
              <a:spcAft>
                <a:spcPts val="600"/>
              </a:spcAft>
            </a:pPr>
            <a:r>
              <a:rPr lang="en-US" sz="2500" b="1" kern="1200">
                <a:solidFill>
                  <a:schemeClr val="tx1"/>
                </a:solidFill>
                <a:effectLst/>
                <a:latin typeface="+mj-lt"/>
                <a:ea typeface="+mj-ea"/>
                <a:cs typeface="+mj-cs"/>
              </a:rPr>
              <a:t>Settings for Copilot Tenants</a:t>
            </a:r>
            <a:endParaRPr lang="en-US" sz="2500" kern="1200">
              <a:solidFill>
                <a:schemeClr val="tx1"/>
              </a:solidFill>
              <a:effectLst/>
              <a:latin typeface="+mj-lt"/>
              <a:ea typeface="+mj-ea"/>
              <a:cs typeface="+mj-cs"/>
            </a:endParaRPr>
          </a:p>
          <a:p>
            <a:pPr marL="0" indent="0">
              <a:lnSpc>
                <a:spcPct val="90000"/>
              </a:lnSpc>
              <a:spcBef>
                <a:spcPct val="0"/>
              </a:spcBef>
              <a:spcAft>
                <a:spcPts val="600"/>
              </a:spcAft>
            </a:pPr>
            <a:br>
              <a:rPr lang="en-US" sz="2500" kern="1200">
                <a:solidFill>
                  <a:schemeClr val="tx1"/>
                </a:solidFill>
                <a:effectLst/>
                <a:latin typeface="+mj-lt"/>
                <a:ea typeface="+mj-ea"/>
                <a:cs typeface="+mj-cs"/>
              </a:rPr>
            </a:br>
            <a:endParaRPr lang="en-US" sz="2500" kern="1200">
              <a:solidFill>
                <a:schemeClr val="tx1"/>
              </a:solidFill>
              <a:latin typeface="+mj-lt"/>
              <a:ea typeface="+mj-ea"/>
              <a:cs typeface="+mj-cs"/>
            </a:endParaRPr>
          </a:p>
        </p:txBody>
      </p:sp>
      <p:sp>
        <p:nvSpPr>
          <p:cNvPr id="1049" name="Rectangle 1048">
            <a:extLst>
              <a:ext uri="{FF2B5EF4-FFF2-40B4-BE49-F238E27FC236}">
                <a16:creationId xmlns:a16="http://schemas.microsoft.com/office/drawing/2014/main" id="{169CC832-2974-4E8D-90ED-3E2941BA73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16533" y="1944913"/>
            <a:ext cx="402336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F9A8F019-441C-EAA3-36F0-4C4A36AB55AF}"/>
              </a:ext>
            </a:extLst>
          </p:cNvPr>
          <p:cNvSpPr txBox="1"/>
          <p:nvPr/>
        </p:nvSpPr>
        <p:spPr>
          <a:xfrm>
            <a:off x="645066" y="2031101"/>
            <a:ext cx="4282984" cy="3511943"/>
          </a:xfrm>
          <a:prstGeom prst="rect">
            <a:avLst/>
          </a:prstGeom>
        </p:spPr>
        <p:txBody>
          <a:bodyPr vert="horz" lIns="91440" tIns="45720" rIns="91440" bIns="45720" rtlCol="0" anchor="ctr">
            <a:normAutofit/>
          </a:bodyPr>
          <a:lstStyle/>
          <a:p>
            <a:pPr indent="-228600">
              <a:lnSpc>
                <a:spcPct val="90000"/>
              </a:lnSpc>
              <a:spcAft>
                <a:spcPts val="600"/>
              </a:spcAft>
              <a:buFont typeface="Arial" panose="020B0604020202020204" pitchFamily="34" charset="0"/>
              <a:buChar char="•"/>
            </a:pPr>
            <a:r>
              <a:rPr lang="en-US" b="0" i="0">
                <a:effectLst/>
              </a:rPr>
              <a:t>Fabric Copilot settings are controlled by the </a:t>
            </a:r>
            <a:r>
              <a:rPr lang="en-US" b="1" i="0">
                <a:effectLst/>
              </a:rPr>
              <a:t>Copilot and Azure OpenAI Service</a:t>
            </a:r>
            <a:r>
              <a:rPr lang="en-US" b="0" i="0">
                <a:effectLst/>
              </a:rPr>
              <a:t> tenant settings group.​ There are multiple settings governing user access and data processing policies, and some of them are enabled by default whereas others require the Fabric administrator to enable them.</a:t>
            </a:r>
          </a:p>
          <a:p>
            <a:pPr indent="-228600">
              <a:lnSpc>
                <a:spcPct val="90000"/>
              </a:lnSpc>
              <a:spcAft>
                <a:spcPts val="600"/>
              </a:spcAft>
              <a:buFont typeface="Arial" panose="020B0604020202020204" pitchFamily="34" charset="0"/>
              <a:buChar char="•"/>
            </a:pPr>
            <a:endParaRPr lang="en-US"/>
          </a:p>
        </p:txBody>
      </p:sp>
      <p:sp>
        <p:nvSpPr>
          <p:cNvPr id="1051" name="Rectangle 1050">
            <a:extLst>
              <a:ext uri="{FF2B5EF4-FFF2-40B4-BE49-F238E27FC236}">
                <a16:creationId xmlns:a16="http://schemas.microsoft.com/office/drawing/2014/main" id="{55222F96-971A-4F90-B841-6BAB416C7A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25843" y="6053360"/>
            <a:ext cx="740664" cy="154124"/>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3" name="Rectangle 1052">
            <a:extLst>
              <a:ext uri="{FF2B5EF4-FFF2-40B4-BE49-F238E27FC236}">
                <a16:creationId xmlns:a16="http://schemas.microsoft.com/office/drawing/2014/main" id="{08980754-6F4B-43C9-B9BE-127B6BED65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904923" y="215201"/>
            <a:ext cx="740664" cy="1183349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5" name="Rectangle 1054">
            <a:extLst>
              <a:ext uri="{FF2B5EF4-FFF2-40B4-BE49-F238E27FC236}">
                <a16:creationId xmlns:a16="http://schemas.microsoft.com/office/drawing/2014/main" id="{2C1BBA94-3F40-40AA-8BB9-E69E25E537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96793" y="354959"/>
            <a:ext cx="6184973" cy="591521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Screenshot showing the tenant setting where copilot can be enabled and disabled.">
            <a:extLst>
              <a:ext uri="{FF2B5EF4-FFF2-40B4-BE49-F238E27FC236}">
                <a16:creationId xmlns:a16="http://schemas.microsoft.com/office/drawing/2014/main" id="{87C61544-6A84-D6E9-661C-1614DBCD572C}"/>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5987738" y="681467"/>
            <a:ext cx="5628018" cy="526219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532740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1C2300D-6C7F-4973-95DD-75372833E4ED}"/>
            </a:ext>
          </a:extLst>
        </p:cNvPr>
        <p:cNvGrpSpPr/>
        <p:nvPr/>
      </p:nvGrpSpPr>
      <p:grpSpPr>
        <a:xfrm>
          <a:off x="0" y="0"/>
          <a:ext cx="0" cy="0"/>
          <a:chOff x="0" y="0"/>
          <a:chExt cx="0" cy="0"/>
        </a:xfrm>
      </p:grpSpPr>
      <p:sp useBgFill="1">
        <p:nvSpPr>
          <p:cNvPr id="2068" name="Rectangle 2067">
            <a:extLst>
              <a:ext uri="{FF2B5EF4-FFF2-40B4-BE49-F238E27FC236}">
                <a16:creationId xmlns:a16="http://schemas.microsoft.com/office/drawing/2014/main" id="{AAAE94E3-A7DB-4868-B1E3-E49703488B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12E6AD7E-395D-D5A2-2747-93DFD4FB99B9}"/>
              </a:ext>
            </a:extLst>
          </p:cNvPr>
          <p:cNvSpPr txBox="1"/>
          <p:nvPr/>
        </p:nvSpPr>
        <p:spPr>
          <a:xfrm>
            <a:off x="589560" y="856180"/>
            <a:ext cx="5279408" cy="1128068"/>
          </a:xfrm>
          <a:prstGeom prst="rect">
            <a:avLst/>
          </a:prstGeom>
        </p:spPr>
        <p:txBody>
          <a:bodyPr vert="horz" lIns="91440" tIns="45720" rIns="91440" bIns="45720" rtlCol="0" anchor="ctr">
            <a:normAutofit/>
          </a:bodyPr>
          <a:lstStyle/>
          <a:p>
            <a:pPr marL="0" indent="0">
              <a:lnSpc>
                <a:spcPct val="90000"/>
              </a:lnSpc>
              <a:spcBef>
                <a:spcPct val="0"/>
              </a:spcBef>
              <a:spcAft>
                <a:spcPts val="600"/>
              </a:spcAft>
            </a:pPr>
            <a:r>
              <a:rPr lang="en-US" sz="2200" b="1">
                <a:effectLst/>
                <a:latin typeface="+mj-lt"/>
                <a:ea typeface="+mj-ea"/>
                <a:cs typeface="+mj-cs"/>
              </a:rPr>
              <a:t>Settings for Copilot Tenants</a:t>
            </a:r>
            <a:endParaRPr lang="en-US" sz="2200">
              <a:effectLst/>
              <a:latin typeface="+mj-lt"/>
              <a:ea typeface="+mj-ea"/>
              <a:cs typeface="+mj-cs"/>
            </a:endParaRPr>
          </a:p>
          <a:p>
            <a:pPr marL="0" indent="0">
              <a:lnSpc>
                <a:spcPct val="90000"/>
              </a:lnSpc>
              <a:spcBef>
                <a:spcPct val="0"/>
              </a:spcBef>
              <a:spcAft>
                <a:spcPts val="600"/>
              </a:spcAft>
            </a:pPr>
            <a:br>
              <a:rPr lang="en-US" sz="2200">
                <a:effectLst/>
                <a:latin typeface="+mj-lt"/>
                <a:ea typeface="+mj-ea"/>
                <a:cs typeface="+mj-cs"/>
              </a:rPr>
            </a:br>
            <a:endParaRPr lang="en-US" sz="2200">
              <a:latin typeface="+mj-lt"/>
              <a:ea typeface="+mj-ea"/>
              <a:cs typeface="+mj-cs"/>
            </a:endParaRPr>
          </a:p>
        </p:txBody>
      </p:sp>
      <p:grpSp>
        <p:nvGrpSpPr>
          <p:cNvPr id="2070" name="Group 2069">
            <a:extLst>
              <a:ext uri="{FF2B5EF4-FFF2-40B4-BE49-F238E27FC236}">
                <a16:creationId xmlns:a16="http://schemas.microsoft.com/office/drawing/2014/main" id="{1DE889C7-FAD6-4397-98E2-05D50348445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083484"/>
            <a:ext cx="355196" cy="673460"/>
            <a:chOff x="0" y="823811"/>
            <a:chExt cx="355196" cy="673460"/>
          </a:xfrm>
        </p:grpSpPr>
        <p:sp>
          <p:nvSpPr>
            <p:cNvPr id="2071" name="Rectangle 2070">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23811"/>
              <a:ext cx="87363"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72" name="Rectangle 2071">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9341" y="823811"/>
              <a:ext cx="195855"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074" name="Rectangle 2073">
            <a:extLst>
              <a:ext uri="{FF2B5EF4-FFF2-40B4-BE49-F238E27FC236}">
                <a16:creationId xmlns:a16="http://schemas.microsoft.com/office/drawing/2014/main" id="{3873B707-463F-40B0-8227-E8CC6C67EB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65085" y="2123821"/>
            <a:ext cx="4975066"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AB5D0DAB-8F14-81F7-2AC3-867A39AFF522}"/>
              </a:ext>
            </a:extLst>
          </p:cNvPr>
          <p:cNvSpPr txBox="1"/>
          <p:nvPr/>
        </p:nvSpPr>
        <p:spPr>
          <a:xfrm>
            <a:off x="590719" y="2330505"/>
            <a:ext cx="5278066" cy="3979585"/>
          </a:xfrm>
          <a:prstGeom prst="rect">
            <a:avLst/>
          </a:prstGeom>
        </p:spPr>
        <p:txBody>
          <a:bodyPr vert="horz" lIns="91440" tIns="45720" rIns="91440" bIns="45720" rtlCol="0" anchor="ctr">
            <a:normAutofit/>
          </a:bodyPr>
          <a:lstStyle/>
          <a:p>
            <a:pPr indent="-228600">
              <a:lnSpc>
                <a:spcPct val="90000"/>
              </a:lnSpc>
              <a:spcAft>
                <a:spcPts val="600"/>
              </a:spcAft>
              <a:buFont typeface="Arial" panose="020B0604020202020204" pitchFamily="34" charset="0"/>
              <a:buChar char="•"/>
            </a:pPr>
            <a:r>
              <a:rPr lang="en-US" sz="2000" dirty="0"/>
              <a:t>This setting is only applicable for customers who want to use Copilot and AI features in Fabric powered by Azure OpenAI, and whose capacity's geographic region is outside of the EU data boundary and the US. When this setting is enabled, service background jobs may execute across geographic boundaries at no charge to the tenant capacity to support end user experiences.</a:t>
            </a:r>
          </a:p>
          <a:p>
            <a:pPr>
              <a:lnSpc>
                <a:spcPct val="90000"/>
              </a:lnSpc>
              <a:spcAft>
                <a:spcPts val="600"/>
              </a:spcAft>
            </a:pPr>
            <a:br>
              <a:rPr lang="en-US" sz="2000" dirty="0"/>
            </a:br>
            <a:r>
              <a:rPr lang="en-US" sz="2000" b="1" dirty="0"/>
              <a:t>Default:</a:t>
            </a:r>
            <a:r>
              <a:rPr lang="en-US" sz="2000" dirty="0"/>
              <a:t> Disabled</a:t>
            </a:r>
          </a:p>
          <a:p>
            <a:pPr>
              <a:lnSpc>
                <a:spcPct val="90000"/>
              </a:lnSpc>
              <a:spcAft>
                <a:spcPts val="600"/>
              </a:spcAft>
            </a:pPr>
            <a:br>
              <a:rPr lang="en-US" sz="2000" dirty="0"/>
            </a:br>
            <a:endParaRPr lang="en-US" sz="2000" dirty="0"/>
          </a:p>
        </p:txBody>
      </p:sp>
      <p:sp>
        <p:nvSpPr>
          <p:cNvPr id="2076" name="Rectangle 2075">
            <a:extLst>
              <a:ext uri="{FF2B5EF4-FFF2-40B4-BE49-F238E27FC236}">
                <a16:creationId xmlns:a16="http://schemas.microsoft.com/office/drawing/2014/main" id="{C13237C8-E62C-4F0D-A318-BD6FB6C2D1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78" name="Rectangle 2077">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49687" y="357447"/>
            <a:ext cx="4845488" cy="292358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2" name="Picture 4" descr="Screenshot of Fabric Copilot Storage setting in the admin portal.">
            <a:extLst>
              <a:ext uri="{FF2B5EF4-FFF2-40B4-BE49-F238E27FC236}">
                <a16:creationId xmlns:a16="http://schemas.microsoft.com/office/drawing/2014/main" id="{2E95A9FD-EE51-AAAB-F184-82538307CDC5}"/>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7526909" y="581892"/>
            <a:ext cx="3510460" cy="2518756"/>
          </a:xfrm>
          <a:prstGeom prst="rect">
            <a:avLst/>
          </a:prstGeom>
          <a:noFill/>
          <a:extLst>
            <a:ext uri="{909E8E84-426E-40DD-AFC4-6F175D3DCCD1}">
              <a14:hiddenFill xmlns:a14="http://schemas.microsoft.com/office/drawing/2010/main">
                <a:solidFill>
                  <a:srgbClr val="FFFFFF"/>
                </a:solidFill>
              </a14:hiddenFill>
            </a:ext>
          </a:extLst>
        </p:spPr>
      </p:pic>
      <p:sp>
        <p:nvSpPr>
          <p:cNvPr id="2080" name="Rectangle 2079">
            <a:extLst>
              <a:ext uri="{FF2B5EF4-FFF2-40B4-BE49-F238E27FC236}">
                <a16:creationId xmlns:a16="http://schemas.microsoft.com/office/drawing/2014/main" id="{8CB5D2D7-DF65-4E86-BFBA-FFB9B5ACEB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49687" y="3505479"/>
            <a:ext cx="4845488" cy="292358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0" name="Picture 2" descr="Screenshot showing the tenant setting for data processing outside the capacity's region.">
            <a:extLst>
              <a:ext uri="{FF2B5EF4-FFF2-40B4-BE49-F238E27FC236}">
                <a16:creationId xmlns:a16="http://schemas.microsoft.com/office/drawing/2014/main" id="{7449B633-C008-D65F-76B4-E274F0C1476E}"/>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7561920" y="3707894"/>
            <a:ext cx="3438574" cy="25187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98640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F9A53F3-7FD6-1B2B-543F-36CC19A221D6}"/>
            </a:ext>
          </a:extLst>
        </p:cNvPr>
        <p:cNvGrpSpPr/>
        <p:nvPr/>
      </p:nvGrpSpPr>
      <p:grpSpPr>
        <a:xfrm>
          <a:off x="0" y="0"/>
          <a:ext cx="0" cy="0"/>
          <a:chOff x="0" y="0"/>
          <a:chExt cx="0" cy="0"/>
        </a:xfrm>
      </p:grpSpPr>
      <p:sp useBgFill="1">
        <p:nvSpPr>
          <p:cNvPr id="3079" name="Rectangle 3078">
            <a:extLst>
              <a:ext uri="{FF2B5EF4-FFF2-40B4-BE49-F238E27FC236}">
                <a16:creationId xmlns:a16="http://schemas.microsoft.com/office/drawing/2014/main" id="{DBC6133C-0615-4CE4-9132-37E609A9BD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12C8C21C-C276-D5FB-C67E-F86E6A7E7790}"/>
              </a:ext>
            </a:extLst>
          </p:cNvPr>
          <p:cNvSpPr txBox="1"/>
          <p:nvPr/>
        </p:nvSpPr>
        <p:spPr>
          <a:xfrm>
            <a:off x="645064" y="525982"/>
            <a:ext cx="4282983" cy="1200361"/>
          </a:xfrm>
          <a:prstGeom prst="rect">
            <a:avLst/>
          </a:prstGeom>
        </p:spPr>
        <p:txBody>
          <a:bodyPr vert="horz" lIns="91440" tIns="45720" rIns="91440" bIns="45720" rtlCol="0" anchor="b">
            <a:normAutofit/>
          </a:bodyPr>
          <a:lstStyle/>
          <a:p>
            <a:pPr marL="0" indent="0">
              <a:lnSpc>
                <a:spcPct val="90000"/>
              </a:lnSpc>
              <a:spcBef>
                <a:spcPct val="0"/>
              </a:spcBef>
              <a:spcAft>
                <a:spcPts val="600"/>
              </a:spcAft>
            </a:pPr>
            <a:r>
              <a:rPr lang="en-US" sz="2500" b="1" kern="1200">
                <a:solidFill>
                  <a:schemeClr val="tx1"/>
                </a:solidFill>
                <a:effectLst/>
                <a:latin typeface="+mj-lt"/>
                <a:ea typeface="+mj-ea"/>
                <a:cs typeface="+mj-cs"/>
              </a:rPr>
              <a:t>Settings for Copilot Tenants</a:t>
            </a:r>
            <a:endParaRPr lang="en-US" sz="2500" kern="1200">
              <a:solidFill>
                <a:schemeClr val="tx1"/>
              </a:solidFill>
              <a:effectLst/>
              <a:latin typeface="+mj-lt"/>
              <a:ea typeface="+mj-ea"/>
              <a:cs typeface="+mj-cs"/>
            </a:endParaRPr>
          </a:p>
          <a:p>
            <a:pPr marL="0" indent="0">
              <a:lnSpc>
                <a:spcPct val="90000"/>
              </a:lnSpc>
              <a:spcBef>
                <a:spcPct val="0"/>
              </a:spcBef>
              <a:spcAft>
                <a:spcPts val="600"/>
              </a:spcAft>
            </a:pPr>
            <a:br>
              <a:rPr lang="en-US" sz="2500" kern="1200">
                <a:solidFill>
                  <a:schemeClr val="tx1"/>
                </a:solidFill>
                <a:effectLst/>
                <a:latin typeface="+mj-lt"/>
                <a:ea typeface="+mj-ea"/>
                <a:cs typeface="+mj-cs"/>
              </a:rPr>
            </a:br>
            <a:endParaRPr lang="en-US" sz="2500" kern="1200">
              <a:solidFill>
                <a:schemeClr val="tx1"/>
              </a:solidFill>
              <a:latin typeface="+mj-lt"/>
              <a:ea typeface="+mj-ea"/>
              <a:cs typeface="+mj-cs"/>
            </a:endParaRPr>
          </a:p>
        </p:txBody>
      </p:sp>
      <p:sp>
        <p:nvSpPr>
          <p:cNvPr id="3081" name="Rectangle 3080">
            <a:extLst>
              <a:ext uri="{FF2B5EF4-FFF2-40B4-BE49-F238E27FC236}">
                <a16:creationId xmlns:a16="http://schemas.microsoft.com/office/drawing/2014/main" id="{169CC832-2974-4E8D-90ED-3E2941BA73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16533" y="1944913"/>
            <a:ext cx="402336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54DE148A-D7D5-D894-F29C-4A8E492EDC37}"/>
              </a:ext>
            </a:extLst>
          </p:cNvPr>
          <p:cNvSpPr txBox="1"/>
          <p:nvPr/>
        </p:nvSpPr>
        <p:spPr>
          <a:xfrm>
            <a:off x="645066" y="2031101"/>
            <a:ext cx="4282984" cy="3511943"/>
          </a:xfrm>
          <a:prstGeom prst="rect">
            <a:avLst/>
          </a:prstGeom>
        </p:spPr>
        <p:txBody>
          <a:bodyPr vert="horz" lIns="91440" tIns="45720" rIns="91440" bIns="45720" rtlCol="0" anchor="ctr">
            <a:normAutofit/>
          </a:bodyPr>
          <a:lstStyle/>
          <a:p>
            <a:pPr indent="-228600">
              <a:lnSpc>
                <a:spcPct val="90000"/>
              </a:lnSpc>
              <a:spcAft>
                <a:spcPts val="600"/>
              </a:spcAft>
              <a:buFont typeface="Arial" panose="020B0604020202020204" pitchFamily="34" charset="0"/>
              <a:buChar char="•"/>
            </a:pPr>
            <a:r>
              <a:rPr lang="en-US" dirty="0"/>
              <a:t>Copilot capacities enable users' usage and billing to be consolidated under a single capacity. Fabric administrators can assign specific groups or the entire organization to manage capacities as Fabric Copilot capacities. Capacity administrators must designate user access to each Copilot capacity and can view item names linked to users' Copilot activity in the Fabric capacity metrics app.</a:t>
            </a:r>
            <a:endParaRPr lang="en-US"/>
          </a:p>
        </p:txBody>
      </p:sp>
      <p:sp>
        <p:nvSpPr>
          <p:cNvPr id="3083" name="Rectangle 3082">
            <a:extLst>
              <a:ext uri="{FF2B5EF4-FFF2-40B4-BE49-F238E27FC236}">
                <a16:creationId xmlns:a16="http://schemas.microsoft.com/office/drawing/2014/main" id="{55222F96-971A-4F90-B841-6BAB416C7A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25843" y="6053360"/>
            <a:ext cx="740664" cy="154124"/>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85" name="Rectangle 3084">
            <a:extLst>
              <a:ext uri="{FF2B5EF4-FFF2-40B4-BE49-F238E27FC236}">
                <a16:creationId xmlns:a16="http://schemas.microsoft.com/office/drawing/2014/main" id="{08980754-6F4B-43C9-B9BE-127B6BED65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904923" y="215201"/>
            <a:ext cx="740664" cy="1183349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87" name="Rectangle 3086">
            <a:extLst>
              <a:ext uri="{FF2B5EF4-FFF2-40B4-BE49-F238E27FC236}">
                <a16:creationId xmlns:a16="http://schemas.microsoft.com/office/drawing/2014/main" id="{2C1BBA94-3F40-40AA-8BB9-E69E25E537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96793" y="354959"/>
            <a:ext cx="6184973" cy="591521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074" name="Picture 2" descr="Screenshot showing the tenant setting for data storage outside the capacity's region.">
            <a:extLst>
              <a:ext uri="{FF2B5EF4-FFF2-40B4-BE49-F238E27FC236}">
                <a16:creationId xmlns:a16="http://schemas.microsoft.com/office/drawing/2014/main" id="{DAAC8659-DA27-E57C-D350-193B6F9AD20E}"/>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5987738" y="1884455"/>
            <a:ext cx="5628018" cy="285621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514209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730EAA-A449-CA34-87BF-B1B1ED28E27E}"/>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291CF3DB-C252-AEEC-F702-42F548840179}"/>
              </a:ext>
            </a:extLst>
          </p:cNvPr>
          <p:cNvSpPr txBox="1"/>
          <p:nvPr/>
        </p:nvSpPr>
        <p:spPr>
          <a:xfrm>
            <a:off x="576244" y="254520"/>
            <a:ext cx="9539306" cy="2702993"/>
          </a:xfrm>
          <a:prstGeom prst="rect">
            <a:avLst/>
          </a:prstGeom>
        </p:spPr>
        <p:txBody>
          <a:bodyPr vert="horz" lIns="91440" tIns="45720" rIns="91440" bIns="45720" rtlCol="0" anchor="b">
            <a:noAutofit/>
          </a:bodyPr>
          <a:lstStyle/>
          <a:p>
            <a:r>
              <a:rPr lang="en-US" sz="3600" b="1"/>
              <a:t>Users can access a standalone, cross-item Power BI Copilot experience (preview)</a:t>
            </a:r>
          </a:p>
          <a:p>
            <a:br>
              <a:rPr lang="en-US" sz="3600"/>
            </a:br>
            <a:br>
              <a:rPr lang="en-US" sz="3600" kern="1200">
                <a:solidFill>
                  <a:schemeClr val="tx1"/>
                </a:solidFill>
                <a:effectLst/>
                <a:latin typeface="+mj-lt"/>
                <a:ea typeface="+mj-ea"/>
                <a:cs typeface="+mj-cs"/>
              </a:rPr>
            </a:br>
            <a:endParaRPr lang="en-US" sz="3600" kern="1200" dirty="0">
              <a:solidFill>
                <a:schemeClr val="tx1"/>
              </a:solidFill>
              <a:latin typeface="+mj-lt"/>
              <a:ea typeface="+mj-ea"/>
              <a:cs typeface="+mj-cs"/>
            </a:endParaRPr>
          </a:p>
        </p:txBody>
      </p:sp>
      <p:sp>
        <p:nvSpPr>
          <p:cNvPr id="5" name="TextBox 4">
            <a:extLst>
              <a:ext uri="{FF2B5EF4-FFF2-40B4-BE49-F238E27FC236}">
                <a16:creationId xmlns:a16="http://schemas.microsoft.com/office/drawing/2014/main" id="{53B7E941-AACA-F067-900E-078553AA8B68}"/>
              </a:ext>
            </a:extLst>
          </p:cNvPr>
          <p:cNvSpPr txBox="1"/>
          <p:nvPr/>
        </p:nvSpPr>
        <p:spPr>
          <a:xfrm>
            <a:off x="645066" y="2031101"/>
            <a:ext cx="4282984" cy="3511943"/>
          </a:xfrm>
          <a:prstGeom prst="rect">
            <a:avLst/>
          </a:prstGeom>
        </p:spPr>
        <p:txBody>
          <a:bodyPr vert="horz" lIns="91440" tIns="45720" rIns="91440" bIns="45720" rtlCol="0" anchor="ctr">
            <a:normAutofit/>
          </a:bodyPr>
          <a:lstStyle/>
          <a:p>
            <a:pPr indent="-228600">
              <a:lnSpc>
                <a:spcPct val="90000"/>
              </a:lnSpc>
              <a:spcAft>
                <a:spcPts val="600"/>
              </a:spcAft>
              <a:buFont typeface="Arial" panose="020B0604020202020204" pitchFamily="34" charset="0"/>
              <a:buChar char="•"/>
            </a:pPr>
            <a:r>
              <a:rPr lang="en-US" dirty="0"/>
              <a:t>You can enable copilot as a standalone experience for Fabric. Enabling this setting allows users to access the standalone Copilot experience from the left navigation. </a:t>
            </a:r>
          </a:p>
          <a:p>
            <a:pPr indent="-228600">
              <a:lnSpc>
                <a:spcPct val="90000"/>
              </a:lnSpc>
              <a:spcAft>
                <a:spcPts val="600"/>
              </a:spcAft>
              <a:buFont typeface="Arial" panose="020B0604020202020204" pitchFamily="34" charset="0"/>
              <a:buChar char="•"/>
            </a:pPr>
            <a:r>
              <a:rPr lang="en-US" dirty="0"/>
              <a:t>This setting also affects the Power BI agent. Turn on this setting to enable the Power BI agent in Microsoft 365.</a:t>
            </a:r>
          </a:p>
        </p:txBody>
      </p:sp>
      <p:pic>
        <p:nvPicPr>
          <p:cNvPr id="4098" name="Picture 2" descr="Screenshot showing the tenant setting for standalone Copilot.">
            <a:extLst>
              <a:ext uri="{FF2B5EF4-FFF2-40B4-BE49-F238E27FC236}">
                <a16:creationId xmlns:a16="http://schemas.microsoft.com/office/drawing/2014/main" id="{BFABBD91-487E-F177-452D-7C3C48AF4B4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43651" y="1346027"/>
            <a:ext cx="5614988" cy="551197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717324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4" name="Rectangle 33">
            <a:extLst>
              <a:ext uri="{FF2B5EF4-FFF2-40B4-BE49-F238E27FC236}">
                <a16:creationId xmlns:a16="http://schemas.microsoft.com/office/drawing/2014/main" id="{BCED4D40-4B67-4331-AC48-79B82B4A47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7">
            <a:extLst>
              <a:ext uri="{FF2B5EF4-FFF2-40B4-BE49-F238E27FC236}">
                <a16:creationId xmlns:a16="http://schemas.microsoft.com/office/drawing/2014/main" id="{4B852C05-9C24-B7A5-E999-E3F11F2B6040}"/>
              </a:ext>
            </a:extLst>
          </p:cNvPr>
          <p:cNvSpPr txBox="1">
            <a:spLocks/>
          </p:cNvSpPr>
          <p:nvPr/>
        </p:nvSpPr>
        <p:spPr>
          <a:xfrm>
            <a:off x="638881" y="417576"/>
            <a:ext cx="10909640" cy="124939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Aft>
                <a:spcPts val="600"/>
              </a:spcAft>
            </a:pPr>
            <a:r>
              <a:rPr lang="en-US" sz="4000" dirty="0"/>
              <a:t>Enable Fabric Copilot for Power BI</a:t>
            </a:r>
            <a:endParaRPr lang="en-US" sz="4100" kern="1200" dirty="0">
              <a:solidFill>
                <a:schemeClr val="tx1"/>
              </a:solidFill>
              <a:latin typeface="+mj-lt"/>
              <a:ea typeface="+mj-ea"/>
              <a:cs typeface="+mj-cs"/>
            </a:endParaRPr>
          </a:p>
        </p:txBody>
      </p:sp>
      <p:sp>
        <p:nvSpPr>
          <p:cNvPr id="35" name="sketch line">
            <a:extLst>
              <a:ext uri="{FF2B5EF4-FFF2-40B4-BE49-F238E27FC236}">
                <a16:creationId xmlns:a16="http://schemas.microsoft.com/office/drawing/2014/main" id="{670CEDEF-4F34-412E-84EE-329C1E936A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07702" y="1733454"/>
            <a:ext cx="4572000" cy="18288"/>
          </a:xfrm>
          <a:custGeom>
            <a:avLst/>
            <a:gdLst>
              <a:gd name="connsiteX0" fmla="*/ 0 w 4572000"/>
              <a:gd name="connsiteY0" fmla="*/ 0 h 18288"/>
              <a:gd name="connsiteX1" fmla="*/ 515983 w 4572000"/>
              <a:gd name="connsiteY1" fmla="*/ 0 h 18288"/>
              <a:gd name="connsiteX2" fmla="*/ 1031966 w 4572000"/>
              <a:gd name="connsiteY2" fmla="*/ 0 h 18288"/>
              <a:gd name="connsiteX3" fmla="*/ 1639389 w 4572000"/>
              <a:gd name="connsiteY3" fmla="*/ 0 h 18288"/>
              <a:gd name="connsiteX4" fmla="*/ 2383971 w 4572000"/>
              <a:gd name="connsiteY4" fmla="*/ 0 h 18288"/>
              <a:gd name="connsiteX5" fmla="*/ 2945674 w 4572000"/>
              <a:gd name="connsiteY5" fmla="*/ 0 h 18288"/>
              <a:gd name="connsiteX6" fmla="*/ 3507377 w 4572000"/>
              <a:gd name="connsiteY6" fmla="*/ 0 h 18288"/>
              <a:gd name="connsiteX7" fmla="*/ 4572000 w 4572000"/>
              <a:gd name="connsiteY7" fmla="*/ 0 h 18288"/>
              <a:gd name="connsiteX8" fmla="*/ 4572000 w 4572000"/>
              <a:gd name="connsiteY8" fmla="*/ 18288 h 18288"/>
              <a:gd name="connsiteX9" fmla="*/ 3873137 w 4572000"/>
              <a:gd name="connsiteY9" fmla="*/ 18288 h 18288"/>
              <a:gd name="connsiteX10" fmla="*/ 3311434 w 4572000"/>
              <a:gd name="connsiteY10" fmla="*/ 18288 h 18288"/>
              <a:gd name="connsiteX11" fmla="*/ 2749731 w 4572000"/>
              <a:gd name="connsiteY11" fmla="*/ 18288 h 18288"/>
              <a:gd name="connsiteX12" fmla="*/ 2050869 w 4572000"/>
              <a:gd name="connsiteY12" fmla="*/ 18288 h 18288"/>
              <a:gd name="connsiteX13" fmla="*/ 1306286 w 4572000"/>
              <a:gd name="connsiteY13" fmla="*/ 18288 h 18288"/>
              <a:gd name="connsiteX14" fmla="*/ 790303 w 4572000"/>
              <a:gd name="connsiteY14" fmla="*/ 18288 h 18288"/>
              <a:gd name="connsiteX15" fmla="*/ 0 w 4572000"/>
              <a:gd name="connsiteY15" fmla="*/ 18288 h 18288"/>
              <a:gd name="connsiteX16" fmla="*/ 0 w 4572000"/>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572000" h="18288" fill="none" extrusionOk="0">
                <a:moveTo>
                  <a:pt x="0" y="0"/>
                </a:moveTo>
                <a:cubicBezTo>
                  <a:pt x="105156" y="-20963"/>
                  <a:pt x="340432" y="822"/>
                  <a:pt x="515983" y="0"/>
                </a:cubicBezTo>
                <a:cubicBezTo>
                  <a:pt x="691534" y="-822"/>
                  <a:pt x="850679" y="16479"/>
                  <a:pt x="1031966" y="0"/>
                </a:cubicBezTo>
                <a:cubicBezTo>
                  <a:pt x="1213253" y="-16479"/>
                  <a:pt x="1443646" y="-18730"/>
                  <a:pt x="1639389" y="0"/>
                </a:cubicBezTo>
                <a:cubicBezTo>
                  <a:pt x="1835132" y="18730"/>
                  <a:pt x="2159975" y="18531"/>
                  <a:pt x="2383971" y="0"/>
                </a:cubicBezTo>
                <a:cubicBezTo>
                  <a:pt x="2607967" y="-18531"/>
                  <a:pt x="2719096" y="-12030"/>
                  <a:pt x="2945674" y="0"/>
                </a:cubicBezTo>
                <a:cubicBezTo>
                  <a:pt x="3172252" y="12030"/>
                  <a:pt x="3269167" y="27666"/>
                  <a:pt x="3507377" y="0"/>
                </a:cubicBezTo>
                <a:cubicBezTo>
                  <a:pt x="3745587" y="-27666"/>
                  <a:pt x="4116741" y="18705"/>
                  <a:pt x="4572000" y="0"/>
                </a:cubicBezTo>
                <a:cubicBezTo>
                  <a:pt x="4572895" y="8974"/>
                  <a:pt x="4571454" y="9359"/>
                  <a:pt x="4572000" y="18288"/>
                </a:cubicBezTo>
                <a:cubicBezTo>
                  <a:pt x="4374698" y="3942"/>
                  <a:pt x="4098874" y="-11042"/>
                  <a:pt x="3873137" y="18288"/>
                </a:cubicBezTo>
                <a:cubicBezTo>
                  <a:pt x="3647400" y="47618"/>
                  <a:pt x="3517055" y="5421"/>
                  <a:pt x="3311434" y="18288"/>
                </a:cubicBezTo>
                <a:cubicBezTo>
                  <a:pt x="3105813" y="31155"/>
                  <a:pt x="3025168" y="17856"/>
                  <a:pt x="2749731" y="18288"/>
                </a:cubicBezTo>
                <a:cubicBezTo>
                  <a:pt x="2474294" y="18720"/>
                  <a:pt x="2291766" y="-14168"/>
                  <a:pt x="2050869" y="18288"/>
                </a:cubicBezTo>
                <a:cubicBezTo>
                  <a:pt x="1809972" y="50744"/>
                  <a:pt x="1540276" y="46798"/>
                  <a:pt x="1306286" y="18288"/>
                </a:cubicBezTo>
                <a:cubicBezTo>
                  <a:pt x="1072296" y="-10222"/>
                  <a:pt x="972445" y="19645"/>
                  <a:pt x="790303" y="18288"/>
                </a:cubicBezTo>
                <a:cubicBezTo>
                  <a:pt x="608161" y="16931"/>
                  <a:pt x="200981" y="8241"/>
                  <a:pt x="0" y="18288"/>
                </a:cubicBezTo>
                <a:cubicBezTo>
                  <a:pt x="-229" y="14222"/>
                  <a:pt x="509" y="5816"/>
                  <a:pt x="0" y="0"/>
                </a:cubicBezTo>
                <a:close/>
              </a:path>
              <a:path w="4572000" h="18288" stroke="0" extrusionOk="0">
                <a:moveTo>
                  <a:pt x="0" y="0"/>
                </a:moveTo>
                <a:cubicBezTo>
                  <a:pt x="143285" y="-9565"/>
                  <a:pt x="327959" y="-11498"/>
                  <a:pt x="561703" y="0"/>
                </a:cubicBezTo>
                <a:cubicBezTo>
                  <a:pt x="795447" y="11498"/>
                  <a:pt x="838260" y="18255"/>
                  <a:pt x="1077686" y="0"/>
                </a:cubicBezTo>
                <a:cubicBezTo>
                  <a:pt x="1317112" y="-18255"/>
                  <a:pt x="1437472" y="23514"/>
                  <a:pt x="1639389" y="0"/>
                </a:cubicBezTo>
                <a:cubicBezTo>
                  <a:pt x="1841306" y="-23514"/>
                  <a:pt x="2037142" y="-12551"/>
                  <a:pt x="2292531" y="0"/>
                </a:cubicBezTo>
                <a:cubicBezTo>
                  <a:pt x="2547920" y="12551"/>
                  <a:pt x="2810436" y="-20352"/>
                  <a:pt x="2991394" y="0"/>
                </a:cubicBezTo>
                <a:cubicBezTo>
                  <a:pt x="3172352" y="20352"/>
                  <a:pt x="3530025" y="-13347"/>
                  <a:pt x="3735977" y="0"/>
                </a:cubicBezTo>
                <a:cubicBezTo>
                  <a:pt x="3941929" y="13347"/>
                  <a:pt x="4161497" y="34086"/>
                  <a:pt x="4572000" y="0"/>
                </a:cubicBezTo>
                <a:cubicBezTo>
                  <a:pt x="4571545" y="6162"/>
                  <a:pt x="4571903" y="11775"/>
                  <a:pt x="4572000" y="18288"/>
                </a:cubicBezTo>
                <a:cubicBezTo>
                  <a:pt x="4228040" y="36490"/>
                  <a:pt x="4199736" y="42557"/>
                  <a:pt x="3873137" y="18288"/>
                </a:cubicBezTo>
                <a:cubicBezTo>
                  <a:pt x="3546538" y="-5981"/>
                  <a:pt x="3472124" y="16809"/>
                  <a:pt x="3128554" y="18288"/>
                </a:cubicBezTo>
                <a:cubicBezTo>
                  <a:pt x="2784984" y="19767"/>
                  <a:pt x="2735896" y="-17781"/>
                  <a:pt x="2383971" y="18288"/>
                </a:cubicBezTo>
                <a:cubicBezTo>
                  <a:pt x="2032046" y="54357"/>
                  <a:pt x="2019324" y="2920"/>
                  <a:pt x="1867989" y="18288"/>
                </a:cubicBezTo>
                <a:cubicBezTo>
                  <a:pt x="1716654" y="33656"/>
                  <a:pt x="1418675" y="32575"/>
                  <a:pt x="1169126" y="18288"/>
                </a:cubicBezTo>
                <a:cubicBezTo>
                  <a:pt x="919577" y="4001"/>
                  <a:pt x="798537" y="16165"/>
                  <a:pt x="561703" y="18288"/>
                </a:cubicBezTo>
                <a:cubicBezTo>
                  <a:pt x="324869" y="20411"/>
                  <a:pt x="221395" y="-912"/>
                  <a:pt x="0" y="18288"/>
                </a:cubicBezTo>
                <a:cubicBezTo>
                  <a:pt x="766" y="10800"/>
                  <a:pt x="-457" y="8180"/>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2" name="Table 1">
            <a:extLst>
              <a:ext uri="{FF2B5EF4-FFF2-40B4-BE49-F238E27FC236}">
                <a16:creationId xmlns:a16="http://schemas.microsoft.com/office/drawing/2014/main" id="{D8C444A9-67F9-805C-A46C-8DE0AD16BCD5}"/>
              </a:ext>
            </a:extLst>
          </p:cNvPr>
          <p:cNvGraphicFramePr>
            <a:graphicFrameLocks noGrp="1"/>
          </p:cNvGraphicFramePr>
          <p:nvPr>
            <p:extLst>
              <p:ext uri="{D42A27DB-BD31-4B8C-83A1-F6EECF244321}">
                <p14:modId xmlns:p14="http://schemas.microsoft.com/office/powerpoint/2010/main" val="616343384"/>
              </p:ext>
            </p:extLst>
          </p:nvPr>
        </p:nvGraphicFramePr>
        <p:xfrm>
          <a:off x="754609" y="2084546"/>
          <a:ext cx="10679734" cy="4135286"/>
        </p:xfrm>
        <a:graphic>
          <a:graphicData uri="http://schemas.openxmlformats.org/drawingml/2006/table">
            <a:tbl>
              <a:tblPr>
                <a:noFill/>
                <a:tableStyleId>{8EC20E35-A176-4012-BC5E-935CFFF8708E}</a:tableStyleId>
              </a:tblPr>
              <a:tblGrid>
                <a:gridCol w="4610770">
                  <a:extLst>
                    <a:ext uri="{9D8B030D-6E8A-4147-A177-3AD203B41FA5}">
                      <a16:colId xmlns:a16="http://schemas.microsoft.com/office/drawing/2014/main" val="560360152"/>
                    </a:ext>
                  </a:extLst>
                </a:gridCol>
                <a:gridCol w="6068964">
                  <a:extLst>
                    <a:ext uri="{9D8B030D-6E8A-4147-A177-3AD203B41FA5}">
                      <a16:colId xmlns:a16="http://schemas.microsoft.com/office/drawing/2014/main" val="1985964391"/>
                    </a:ext>
                  </a:extLst>
                </a:gridCol>
              </a:tblGrid>
              <a:tr h="234088">
                <a:tc>
                  <a:txBody>
                    <a:bodyPr/>
                    <a:lstStyle/>
                    <a:p>
                      <a:pPr>
                        <a:buNone/>
                      </a:pPr>
                      <a:r>
                        <a:rPr lang="en-AU" sz="800" b="1" cap="none" spc="0">
                          <a:solidFill>
                            <a:schemeClr val="tx1"/>
                          </a:solidFill>
                        </a:rPr>
                        <a:t>Section</a:t>
                      </a:r>
                      <a:endParaRPr lang="en-AU" sz="800" cap="none" spc="0">
                        <a:solidFill>
                          <a:schemeClr val="tx1"/>
                        </a:solidFill>
                      </a:endParaRPr>
                    </a:p>
                  </a:txBody>
                  <a:tcPr marL="11115" marR="11115" marT="30196" marB="30196" anchor="ctr">
                    <a:lnL w="28575" cap="flat" cmpd="sng" algn="ctr">
                      <a:noFill/>
                      <a:prstDash val="solid"/>
                    </a:lnL>
                    <a:lnR w="12700" cmpd="sng">
                      <a:noFill/>
                      <a:prstDash val="solid"/>
                    </a:lnR>
                    <a:lnT w="28575" cap="flat" cmpd="sng" algn="ctr">
                      <a:noFill/>
                      <a:prstDash val="solid"/>
                    </a:lnT>
                    <a:lnB w="12700" cmpd="sng">
                      <a:noFill/>
                      <a:prstDash val="solid"/>
                    </a:lnB>
                    <a:noFill/>
                  </a:tcPr>
                </a:tc>
                <a:tc>
                  <a:txBody>
                    <a:bodyPr/>
                    <a:lstStyle/>
                    <a:p>
                      <a:pPr>
                        <a:buNone/>
                      </a:pPr>
                      <a:r>
                        <a:rPr lang="en-AU" sz="800" b="1" cap="none" spc="0">
                          <a:solidFill>
                            <a:schemeClr val="tx1"/>
                          </a:solidFill>
                        </a:rPr>
                        <a:t>Key Points</a:t>
                      </a:r>
                      <a:endParaRPr lang="en-AU" sz="800" cap="none" spc="0">
                        <a:solidFill>
                          <a:schemeClr val="tx1"/>
                        </a:solidFill>
                      </a:endParaRPr>
                    </a:p>
                  </a:txBody>
                  <a:tcPr marL="11115" marR="11115" marT="30196" marB="30196" anchor="ctr">
                    <a:lnL w="12700" cmpd="sng">
                      <a:noFill/>
                      <a:prstDash val="solid"/>
                    </a:lnL>
                    <a:lnR w="28575" cap="flat" cmpd="sng" algn="ctr">
                      <a:noFill/>
                      <a:prstDash val="solid"/>
                    </a:lnR>
                    <a:lnT w="28575" cap="flat" cmpd="sng" algn="ctr">
                      <a:noFill/>
                      <a:prstDash val="solid"/>
                    </a:lnT>
                    <a:lnB w="12700" cmpd="sng">
                      <a:noFill/>
                      <a:prstDash val="solid"/>
                    </a:lnB>
                    <a:noFill/>
                  </a:tcPr>
                </a:tc>
                <a:extLst>
                  <a:ext uri="{0D108BD9-81ED-4DB2-BD59-A6C34878D82A}">
                    <a16:rowId xmlns:a16="http://schemas.microsoft.com/office/drawing/2014/main" val="3069762273"/>
                  </a:ext>
                </a:extLst>
              </a:tr>
              <a:tr h="234088">
                <a:tc>
                  <a:txBody>
                    <a:bodyPr/>
                    <a:lstStyle/>
                    <a:p>
                      <a:pPr>
                        <a:buNone/>
                      </a:pPr>
                      <a:r>
                        <a:rPr lang="en-AU" sz="800" b="1" cap="none" spc="0">
                          <a:solidFill>
                            <a:schemeClr val="tx1"/>
                          </a:solidFill>
                        </a:rPr>
                        <a:t>Applies to</a:t>
                      </a:r>
                      <a:endParaRPr lang="en-AU" sz="800" cap="none" spc="0">
                        <a:solidFill>
                          <a:schemeClr val="tx1"/>
                        </a:solidFill>
                      </a:endParaRPr>
                    </a:p>
                  </a:txBody>
                  <a:tcPr marL="11115" marR="11115" marT="30196" marB="30196" anchor="ctr">
                    <a:lnL w="28575" cap="flat" cmpd="sng" algn="ctr">
                      <a:noFill/>
                      <a:prstDash val="solid"/>
                    </a:lnL>
                    <a:lnR w="12700" cmpd="sng">
                      <a:noFill/>
                      <a:prstDash val="solid"/>
                    </a:lnR>
                    <a:lnT w="12700" cmpd="sng">
                      <a:noFill/>
                      <a:prstDash val="solid"/>
                    </a:lnT>
                    <a:lnB w="12700" cmpd="sng">
                      <a:noFill/>
                      <a:prstDash val="solid"/>
                    </a:lnB>
                    <a:noFill/>
                  </a:tcPr>
                </a:tc>
                <a:tc>
                  <a:txBody>
                    <a:bodyPr/>
                    <a:lstStyle/>
                    <a:p>
                      <a:pPr>
                        <a:buNone/>
                      </a:pPr>
                      <a:r>
                        <a:rPr lang="en-US" sz="800" cap="none" spc="0">
                          <a:solidFill>
                            <a:schemeClr val="tx1"/>
                          </a:solidFill>
                        </a:rPr>
                        <a:t>Power BI Desktop and Power BI Service. (</a:t>
                      </a:r>
                      <a:r>
                        <a:rPr lang="en-US" sz="800" cap="none" spc="0">
                          <a:solidFill>
                            <a:schemeClr val="tx1"/>
                          </a:solidFill>
                          <a:hlinkClick r:id="rId2" tooltip="Enable Fabric Copilot for Power BI">
                            <a:extLst>
                              <a:ext uri="{A12FA001-AC4F-418D-AE19-62706E023703}">
                                <ahyp:hlinkClr xmlns:ahyp="http://schemas.microsoft.com/office/drawing/2018/hyperlinkcolor" val="tx"/>
                              </a:ext>
                            </a:extLst>
                          </a:hlinkClick>
                        </a:rPr>
                        <a:t>Microsoft Learn</a:t>
                      </a:r>
                      <a:r>
                        <a:rPr lang="en-US" sz="800" cap="none" spc="0">
                          <a:solidFill>
                            <a:schemeClr val="tx1"/>
                          </a:solidFill>
                        </a:rPr>
                        <a:t>)</a:t>
                      </a:r>
                    </a:p>
                  </a:txBody>
                  <a:tcPr marL="11115" marR="11115" marT="30196" marB="30196" anchor="ctr">
                    <a:lnL w="12700" cmpd="sng">
                      <a:noFill/>
                      <a:prstDash val="solid"/>
                    </a:lnL>
                    <a:lnR w="28575" cap="flat" cmpd="sng" algn="ctr">
                      <a:noFill/>
                      <a:prstDash val="solid"/>
                    </a:lnR>
                    <a:lnT w="12700" cmpd="sng">
                      <a:noFill/>
                      <a:prstDash val="solid"/>
                    </a:lnT>
                    <a:lnB w="12700" cmpd="sng">
                      <a:noFill/>
                      <a:prstDash val="solid"/>
                    </a:lnB>
                    <a:noFill/>
                  </a:tcPr>
                </a:tc>
                <a:extLst>
                  <a:ext uri="{0D108BD9-81ED-4DB2-BD59-A6C34878D82A}">
                    <a16:rowId xmlns:a16="http://schemas.microsoft.com/office/drawing/2014/main" val="3223545985"/>
                  </a:ext>
                </a:extLst>
              </a:tr>
              <a:tr h="234088">
                <a:tc>
                  <a:txBody>
                    <a:bodyPr/>
                    <a:lstStyle/>
                    <a:p>
                      <a:pPr>
                        <a:buNone/>
                      </a:pPr>
                      <a:r>
                        <a:rPr lang="en-AU" sz="800" b="1" cap="none" spc="0">
                          <a:solidFill>
                            <a:schemeClr val="tx1"/>
                          </a:solidFill>
                        </a:rPr>
                        <a:t>Purpose</a:t>
                      </a:r>
                      <a:endParaRPr lang="en-AU" sz="800" cap="none" spc="0">
                        <a:solidFill>
                          <a:schemeClr val="tx1"/>
                        </a:solidFill>
                      </a:endParaRPr>
                    </a:p>
                  </a:txBody>
                  <a:tcPr marL="11115" marR="11115" marT="30196" marB="30196" anchor="ctr">
                    <a:lnL w="28575" cap="flat" cmpd="sng" algn="ctr">
                      <a:noFill/>
                      <a:prstDash val="solid"/>
                    </a:lnL>
                    <a:lnR w="12700" cmpd="sng">
                      <a:noFill/>
                      <a:prstDash val="solid"/>
                    </a:lnR>
                    <a:lnT w="12700" cmpd="sng">
                      <a:noFill/>
                      <a:prstDash val="solid"/>
                    </a:lnT>
                    <a:lnB w="12700" cmpd="sng">
                      <a:noFill/>
                      <a:prstDash val="solid"/>
                    </a:lnB>
                    <a:noFill/>
                  </a:tcPr>
                </a:tc>
                <a:tc>
                  <a:txBody>
                    <a:bodyPr/>
                    <a:lstStyle/>
                    <a:p>
                      <a:pPr>
                        <a:buNone/>
                      </a:pPr>
                      <a:r>
                        <a:rPr lang="en-US" sz="800" cap="none" spc="0">
                          <a:solidFill>
                            <a:schemeClr val="tx1"/>
                          </a:solidFill>
                        </a:rPr>
                        <a:t>Helps organisations enable and start using Copilot in Microsoft Fabric (and specifically in Power BI). (</a:t>
                      </a:r>
                      <a:r>
                        <a:rPr lang="en-US" sz="800" cap="none" spc="0">
                          <a:solidFill>
                            <a:schemeClr val="tx1"/>
                          </a:solidFill>
                          <a:hlinkClick r:id="rId2" tooltip="Enable Fabric Copilot for Power BI">
                            <a:extLst>
                              <a:ext uri="{A12FA001-AC4F-418D-AE19-62706E023703}">
                                <ahyp:hlinkClr xmlns:ahyp="http://schemas.microsoft.com/office/drawing/2018/hyperlinkcolor" val="tx"/>
                              </a:ext>
                            </a:extLst>
                          </a:hlinkClick>
                        </a:rPr>
                        <a:t>Microsoft Learn</a:t>
                      </a:r>
                      <a:r>
                        <a:rPr lang="en-US" sz="800" cap="none" spc="0">
                          <a:solidFill>
                            <a:schemeClr val="tx1"/>
                          </a:solidFill>
                        </a:rPr>
                        <a:t>)</a:t>
                      </a:r>
                    </a:p>
                  </a:txBody>
                  <a:tcPr marL="11115" marR="11115" marT="30196" marB="30196" anchor="ctr">
                    <a:lnL w="12700" cmpd="sng">
                      <a:noFill/>
                      <a:prstDash val="solid"/>
                    </a:lnL>
                    <a:lnR w="28575" cap="flat" cmpd="sng" algn="ctr">
                      <a:noFill/>
                      <a:prstDash val="solid"/>
                    </a:lnR>
                    <a:lnT w="12700" cmpd="sng">
                      <a:noFill/>
                      <a:prstDash val="solid"/>
                    </a:lnT>
                    <a:lnB w="12700" cmpd="sng">
                      <a:noFill/>
                      <a:prstDash val="solid"/>
                    </a:lnB>
                    <a:noFill/>
                  </a:tcPr>
                </a:tc>
                <a:extLst>
                  <a:ext uri="{0D108BD9-81ED-4DB2-BD59-A6C34878D82A}">
                    <a16:rowId xmlns:a16="http://schemas.microsoft.com/office/drawing/2014/main" val="2911136052"/>
                  </a:ext>
                </a:extLst>
              </a:tr>
              <a:tr h="366711">
                <a:tc>
                  <a:txBody>
                    <a:bodyPr/>
                    <a:lstStyle/>
                    <a:p>
                      <a:pPr>
                        <a:buNone/>
                      </a:pPr>
                      <a:r>
                        <a:rPr lang="en-US" sz="800" b="1" cap="none" spc="0">
                          <a:solidFill>
                            <a:schemeClr val="tx1"/>
                          </a:solidFill>
                        </a:rPr>
                        <a:t>Prerequisites / Admin Steps (Tenant level)</a:t>
                      </a:r>
                      <a:endParaRPr lang="en-US" sz="800" cap="none" spc="0">
                        <a:solidFill>
                          <a:schemeClr val="tx1"/>
                        </a:solidFill>
                      </a:endParaRPr>
                    </a:p>
                  </a:txBody>
                  <a:tcPr marL="11115" marR="11115" marT="30196" marB="30196" anchor="ctr">
                    <a:lnL w="28575" cap="flat" cmpd="sng" algn="ctr">
                      <a:noFill/>
                      <a:prstDash val="solid"/>
                    </a:lnL>
                    <a:lnR w="12700" cmpd="sng">
                      <a:noFill/>
                      <a:prstDash val="solid"/>
                    </a:lnR>
                    <a:lnT w="12700" cmpd="sng">
                      <a:noFill/>
                      <a:prstDash val="solid"/>
                    </a:lnT>
                    <a:lnB w="12700" cmpd="sng">
                      <a:noFill/>
                      <a:prstDash val="solid"/>
                    </a:lnB>
                    <a:noFill/>
                  </a:tcPr>
                </a:tc>
                <a:tc>
                  <a:txBody>
                    <a:bodyPr/>
                    <a:lstStyle/>
                    <a:p>
                      <a:pPr>
                        <a:buNone/>
                      </a:pPr>
                      <a:r>
                        <a:rPr lang="en-US" sz="800" cap="none" spc="0" dirty="0">
                          <a:solidFill>
                            <a:schemeClr val="tx1"/>
                          </a:solidFill>
                        </a:rPr>
                        <a:t>• In the Fabric Admin portal: go to Tenant settings. • Enable the setting “Users can use Copilot and other features powered by Azure OpenAI”. (</a:t>
                      </a:r>
                      <a:r>
                        <a:rPr lang="en-US" sz="800" cap="none" spc="0" dirty="0">
                          <a:solidFill>
                            <a:schemeClr val="tx1"/>
                          </a:solidFill>
                          <a:hlinkClick r:id="rId2" tooltip="Enable Fabric Copilot for Power BI">
                            <a:extLst>
                              <a:ext uri="{A12FA001-AC4F-418D-AE19-62706E023703}">
                                <ahyp:hlinkClr xmlns:ahyp="http://schemas.microsoft.com/office/drawing/2018/hyperlinkcolor" val="tx"/>
                              </a:ext>
                            </a:extLst>
                          </a:hlinkClick>
                        </a:rPr>
                        <a:t>Microsoft Learn</a:t>
                      </a:r>
                      <a:r>
                        <a:rPr lang="en-US" sz="800" cap="none" spc="0" dirty="0">
                          <a:solidFill>
                            <a:schemeClr val="tx1"/>
                          </a:solidFill>
                        </a:rPr>
                        <a:t>) • Specify which users/groups it applies to. (</a:t>
                      </a:r>
                      <a:r>
                        <a:rPr lang="en-US" sz="800" cap="none" spc="0" dirty="0">
                          <a:solidFill>
                            <a:schemeClr val="tx1"/>
                          </a:solidFill>
                          <a:hlinkClick r:id="rId2" tooltip="Enable Fabric Copilot for Power BI">
                            <a:extLst>
                              <a:ext uri="{A12FA001-AC4F-418D-AE19-62706E023703}">
                                <ahyp:hlinkClr xmlns:ahyp="http://schemas.microsoft.com/office/drawing/2018/hyperlinkcolor" val="tx"/>
                              </a:ext>
                            </a:extLst>
                          </a:hlinkClick>
                        </a:rPr>
                        <a:t>Microsoft Learn</a:t>
                      </a:r>
                      <a:r>
                        <a:rPr lang="en-US" sz="800" cap="none" spc="0" dirty="0">
                          <a:solidFill>
                            <a:schemeClr val="tx1"/>
                          </a:solidFill>
                        </a:rPr>
                        <a:t>)</a:t>
                      </a:r>
                    </a:p>
                  </a:txBody>
                  <a:tcPr marL="11115" marR="11115" marT="30196" marB="30196" anchor="ctr">
                    <a:lnL w="12700" cmpd="sng">
                      <a:noFill/>
                      <a:prstDash val="solid"/>
                    </a:lnL>
                    <a:lnR w="28575" cap="flat" cmpd="sng" algn="ctr">
                      <a:noFill/>
                      <a:prstDash val="solid"/>
                    </a:lnR>
                    <a:lnT w="12700" cmpd="sng">
                      <a:noFill/>
                      <a:prstDash val="solid"/>
                    </a:lnT>
                    <a:lnB w="12700" cmpd="sng">
                      <a:noFill/>
                      <a:prstDash val="solid"/>
                    </a:lnB>
                    <a:noFill/>
                  </a:tcPr>
                </a:tc>
                <a:extLst>
                  <a:ext uri="{0D108BD9-81ED-4DB2-BD59-A6C34878D82A}">
                    <a16:rowId xmlns:a16="http://schemas.microsoft.com/office/drawing/2014/main" val="2876958350"/>
                  </a:ext>
                </a:extLst>
              </a:tr>
              <a:tr h="366711">
                <a:tc>
                  <a:txBody>
                    <a:bodyPr/>
                    <a:lstStyle/>
                    <a:p>
                      <a:pPr>
                        <a:buNone/>
                      </a:pPr>
                      <a:r>
                        <a:rPr lang="en-AU" sz="800" b="1" cap="none" spc="0">
                          <a:solidFill>
                            <a:schemeClr val="tx1"/>
                          </a:solidFill>
                        </a:rPr>
                        <a:t>Data-sharing / Geolocation setting</a:t>
                      </a:r>
                      <a:endParaRPr lang="en-AU" sz="800" cap="none" spc="0">
                        <a:solidFill>
                          <a:schemeClr val="tx1"/>
                        </a:solidFill>
                      </a:endParaRPr>
                    </a:p>
                  </a:txBody>
                  <a:tcPr marL="11115" marR="11115" marT="30196" marB="30196" anchor="ctr">
                    <a:lnL w="28575" cap="flat" cmpd="sng" algn="ctr">
                      <a:noFill/>
                      <a:prstDash val="solid"/>
                    </a:lnL>
                    <a:lnR w="12700" cmpd="sng">
                      <a:noFill/>
                      <a:prstDash val="solid"/>
                    </a:lnR>
                    <a:lnT w="12700" cmpd="sng">
                      <a:noFill/>
                      <a:prstDash val="solid"/>
                    </a:lnT>
                    <a:lnB w="12700" cmpd="sng">
                      <a:noFill/>
                      <a:prstDash val="solid"/>
                    </a:lnB>
                    <a:noFill/>
                  </a:tcPr>
                </a:tc>
                <a:tc>
                  <a:txBody>
                    <a:bodyPr/>
                    <a:lstStyle/>
                    <a:p>
                      <a:pPr>
                        <a:buNone/>
                      </a:pPr>
                      <a:r>
                        <a:rPr lang="en-US" sz="800" cap="none" spc="0">
                          <a:solidFill>
                            <a:schemeClr val="tx1"/>
                          </a:solidFill>
                        </a:rPr>
                        <a:t>If Azure OpenAI is not available in the organisation’s region, admins must enable: “Data sent to Azure OpenAI can be processed outside your capacity’s geographic region/compliance boundary”. (</a:t>
                      </a:r>
                      <a:r>
                        <a:rPr lang="en-US" sz="800" cap="none" spc="0">
                          <a:solidFill>
                            <a:schemeClr val="tx1"/>
                          </a:solidFill>
                          <a:hlinkClick r:id="rId2" tooltip="Enable Fabric Copilot for Power BI">
                            <a:extLst>
                              <a:ext uri="{A12FA001-AC4F-418D-AE19-62706E023703}">
                                <ahyp:hlinkClr xmlns:ahyp="http://schemas.microsoft.com/office/drawing/2018/hyperlinkcolor" val="tx"/>
                              </a:ext>
                            </a:extLst>
                          </a:hlinkClick>
                        </a:rPr>
                        <a:t>Microsoft Learn</a:t>
                      </a:r>
                      <a:r>
                        <a:rPr lang="en-US" sz="800" cap="none" spc="0">
                          <a:solidFill>
                            <a:schemeClr val="tx1"/>
                          </a:solidFill>
                        </a:rPr>
                        <a:t>)</a:t>
                      </a:r>
                    </a:p>
                  </a:txBody>
                  <a:tcPr marL="11115" marR="11115" marT="30196" marB="30196" anchor="ctr">
                    <a:lnL w="12700" cmpd="sng">
                      <a:noFill/>
                      <a:prstDash val="solid"/>
                    </a:lnL>
                    <a:lnR w="28575" cap="flat" cmpd="sng" algn="ctr">
                      <a:noFill/>
                      <a:prstDash val="solid"/>
                    </a:lnR>
                    <a:lnT w="12700" cmpd="sng">
                      <a:noFill/>
                      <a:prstDash val="solid"/>
                    </a:lnT>
                    <a:lnB w="12700" cmpd="sng">
                      <a:noFill/>
                      <a:prstDash val="solid"/>
                    </a:lnB>
                    <a:noFill/>
                  </a:tcPr>
                </a:tc>
                <a:extLst>
                  <a:ext uri="{0D108BD9-81ED-4DB2-BD59-A6C34878D82A}">
                    <a16:rowId xmlns:a16="http://schemas.microsoft.com/office/drawing/2014/main" val="2998185939"/>
                  </a:ext>
                </a:extLst>
              </a:tr>
              <a:tr h="366711">
                <a:tc>
                  <a:txBody>
                    <a:bodyPr/>
                    <a:lstStyle/>
                    <a:p>
                      <a:pPr>
                        <a:buNone/>
                      </a:pPr>
                      <a:r>
                        <a:rPr lang="en-AU" sz="800" b="1" cap="none" spc="0">
                          <a:solidFill>
                            <a:schemeClr val="tx1"/>
                          </a:solidFill>
                        </a:rPr>
                        <a:t>Capacity-level enablement</a:t>
                      </a:r>
                      <a:endParaRPr lang="en-AU" sz="800" cap="none" spc="0">
                        <a:solidFill>
                          <a:schemeClr val="tx1"/>
                        </a:solidFill>
                      </a:endParaRPr>
                    </a:p>
                  </a:txBody>
                  <a:tcPr marL="11115" marR="11115" marT="30196" marB="30196" anchor="ctr">
                    <a:lnL w="28575" cap="flat" cmpd="sng" algn="ctr">
                      <a:noFill/>
                      <a:prstDash val="solid"/>
                    </a:lnL>
                    <a:lnR w="12700" cmpd="sng">
                      <a:noFill/>
                      <a:prstDash val="solid"/>
                    </a:lnR>
                    <a:lnT w="12700" cmpd="sng">
                      <a:noFill/>
                      <a:prstDash val="solid"/>
                    </a:lnT>
                    <a:lnB w="12700" cmpd="sng">
                      <a:noFill/>
                      <a:prstDash val="solid"/>
                    </a:lnB>
                    <a:noFill/>
                  </a:tcPr>
                </a:tc>
                <a:tc>
                  <a:txBody>
                    <a:bodyPr/>
                    <a:lstStyle/>
                    <a:p>
                      <a:pPr>
                        <a:buNone/>
                      </a:pPr>
                      <a:r>
                        <a:rPr lang="en-US" sz="800" cap="none" spc="0">
                          <a:solidFill>
                            <a:schemeClr val="tx1"/>
                          </a:solidFill>
                        </a:rPr>
                        <a:t>Admins can delegate Copilot enablement to capacity admins (for specific Fabric capacities). If tenant-level is off, a capacity admin </a:t>
                      </a:r>
                      <a:r>
                        <a:rPr lang="en-US" sz="800" b="1" cap="none" spc="0">
                          <a:solidFill>
                            <a:schemeClr val="tx1"/>
                          </a:solidFill>
                        </a:rPr>
                        <a:t>can</a:t>
                      </a:r>
                      <a:r>
                        <a:rPr lang="en-US" sz="800" cap="none" spc="0">
                          <a:solidFill>
                            <a:schemeClr val="tx1"/>
                          </a:solidFill>
                        </a:rPr>
                        <a:t> still enable Copilot for their capacity if delegated. (</a:t>
                      </a:r>
                      <a:r>
                        <a:rPr lang="en-US" sz="800" cap="none" spc="0">
                          <a:solidFill>
                            <a:schemeClr val="tx1"/>
                          </a:solidFill>
                          <a:hlinkClick r:id="rId2" tooltip="Enable Fabric Copilot for Power BI">
                            <a:extLst>
                              <a:ext uri="{A12FA001-AC4F-418D-AE19-62706E023703}">
                                <ahyp:hlinkClr xmlns:ahyp="http://schemas.microsoft.com/office/drawing/2018/hyperlinkcolor" val="tx"/>
                              </a:ext>
                            </a:extLst>
                          </a:hlinkClick>
                        </a:rPr>
                        <a:t>Microsoft Learn</a:t>
                      </a:r>
                      <a:r>
                        <a:rPr lang="en-US" sz="800" cap="none" spc="0">
                          <a:solidFill>
                            <a:schemeClr val="tx1"/>
                          </a:solidFill>
                        </a:rPr>
                        <a:t>)</a:t>
                      </a:r>
                    </a:p>
                  </a:txBody>
                  <a:tcPr marL="11115" marR="11115" marT="30196" marB="30196" anchor="ctr">
                    <a:lnL w="12700" cmpd="sng">
                      <a:noFill/>
                      <a:prstDash val="solid"/>
                    </a:lnL>
                    <a:lnR w="28575" cap="flat" cmpd="sng" algn="ctr">
                      <a:noFill/>
                      <a:prstDash val="solid"/>
                    </a:lnR>
                    <a:lnT w="12700" cmpd="sng">
                      <a:noFill/>
                      <a:prstDash val="solid"/>
                    </a:lnT>
                    <a:lnB w="12700" cmpd="sng">
                      <a:noFill/>
                      <a:prstDash val="solid"/>
                    </a:lnB>
                    <a:noFill/>
                  </a:tcPr>
                </a:tc>
                <a:extLst>
                  <a:ext uri="{0D108BD9-81ED-4DB2-BD59-A6C34878D82A}">
                    <a16:rowId xmlns:a16="http://schemas.microsoft.com/office/drawing/2014/main" val="1109834342"/>
                  </a:ext>
                </a:extLst>
              </a:tr>
              <a:tr h="499334">
                <a:tc>
                  <a:txBody>
                    <a:bodyPr/>
                    <a:lstStyle/>
                    <a:p>
                      <a:pPr>
                        <a:buNone/>
                      </a:pPr>
                      <a:r>
                        <a:rPr lang="en-US" sz="800" b="1" cap="none" spc="0">
                          <a:solidFill>
                            <a:schemeClr val="tx1"/>
                          </a:solidFill>
                        </a:rPr>
                        <a:t>Standalone Power BI Copilot experience (Preview)</a:t>
                      </a:r>
                      <a:endParaRPr lang="en-US" sz="800" cap="none" spc="0">
                        <a:solidFill>
                          <a:schemeClr val="tx1"/>
                        </a:solidFill>
                      </a:endParaRPr>
                    </a:p>
                  </a:txBody>
                  <a:tcPr marL="11115" marR="11115" marT="30196" marB="30196" anchor="ctr">
                    <a:lnL w="28575" cap="flat" cmpd="sng" algn="ctr">
                      <a:noFill/>
                      <a:prstDash val="solid"/>
                    </a:lnL>
                    <a:lnR w="12700" cmpd="sng">
                      <a:noFill/>
                      <a:prstDash val="solid"/>
                    </a:lnR>
                    <a:lnT w="12700" cmpd="sng">
                      <a:noFill/>
                      <a:prstDash val="solid"/>
                    </a:lnT>
                    <a:lnB w="12700" cmpd="sng">
                      <a:noFill/>
                      <a:prstDash val="solid"/>
                    </a:lnB>
                    <a:noFill/>
                  </a:tcPr>
                </a:tc>
                <a:tc>
                  <a:txBody>
                    <a:bodyPr/>
                    <a:lstStyle/>
                    <a:p>
                      <a:pPr>
                        <a:buNone/>
                      </a:pPr>
                      <a:r>
                        <a:rPr lang="en-US" sz="800" cap="none" spc="0">
                          <a:solidFill>
                            <a:schemeClr val="tx1"/>
                          </a:solidFill>
                        </a:rPr>
                        <a:t>• There is a tenant setting “Users can access a standalone, cross-item Power BI Copilot experience (preview)”. (</a:t>
                      </a:r>
                      <a:r>
                        <a:rPr lang="en-US" sz="800" cap="none" spc="0">
                          <a:solidFill>
                            <a:schemeClr val="tx1"/>
                          </a:solidFill>
                          <a:hlinkClick r:id="rId2" tooltip="Enable Fabric Copilot for Power BI">
                            <a:extLst>
                              <a:ext uri="{A12FA001-AC4F-418D-AE19-62706E023703}">
                                <ahyp:hlinkClr xmlns:ahyp="http://schemas.microsoft.com/office/drawing/2018/hyperlinkcolor" val="tx"/>
                              </a:ext>
                            </a:extLst>
                          </a:hlinkClick>
                        </a:rPr>
                        <a:t>Microsoft Learn</a:t>
                      </a:r>
                      <a:r>
                        <a:rPr lang="en-US" sz="800" cap="none" spc="0">
                          <a:solidFill>
                            <a:schemeClr val="tx1"/>
                          </a:solidFill>
                        </a:rPr>
                        <a:t>) • Note: Standalone Copilot will be enabled by default (from ~Sep 5 2025) for tenants with Copilot already turned on. (</a:t>
                      </a:r>
                      <a:r>
                        <a:rPr lang="en-US" sz="800" cap="none" spc="0">
                          <a:solidFill>
                            <a:schemeClr val="tx1"/>
                          </a:solidFill>
                          <a:hlinkClick r:id="rId2" tooltip="Enable Fabric Copilot for Power BI">
                            <a:extLst>
                              <a:ext uri="{A12FA001-AC4F-418D-AE19-62706E023703}">
                                <ahyp:hlinkClr xmlns:ahyp="http://schemas.microsoft.com/office/drawing/2018/hyperlinkcolor" val="tx"/>
                              </a:ext>
                            </a:extLst>
                          </a:hlinkClick>
                        </a:rPr>
                        <a:t>Microsoft Learn</a:t>
                      </a:r>
                      <a:r>
                        <a:rPr lang="en-US" sz="800" cap="none" spc="0">
                          <a:solidFill>
                            <a:schemeClr val="tx1"/>
                          </a:solidFill>
                        </a:rPr>
                        <a:t>) • Not supported in all regions. (</a:t>
                      </a:r>
                      <a:r>
                        <a:rPr lang="en-US" sz="800" cap="none" spc="0">
                          <a:solidFill>
                            <a:schemeClr val="tx1"/>
                          </a:solidFill>
                          <a:hlinkClick r:id="rId2" tooltip="Enable Fabric Copilot for Power BI">
                            <a:extLst>
                              <a:ext uri="{A12FA001-AC4F-418D-AE19-62706E023703}">
                                <ahyp:hlinkClr xmlns:ahyp="http://schemas.microsoft.com/office/drawing/2018/hyperlinkcolor" val="tx"/>
                              </a:ext>
                            </a:extLst>
                          </a:hlinkClick>
                        </a:rPr>
                        <a:t>Microsoft Learn</a:t>
                      </a:r>
                      <a:r>
                        <a:rPr lang="en-US" sz="800" cap="none" spc="0">
                          <a:solidFill>
                            <a:schemeClr val="tx1"/>
                          </a:solidFill>
                        </a:rPr>
                        <a:t>)</a:t>
                      </a:r>
                    </a:p>
                  </a:txBody>
                  <a:tcPr marL="11115" marR="11115" marT="30196" marB="30196" anchor="ctr">
                    <a:lnL w="12700" cmpd="sng">
                      <a:noFill/>
                      <a:prstDash val="solid"/>
                    </a:lnL>
                    <a:lnR w="28575" cap="flat" cmpd="sng" algn="ctr">
                      <a:noFill/>
                      <a:prstDash val="solid"/>
                    </a:lnR>
                    <a:lnT w="12700" cmpd="sng">
                      <a:noFill/>
                      <a:prstDash val="solid"/>
                    </a:lnT>
                    <a:lnB w="12700" cmpd="sng">
                      <a:noFill/>
                      <a:prstDash val="solid"/>
                    </a:lnB>
                    <a:noFill/>
                  </a:tcPr>
                </a:tc>
                <a:extLst>
                  <a:ext uri="{0D108BD9-81ED-4DB2-BD59-A6C34878D82A}">
                    <a16:rowId xmlns:a16="http://schemas.microsoft.com/office/drawing/2014/main" val="955324611"/>
                  </a:ext>
                </a:extLst>
              </a:tr>
              <a:tr h="366711">
                <a:tc>
                  <a:txBody>
                    <a:bodyPr/>
                    <a:lstStyle/>
                    <a:p>
                      <a:pPr>
                        <a:buNone/>
                      </a:pPr>
                      <a:r>
                        <a:rPr lang="en-US" sz="800" b="1" cap="none" spc="0">
                          <a:solidFill>
                            <a:schemeClr val="tx1"/>
                          </a:solidFill>
                        </a:rPr>
                        <a:t>Using Copilot in Power BI Service</a:t>
                      </a:r>
                      <a:endParaRPr lang="en-US" sz="800" cap="none" spc="0">
                        <a:solidFill>
                          <a:schemeClr val="tx1"/>
                        </a:solidFill>
                      </a:endParaRPr>
                    </a:p>
                  </a:txBody>
                  <a:tcPr marL="11115" marR="11115" marT="30196" marB="30196" anchor="ctr">
                    <a:lnL w="28575" cap="flat" cmpd="sng" algn="ctr">
                      <a:noFill/>
                      <a:prstDash val="solid"/>
                    </a:lnL>
                    <a:lnR w="12700" cmpd="sng">
                      <a:noFill/>
                      <a:prstDash val="solid"/>
                    </a:lnR>
                    <a:lnT w="12700" cmpd="sng">
                      <a:noFill/>
                      <a:prstDash val="solid"/>
                    </a:lnT>
                    <a:lnB w="12700" cmpd="sng">
                      <a:noFill/>
                      <a:prstDash val="solid"/>
                    </a:lnB>
                    <a:noFill/>
                  </a:tcPr>
                </a:tc>
                <a:tc>
                  <a:txBody>
                    <a:bodyPr/>
                    <a:lstStyle/>
                    <a:p>
                      <a:pPr>
                        <a:buNone/>
                      </a:pPr>
                      <a:r>
                        <a:rPr lang="en-US" sz="800" cap="none" spc="0">
                          <a:solidFill>
                            <a:schemeClr val="tx1"/>
                          </a:solidFill>
                        </a:rPr>
                        <a:t>• Workspace must be in a Premium Power BI capacity (P1 or higher) or paid Fabric capacity (F2 or higher) for Copilot to be available. (</a:t>
                      </a:r>
                      <a:r>
                        <a:rPr lang="en-US" sz="800" cap="none" spc="0">
                          <a:solidFill>
                            <a:schemeClr val="tx1"/>
                          </a:solidFill>
                          <a:hlinkClick r:id="rId2" tooltip="Enable Fabric Copilot for Power BI">
                            <a:extLst>
                              <a:ext uri="{A12FA001-AC4F-418D-AE19-62706E023703}">
                                <ahyp:hlinkClr xmlns:ahyp="http://schemas.microsoft.com/office/drawing/2018/hyperlinkcolor" val="tx"/>
                              </a:ext>
                            </a:extLst>
                          </a:hlinkClick>
                        </a:rPr>
                        <a:t>Microsoft Learn</a:t>
                      </a:r>
                      <a:r>
                        <a:rPr lang="en-US" sz="800" cap="none" spc="0">
                          <a:solidFill>
                            <a:schemeClr val="tx1"/>
                          </a:solidFill>
                        </a:rPr>
                        <a:t>) • Verify workspace settings via Workspace &gt; Settings &gt; Premium/Fabric capacity. (</a:t>
                      </a:r>
                      <a:r>
                        <a:rPr lang="en-US" sz="800" cap="none" spc="0">
                          <a:solidFill>
                            <a:schemeClr val="tx1"/>
                          </a:solidFill>
                          <a:hlinkClick r:id="rId2" tooltip="Enable Fabric Copilot for Power BI">
                            <a:extLst>
                              <a:ext uri="{A12FA001-AC4F-418D-AE19-62706E023703}">
                                <ahyp:hlinkClr xmlns:ahyp="http://schemas.microsoft.com/office/drawing/2018/hyperlinkcolor" val="tx"/>
                              </a:ext>
                            </a:extLst>
                          </a:hlinkClick>
                        </a:rPr>
                        <a:t>Microsoft Learn</a:t>
                      </a:r>
                      <a:r>
                        <a:rPr lang="en-US" sz="800" cap="none" spc="0">
                          <a:solidFill>
                            <a:schemeClr val="tx1"/>
                          </a:solidFill>
                        </a:rPr>
                        <a:t>)</a:t>
                      </a:r>
                    </a:p>
                  </a:txBody>
                  <a:tcPr marL="11115" marR="11115" marT="30196" marB="30196" anchor="ctr">
                    <a:lnL w="12700" cmpd="sng">
                      <a:noFill/>
                      <a:prstDash val="solid"/>
                    </a:lnL>
                    <a:lnR w="28575" cap="flat" cmpd="sng" algn="ctr">
                      <a:noFill/>
                      <a:prstDash val="solid"/>
                    </a:lnR>
                    <a:lnT w="12700" cmpd="sng">
                      <a:noFill/>
                      <a:prstDash val="solid"/>
                    </a:lnT>
                    <a:lnB w="12700" cmpd="sng">
                      <a:noFill/>
                      <a:prstDash val="solid"/>
                    </a:lnB>
                    <a:noFill/>
                  </a:tcPr>
                </a:tc>
                <a:extLst>
                  <a:ext uri="{0D108BD9-81ED-4DB2-BD59-A6C34878D82A}">
                    <a16:rowId xmlns:a16="http://schemas.microsoft.com/office/drawing/2014/main" val="292384909"/>
                  </a:ext>
                </a:extLst>
              </a:tr>
              <a:tr h="499334">
                <a:tc>
                  <a:txBody>
                    <a:bodyPr/>
                    <a:lstStyle/>
                    <a:p>
                      <a:pPr>
                        <a:buNone/>
                      </a:pPr>
                      <a:r>
                        <a:rPr lang="en-US" sz="800" b="1" cap="none" spc="0">
                          <a:solidFill>
                            <a:schemeClr val="tx1"/>
                          </a:solidFill>
                        </a:rPr>
                        <a:t>Using Copilot in Power BI Desktop</a:t>
                      </a:r>
                      <a:endParaRPr lang="en-US" sz="800" cap="none" spc="0">
                        <a:solidFill>
                          <a:schemeClr val="tx1"/>
                        </a:solidFill>
                      </a:endParaRPr>
                    </a:p>
                  </a:txBody>
                  <a:tcPr marL="11115" marR="11115" marT="30196" marB="30196" anchor="ctr">
                    <a:lnL w="28575" cap="flat" cmpd="sng" algn="ctr">
                      <a:noFill/>
                      <a:prstDash val="solid"/>
                    </a:lnL>
                    <a:lnR w="12700" cmpd="sng">
                      <a:noFill/>
                      <a:prstDash val="solid"/>
                    </a:lnR>
                    <a:lnT w="12700" cmpd="sng">
                      <a:noFill/>
                      <a:prstDash val="solid"/>
                    </a:lnT>
                    <a:lnB w="12700" cmpd="sng">
                      <a:noFill/>
                      <a:prstDash val="solid"/>
                    </a:lnB>
                    <a:noFill/>
                  </a:tcPr>
                </a:tc>
                <a:tc>
                  <a:txBody>
                    <a:bodyPr/>
                    <a:lstStyle/>
                    <a:p>
                      <a:pPr>
                        <a:buNone/>
                      </a:pPr>
                      <a:r>
                        <a:rPr lang="en-US" sz="800" cap="none" spc="0">
                          <a:solidFill>
                            <a:schemeClr val="tx1"/>
                          </a:solidFill>
                        </a:rPr>
                        <a:t>• The Copilot button appears in the ribbon. (</a:t>
                      </a:r>
                      <a:r>
                        <a:rPr lang="en-US" sz="800" cap="none" spc="0">
                          <a:solidFill>
                            <a:schemeClr val="tx1"/>
                          </a:solidFill>
                          <a:hlinkClick r:id="rId3" tooltip="Use Copilot in Power BI Desktop">
                            <a:extLst>
                              <a:ext uri="{A12FA001-AC4F-418D-AE19-62706E023703}">
                                <ahyp:hlinkClr xmlns:ahyp="http://schemas.microsoft.com/office/drawing/2018/hyperlinkcolor" val="tx"/>
                              </a:ext>
                            </a:extLst>
                          </a:hlinkClick>
                        </a:rPr>
                        <a:t>Microsoft Learn</a:t>
                      </a:r>
                      <a:r>
                        <a:rPr lang="en-US" sz="800" cap="none" spc="0">
                          <a:solidFill>
                            <a:schemeClr val="tx1"/>
                          </a:solidFill>
                        </a:rPr>
                        <a:t>) • To use: you must have access (admin/member/contributor) to at least one workspace in a supported capacity (paid Fabric or Premium) and Copilot enabled. (</a:t>
                      </a:r>
                      <a:r>
                        <a:rPr lang="en-US" sz="800" cap="none" spc="0">
                          <a:solidFill>
                            <a:schemeClr val="tx1"/>
                          </a:solidFill>
                          <a:hlinkClick r:id="rId3" tooltip="Use Copilot in Power BI Desktop">
                            <a:extLst>
                              <a:ext uri="{A12FA001-AC4F-418D-AE19-62706E023703}">
                                <ahyp:hlinkClr xmlns:ahyp="http://schemas.microsoft.com/office/drawing/2018/hyperlinkcolor" val="tx"/>
                              </a:ext>
                            </a:extLst>
                          </a:hlinkClick>
                        </a:rPr>
                        <a:t>Microsoft Learn</a:t>
                      </a:r>
                      <a:r>
                        <a:rPr lang="en-US" sz="800" cap="none" spc="0">
                          <a:solidFill>
                            <a:schemeClr val="tx1"/>
                          </a:solidFill>
                        </a:rPr>
                        <a:t>) • On first use, you’ll be prompted to select a supported workspace. (</a:t>
                      </a:r>
                      <a:r>
                        <a:rPr lang="en-US" sz="800" cap="none" spc="0">
                          <a:solidFill>
                            <a:schemeClr val="tx1"/>
                          </a:solidFill>
                          <a:hlinkClick r:id="rId3" tooltip="Use Copilot in Power BI Desktop">
                            <a:extLst>
                              <a:ext uri="{A12FA001-AC4F-418D-AE19-62706E023703}">
                                <ahyp:hlinkClr xmlns:ahyp="http://schemas.microsoft.com/office/drawing/2018/hyperlinkcolor" val="tx"/>
                              </a:ext>
                            </a:extLst>
                          </a:hlinkClick>
                        </a:rPr>
                        <a:t>Microsoft Learn</a:t>
                      </a:r>
                      <a:r>
                        <a:rPr lang="en-US" sz="800" cap="none" spc="0">
                          <a:solidFill>
                            <a:schemeClr val="tx1"/>
                          </a:solidFill>
                        </a:rPr>
                        <a:t>)</a:t>
                      </a:r>
                    </a:p>
                  </a:txBody>
                  <a:tcPr marL="11115" marR="11115" marT="30196" marB="30196" anchor="ctr">
                    <a:lnL w="12700" cmpd="sng">
                      <a:noFill/>
                      <a:prstDash val="solid"/>
                    </a:lnL>
                    <a:lnR w="28575" cap="flat" cmpd="sng" algn="ctr">
                      <a:noFill/>
                      <a:prstDash val="solid"/>
                    </a:lnR>
                    <a:lnT w="12700" cmpd="sng">
                      <a:noFill/>
                      <a:prstDash val="solid"/>
                    </a:lnT>
                    <a:lnB w="12700" cmpd="sng">
                      <a:noFill/>
                      <a:prstDash val="solid"/>
                    </a:lnB>
                    <a:noFill/>
                  </a:tcPr>
                </a:tc>
                <a:extLst>
                  <a:ext uri="{0D108BD9-81ED-4DB2-BD59-A6C34878D82A}">
                    <a16:rowId xmlns:a16="http://schemas.microsoft.com/office/drawing/2014/main" val="984700563"/>
                  </a:ext>
                </a:extLst>
              </a:tr>
              <a:tr h="366711">
                <a:tc>
                  <a:txBody>
                    <a:bodyPr/>
                    <a:lstStyle/>
                    <a:p>
                      <a:pPr>
                        <a:buNone/>
                      </a:pPr>
                      <a:r>
                        <a:rPr lang="en-AU" sz="800" b="1" cap="none" spc="0">
                          <a:solidFill>
                            <a:schemeClr val="tx1"/>
                          </a:solidFill>
                        </a:rPr>
                        <a:t>Licensing / Capacity Requirements</a:t>
                      </a:r>
                      <a:endParaRPr lang="en-AU" sz="800" cap="none" spc="0">
                        <a:solidFill>
                          <a:schemeClr val="tx1"/>
                        </a:solidFill>
                      </a:endParaRPr>
                    </a:p>
                  </a:txBody>
                  <a:tcPr marL="11115" marR="11115" marT="30196" marB="30196" anchor="ctr">
                    <a:lnL w="28575" cap="flat" cmpd="sng" algn="ctr">
                      <a:noFill/>
                      <a:prstDash val="solid"/>
                    </a:lnL>
                    <a:lnR w="12700" cmpd="sng">
                      <a:noFill/>
                      <a:prstDash val="solid"/>
                    </a:lnR>
                    <a:lnT w="12700" cmpd="sng">
                      <a:noFill/>
                      <a:prstDash val="solid"/>
                    </a:lnT>
                    <a:lnB w="12700" cmpd="sng">
                      <a:noFill/>
                      <a:prstDash val="solid"/>
                    </a:lnB>
                    <a:noFill/>
                  </a:tcPr>
                </a:tc>
                <a:tc>
                  <a:txBody>
                    <a:bodyPr/>
                    <a:lstStyle/>
                    <a:p>
                      <a:pPr>
                        <a:buNone/>
                      </a:pPr>
                      <a:r>
                        <a:rPr lang="en-US" sz="800" cap="none" spc="0">
                          <a:solidFill>
                            <a:schemeClr val="tx1"/>
                          </a:solidFill>
                        </a:rPr>
                        <a:t>• Only paid SKUs/capacities supported (e.g., not trial SKUs). (</a:t>
                      </a:r>
                      <a:r>
                        <a:rPr lang="en-US" sz="800" cap="none" spc="0">
                          <a:solidFill>
                            <a:schemeClr val="tx1"/>
                          </a:solidFill>
                          <a:hlinkClick r:id="rId2" tooltip="Enable Fabric Copilot for Power BI">
                            <a:extLst>
                              <a:ext uri="{A12FA001-AC4F-418D-AE19-62706E023703}">
                                <ahyp:hlinkClr xmlns:ahyp="http://schemas.microsoft.com/office/drawing/2018/hyperlinkcolor" val="tx"/>
                              </a:ext>
                            </a:extLst>
                          </a:hlinkClick>
                        </a:rPr>
                        <a:t>Microsoft Learn</a:t>
                      </a:r>
                      <a:r>
                        <a:rPr lang="en-US" sz="800" cap="none" spc="0">
                          <a:solidFill>
                            <a:schemeClr val="tx1"/>
                          </a:solidFill>
                        </a:rPr>
                        <a:t>) • Your capacity must be in a supported region for Fabric/Copilot. (</a:t>
                      </a:r>
                      <a:r>
                        <a:rPr lang="en-US" sz="800" cap="none" spc="0">
                          <a:solidFill>
                            <a:schemeClr val="tx1"/>
                          </a:solidFill>
                          <a:hlinkClick r:id="rId2" tooltip="Enable Fabric Copilot for Power BI">
                            <a:extLst>
                              <a:ext uri="{A12FA001-AC4F-418D-AE19-62706E023703}">
                                <ahyp:hlinkClr xmlns:ahyp="http://schemas.microsoft.com/office/drawing/2018/hyperlinkcolor" val="tx"/>
                              </a:ext>
                            </a:extLst>
                          </a:hlinkClick>
                        </a:rPr>
                        <a:t>Microsoft Learn</a:t>
                      </a:r>
                      <a:r>
                        <a:rPr lang="en-US" sz="800" cap="none" spc="0">
                          <a:solidFill>
                            <a:schemeClr val="tx1"/>
                          </a:solidFill>
                        </a:rPr>
                        <a:t>)</a:t>
                      </a:r>
                    </a:p>
                  </a:txBody>
                  <a:tcPr marL="11115" marR="11115" marT="30196" marB="30196" anchor="ctr">
                    <a:lnL w="12700" cmpd="sng">
                      <a:noFill/>
                      <a:prstDash val="solid"/>
                    </a:lnL>
                    <a:lnR w="28575" cap="flat" cmpd="sng" algn="ctr">
                      <a:noFill/>
                      <a:prstDash val="solid"/>
                    </a:lnR>
                    <a:lnT w="12700" cmpd="sng">
                      <a:noFill/>
                      <a:prstDash val="solid"/>
                    </a:lnT>
                    <a:lnB w="12700" cmpd="sng">
                      <a:noFill/>
                      <a:prstDash val="solid"/>
                    </a:lnB>
                    <a:noFill/>
                  </a:tcPr>
                </a:tc>
                <a:extLst>
                  <a:ext uri="{0D108BD9-81ED-4DB2-BD59-A6C34878D82A}">
                    <a16:rowId xmlns:a16="http://schemas.microsoft.com/office/drawing/2014/main" val="2875802063"/>
                  </a:ext>
                </a:extLst>
              </a:tr>
              <a:tr h="366711">
                <a:tc>
                  <a:txBody>
                    <a:bodyPr/>
                    <a:lstStyle/>
                    <a:p>
                      <a:pPr>
                        <a:buNone/>
                      </a:pPr>
                      <a:r>
                        <a:rPr lang="en-AU" sz="800" b="1" cap="none" spc="0">
                          <a:solidFill>
                            <a:schemeClr val="tx1"/>
                          </a:solidFill>
                        </a:rPr>
                        <a:t>Considerations &amp; Limitations</a:t>
                      </a:r>
                      <a:endParaRPr lang="en-AU" sz="800" cap="none" spc="0">
                        <a:solidFill>
                          <a:schemeClr val="tx1"/>
                        </a:solidFill>
                      </a:endParaRPr>
                    </a:p>
                  </a:txBody>
                  <a:tcPr marL="11115" marR="11115" marT="30196" marB="30196" anchor="ctr">
                    <a:lnL w="28575" cap="flat" cmpd="sng" algn="ctr">
                      <a:noFill/>
                      <a:prstDash val="solid"/>
                    </a:lnL>
                    <a:lnR w="12700" cmpd="sng">
                      <a:noFill/>
                      <a:prstDash val="solid"/>
                    </a:lnR>
                    <a:lnT w="12700" cmpd="sng">
                      <a:noFill/>
                      <a:prstDash val="solid"/>
                    </a:lnT>
                    <a:lnB w="12700" cmpd="sng">
                      <a:noFill/>
                      <a:prstDash val="solid"/>
                    </a:lnB>
                    <a:noFill/>
                  </a:tcPr>
                </a:tc>
                <a:tc>
                  <a:txBody>
                    <a:bodyPr/>
                    <a:lstStyle/>
                    <a:p>
                      <a:pPr>
                        <a:buNone/>
                      </a:pPr>
                      <a:r>
                        <a:rPr lang="en-US" sz="800" cap="none" spc="0">
                          <a:solidFill>
                            <a:schemeClr val="tx1"/>
                          </a:solidFill>
                        </a:rPr>
                        <a:t>• Some regions are not yet supported for standalone Copilot. (</a:t>
                      </a:r>
                      <a:r>
                        <a:rPr lang="en-US" sz="800" cap="none" spc="0">
                          <a:solidFill>
                            <a:schemeClr val="tx1"/>
                          </a:solidFill>
                          <a:hlinkClick r:id="rId2" tooltip="Enable Fabric Copilot for Power BI">
                            <a:extLst>
                              <a:ext uri="{A12FA001-AC4F-418D-AE19-62706E023703}">
                                <ahyp:hlinkClr xmlns:ahyp="http://schemas.microsoft.com/office/drawing/2018/hyperlinkcolor" val="tx"/>
                              </a:ext>
                            </a:extLst>
                          </a:hlinkClick>
                        </a:rPr>
                        <a:t>Microsoft Learn</a:t>
                      </a:r>
                      <a:r>
                        <a:rPr lang="en-US" sz="800" cap="none" spc="0">
                          <a:solidFill>
                            <a:schemeClr val="tx1"/>
                          </a:solidFill>
                        </a:rPr>
                        <a:t>) • Not currently supported in sovereign clouds due to GPU availability. (</a:t>
                      </a:r>
                      <a:r>
                        <a:rPr lang="en-US" sz="800" cap="none" spc="0">
                          <a:solidFill>
                            <a:schemeClr val="tx1"/>
                          </a:solidFill>
                          <a:hlinkClick r:id="rId4" tooltip="Overview of Copilot for Power BI">
                            <a:extLst>
                              <a:ext uri="{A12FA001-AC4F-418D-AE19-62706E023703}">
                                <ahyp:hlinkClr xmlns:ahyp="http://schemas.microsoft.com/office/drawing/2018/hyperlinkcolor" val="tx"/>
                              </a:ext>
                            </a:extLst>
                          </a:hlinkClick>
                        </a:rPr>
                        <a:t>Microsoft Learn</a:t>
                      </a:r>
                      <a:r>
                        <a:rPr lang="en-US" sz="800" cap="none" spc="0">
                          <a:solidFill>
                            <a:schemeClr val="tx1"/>
                          </a:solidFill>
                        </a:rPr>
                        <a:t>) • Workspace must meet capacity/licensing; if not, users may see errors or disabled features. (</a:t>
                      </a:r>
                      <a:r>
                        <a:rPr lang="en-US" sz="800" cap="none" spc="0">
                          <a:solidFill>
                            <a:schemeClr val="tx1"/>
                          </a:solidFill>
                          <a:hlinkClick r:id="rId5" tooltip="How to enable Copilot in Power BI - AtWork Blog">
                            <a:extLst>
                              <a:ext uri="{A12FA001-AC4F-418D-AE19-62706E023703}">
                                <ahyp:hlinkClr xmlns:ahyp="http://schemas.microsoft.com/office/drawing/2018/hyperlinkcolor" val="tx"/>
                              </a:ext>
                            </a:extLst>
                          </a:hlinkClick>
                        </a:rPr>
                        <a:t>blog.atwork.at</a:t>
                      </a:r>
                      <a:r>
                        <a:rPr lang="en-US" sz="800" cap="none" spc="0">
                          <a:solidFill>
                            <a:schemeClr val="tx1"/>
                          </a:solidFill>
                        </a:rPr>
                        <a:t>)</a:t>
                      </a:r>
                    </a:p>
                  </a:txBody>
                  <a:tcPr marL="11115" marR="11115" marT="30196" marB="30196" anchor="ctr">
                    <a:lnL w="12700" cmpd="sng">
                      <a:noFill/>
                      <a:prstDash val="solid"/>
                    </a:lnL>
                    <a:lnR w="28575" cap="flat" cmpd="sng" algn="ctr">
                      <a:noFill/>
                      <a:prstDash val="solid"/>
                    </a:lnR>
                    <a:lnT w="12700" cmpd="sng">
                      <a:noFill/>
                      <a:prstDash val="solid"/>
                    </a:lnT>
                    <a:lnB w="12700" cmpd="sng">
                      <a:noFill/>
                      <a:prstDash val="solid"/>
                    </a:lnB>
                    <a:noFill/>
                  </a:tcPr>
                </a:tc>
                <a:extLst>
                  <a:ext uri="{0D108BD9-81ED-4DB2-BD59-A6C34878D82A}">
                    <a16:rowId xmlns:a16="http://schemas.microsoft.com/office/drawing/2014/main" val="3584173027"/>
                  </a:ext>
                </a:extLst>
              </a:tr>
              <a:tr h="234088">
                <a:tc>
                  <a:txBody>
                    <a:bodyPr/>
                    <a:lstStyle/>
                    <a:p>
                      <a:pPr>
                        <a:buNone/>
                      </a:pPr>
                      <a:r>
                        <a:rPr lang="en-AU" sz="800" b="1" cap="none" spc="0">
                          <a:solidFill>
                            <a:schemeClr val="tx1"/>
                          </a:solidFill>
                        </a:rPr>
                        <a:t>Last updated</a:t>
                      </a:r>
                      <a:endParaRPr lang="en-AU" sz="800" cap="none" spc="0">
                        <a:solidFill>
                          <a:schemeClr val="tx1"/>
                        </a:solidFill>
                      </a:endParaRPr>
                    </a:p>
                  </a:txBody>
                  <a:tcPr marL="11115" marR="11115" marT="30196" marB="30196" anchor="ctr">
                    <a:lnL w="28575" cap="flat" cmpd="sng" algn="ctr">
                      <a:noFill/>
                      <a:prstDash val="solid"/>
                    </a:lnL>
                    <a:lnR w="12700" cmpd="sng">
                      <a:noFill/>
                      <a:prstDash val="solid"/>
                    </a:lnR>
                    <a:lnT w="12700" cmpd="sng">
                      <a:noFill/>
                      <a:prstDash val="solid"/>
                    </a:lnT>
                    <a:lnB w="28575" cap="flat" cmpd="sng" algn="ctr">
                      <a:noFill/>
                      <a:prstDash val="solid"/>
                    </a:lnB>
                    <a:noFill/>
                  </a:tcPr>
                </a:tc>
                <a:tc>
                  <a:txBody>
                    <a:bodyPr/>
                    <a:lstStyle/>
                    <a:p>
                      <a:pPr>
                        <a:buNone/>
                      </a:pPr>
                      <a:r>
                        <a:rPr lang="en-US" sz="800" cap="none" spc="0" dirty="0">
                          <a:solidFill>
                            <a:schemeClr val="tx1"/>
                          </a:solidFill>
                        </a:rPr>
                        <a:t>October 16, 2025. (</a:t>
                      </a:r>
                      <a:r>
                        <a:rPr lang="en-US" sz="800" cap="none" spc="0" dirty="0">
                          <a:solidFill>
                            <a:schemeClr val="tx1"/>
                          </a:solidFill>
                          <a:hlinkClick r:id="rId2" tooltip="Enable Fabric Copilot for Power BI">
                            <a:extLst>
                              <a:ext uri="{A12FA001-AC4F-418D-AE19-62706E023703}">
                                <ahyp:hlinkClr xmlns:ahyp="http://schemas.microsoft.com/office/drawing/2018/hyperlinkcolor" val="tx"/>
                              </a:ext>
                            </a:extLst>
                          </a:hlinkClick>
                        </a:rPr>
                        <a:t>Microsoft Learn</a:t>
                      </a:r>
                      <a:r>
                        <a:rPr lang="en-US" sz="800" cap="none" spc="0" dirty="0">
                          <a:solidFill>
                            <a:schemeClr val="tx1"/>
                          </a:solidFill>
                        </a:rPr>
                        <a:t>)</a:t>
                      </a:r>
                    </a:p>
                  </a:txBody>
                  <a:tcPr marL="11115" marR="11115" marT="30196" marB="30196" anchor="ctr">
                    <a:lnL w="12700" cmpd="sng">
                      <a:noFill/>
                      <a:prstDash val="solid"/>
                    </a:lnL>
                    <a:lnR w="28575" cap="flat" cmpd="sng" algn="ctr">
                      <a:noFill/>
                      <a:prstDash val="solid"/>
                    </a:lnR>
                    <a:lnT w="12700" cmpd="sng">
                      <a:noFill/>
                      <a:prstDash val="solid"/>
                    </a:lnT>
                    <a:lnB w="28575" cap="flat" cmpd="sng" algn="ctr">
                      <a:noFill/>
                      <a:prstDash val="solid"/>
                    </a:lnB>
                    <a:noFill/>
                  </a:tcPr>
                </a:tc>
                <a:extLst>
                  <a:ext uri="{0D108BD9-81ED-4DB2-BD59-A6C34878D82A}">
                    <a16:rowId xmlns:a16="http://schemas.microsoft.com/office/drawing/2014/main" val="947857287"/>
                  </a:ext>
                </a:extLst>
              </a:tr>
            </a:tbl>
          </a:graphicData>
        </a:graphic>
      </p:graphicFrame>
    </p:spTree>
    <p:extLst>
      <p:ext uri="{BB962C8B-B14F-4D97-AF65-F5344CB8AC3E}">
        <p14:creationId xmlns:p14="http://schemas.microsoft.com/office/powerpoint/2010/main" val="7816206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151" name="Rectangle 6150">
            <a:extLst>
              <a:ext uri="{FF2B5EF4-FFF2-40B4-BE49-F238E27FC236}">
                <a16:creationId xmlns:a16="http://schemas.microsoft.com/office/drawing/2014/main" id="{AB8C311F-7253-4AED-9701-7FC0708C4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56" name="Rectangle 6155">
            <a:extLst>
              <a:ext uri="{FF2B5EF4-FFF2-40B4-BE49-F238E27FC236}">
                <a16:creationId xmlns:a16="http://schemas.microsoft.com/office/drawing/2014/main" id="{E2384209-CB15-4CDF-9D31-C44FD9A3F2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2666617" y="-2666188"/>
            <a:ext cx="6858000" cy="12191233"/>
          </a:xfrm>
          <a:prstGeom prst="rect">
            <a:avLst/>
          </a:prstGeom>
          <a:gradFill>
            <a:gsLst>
              <a:gs pos="8000">
                <a:schemeClr val="accent1"/>
              </a:gs>
              <a:gs pos="100000">
                <a:schemeClr val="accent1">
                  <a:lumMod val="5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55" name="Rectangle 6154">
            <a:extLst>
              <a:ext uri="{FF2B5EF4-FFF2-40B4-BE49-F238E27FC236}">
                <a16:creationId xmlns:a16="http://schemas.microsoft.com/office/drawing/2014/main" id="{2633B3B5-CC90-43F0-8714-D31D1F3F02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311" y="0"/>
            <a:ext cx="9070846" cy="6857572"/>
          </a:xfrm>
          <a:prstGeom prst="rect">
            <a:avLst/>
          </a:prstGeom>
          <a:gradFill>
            <a:gsLst>
              <a:gs pos="8000">
                <a:srgbClr val="000000">
                  <a:alpha val="52000"/>
                </a:srgbClr>
              </a:gs>
              <a:gs pos="100000">
                <a:schemeClr val="accent1"/>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57" name="Rectangle 6156">
            <a:extLst>
              <a:ext uri="{FF2B5EF4-FFF2-40B4-BE49-F238E27FC236}">
                <a16:creationId xmlns:a16="http://schemas.microsoft.com/office/drawing/2014/main" id="{A8D57A06-A426-446D-B02C-A2DC6B62E4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3649491" y="-1685840"/>
            <a:ext cx="4894564" cy="12193546"/>
          </a:xfrm>
          <a:prstGeom prst="rect">
            <a:avLst/>
          </a:prstGeom>
          <a:gradFill>
            <a:gsLst>
              <a:gs pos="0">
                <a:schemeClr val="accent5">
                  <a:lumMod val="60000"/>
                  <a:lumOff val="40000"/>
                  <a:alpha val="0"/>
                </a:schemeClr>
              </a:gs>
              <a:gs pos="100000">
                <a:srgbClr val="000000">
                  <a:alpha val="46000"/>
                </a:srgb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146" name="Picture 2" descr="Screenshot of the Copilot setting in the Fabric admin portal that asks admins to enable delegation to capacity admins.">
            <a:extLst>
              <a:ext uri="{FF2B5EF4-FFF2-40B4-BE49-F238E27FC236}">
                <a16:creationId xmlns:a16="http://schemas.microsoft.com/office/drawing/2014/main" id="{B77306C7-2936-0756-DED4-AAC6FEBBC56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t="19639" b="5606"/>
          <a:stretch>
            <a:fillRect/>
          </a:stretch>
        </p:blipFill>
        <p:spPr bwMode="auto">
          <a:xfrm>
            <a:off x="457200" y="457200"/>
            <a:ext cx="11277600" cy="5943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184903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DC56C4F-27B2-85B5-74B0-F8BA46A96A22}"/>
            </a:ext>
          </a:extLst>
        </p:cNvPr>
        <p:cNvGrpSpPr/>
        <p:nvPr/>
      </p:nvGrpSpPr>
      <p:grpSpPr>
        <a:xfrm>
          <a:off x="0" y="0"/>
          <a:ext cx="0" cy="0"/>
          <a:chOff x="0" y="0"/>
          <a:chExt cx="0" cy="0"/>
        </a:xfrm>
      </p:grpSpPr>
      <p:sp useBgFill="1">
        <p:nvSpPr>
          <p:cNvPr id="7183" name="Rectangle 7182">
            <a:extLst>
              <a:ext uri="{FF2B5EF4-FFF2-40B4-BE49-F238E27FC236}">
                <a16:creationId xmlns:a16="http://schemas.microsoft.com/office/drawing/2014/main" id="{AB8C311F-7253-4AED-9701-7FC0708C4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84" name="Rectangle 7183">
            <a:extLst>
              <a:ext uri="{FF2B5EF4-FFF2-40B4-BE49-F238E27FC236}">
                <a16:creationId xmlns:a16="http://schemas.microsoft.com/office/drawing/2014/main" id="{E2384209-CB15-4CDF-9D31-C44FD9A3F2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2666617" y="-2666188"/>
            <a:ext cx="6858000" cy="12191233"/>
          </a:xfrm>
          <a:prstGeom prst="rect">
            <a:avLst/>
          </a:prstGeom>
          <a:gradFill>
            <a:gsLst>
              <a:gs pos="8000">
                <a:schemeClr val="accent1"/>
              </a:gs>
              <a:gs pos="100000">
                <a:schemeClr val="accent1">
                  <a:lumMod val="5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85" name="Rectangle 7184">
            <a:extLst>
              <a:ext uri="{FF2B5EF4-FFF2-40B4-BE49-F238E27FC236}">
                <a16:creationId xmlns:a16="http://schemas.microsoft.com/office/drawing/2014/main" id="{2633B3B5-CC90-43F0-8714-D31D1F3F02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311" y="0"/>
            <a:ext cx="9070846" cy="6857572"/>
          </a:xfrm>
          <a:prstGeom prst="rect">
            <a:avLst/>
          </a:prstGeom>
          <a:gradFill>
            <a:gsLst>
              <a:gs pos="8000">
                <a:srgbClr val="000000">
                  <a:alpha val="52000"/>
                </a:srgbClr>
              </a:gs>
              <a:gs pos="100000">
                <a:schemeClr val="accent1"/>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86" name="Rectangle 7185">
            <a:extLst>
              <a:ext uri="{FF2B5EF4-FFF2-40B4-BE49-F238E27FC236}">
                <a16:creationId xmlns:a16="http://schemas.microsoft.com/office/drawing/2014/main" id="{A8D57A06-A426-446D-B02C-A2DC6B62E4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3649491" y="-1685840"/>
            <a:ext cx="4894564" cy="12193546"/>
          </a:xfrm>
          <a:prstGeom prst="rect">
            <a:avLst/>
          </a:prstGeom>
          <a:gradFill>
            <a:gsLst>
              <a:gs pos="0">
                <a:schemeClr val="accent5">
                  <a:lumMod val="60000"/>
                  <a:lumOff val="40000"/>
                  <a:alpha val="0"/>
                </a:schemeClr>
              </a:gs>
              <a:gs pos="100000">
                <a:srgbClr val="000000">
                  <a:alpha val="46000"/>
                </a:srgb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170" name="Picture 2" descr="Screenshot of the Copilot setting in the Fabric admin portal that lets admins set cross-geo and delegated cross-geo.">
            <a:extLst>
              <a:ext uri="{FF2B5EF4-FFF2-40B4-BE49-F238E27FC236}">
                <a16:creationId xmlns:a16="http://schemas.microsoft.com/office/drawing/2014/main" id="{EEA4270B-15DE-BD00-8076-133ECE197F6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t="2402"/>
          <a:stretch>
            <a:fillRect/>
          </a:stretch>
        </p:blipFill>
        <p:spPr bwMode="auto">
          <a:xfrm>
            <a:off x="457200" y="457200"/>
            <a:ext cx="11277600" cy="5943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588437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98D083D-D321-8CAF-D871-72C51755B043}"/>
            </a:ext>
          </a:extLst>
        </p:cNvPr>
        <p:cNvGrpSpPr/>
        <p:nvPr/>
      </p:nvGrpSpPr>
      <p:grpSpPr>
        <a:xfrm>
          <a:off x="0" y="0"/>
          <a:ext cx="0" cy="0"/>
          <a:chOff x="0" y="0"/>
          <a:chExt cx="0" cy="0"/>
        </a:xfrm>
      </p:grpSpPr>
      <p:sp useBgFill="1">
        <p:nvSpPr>
          <p:cNvPr id="8199" name="Rectangle 8198">
            <a:extLst>
              <a:ext uri="{FF2B5EF4-FFF2-40B4-BE49-F238E27FC236}">
                <a16:creationId xmlns:a16="http://schemas.microsoft.com/office/drawing/2014/main" id="{AB8C311F-7253-4AED-9701-7FC0708C4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01" name="Rectangle 8200">
            <a:extLst>
              <a:ext uri="{FF2B5EF4-FFF2-40B4-BE49-F238E27FC236}">
                <a16:creationId xmlns:a16="http://schemas.microsoft.com/office/drawing/2014/main" id="{E2384209-CB15-4CDF-9D31-C44FD9A3F2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2666617" y="-2666188"/>
            <a:ext cx="6858000" cy="12191233"/>
          </a:xfrm>
          <a:prstGeom prst="rect">
            <a:avLst/>
          </a:prstGeom>
          <a:gradFill>
            <a:gsLst>
              <a:gs pos="8000">
                <a:schemeClr val="accent1"/>
              </a:gs>
              <a:gs pos="100000">
                <a:schemeClr val="accent1">
                  <a:lumMod val="5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03" name="Rectangle 8202">
            <a:extLst>
              <a:ext uri="{FF2B5EF4-FFF2-40B4-BE49-F238E27FC236}">
                <a16:creationId xmlns:a16="http://schemas.microsoft.com/office/drawing/2014/main" id="{2633B3B5-CC90-43F0-8714-D31D1F3F02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311" y="0"/>
            <a:ext cx="9070846" cy="6857572"/>
          </a:xfrm>
          <a:prstGeom prst="rect">
            <a:avLst/>
          </a:prstGeom>
          <a:gradFill>
            <a:gsLst>
              <a:gs pos="8000">
                <a:srgbClr val="000000">
                  <a:alpha val="52000"/>
                </a:srgbClr>
              </a:gs>
              <a:gs pos="100000">
                <a:schemeClr val="accent1"/>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05" name="Rectangle 8204">
            <a:extLst>
              <a:ext uri="{FF2B5EF4-FFF2-40B4-BE49-F238E27FC236}">
                <a16:creationId xmlns:a16="http://schemas.microsoft.com/office/drawing/2014/main" id="{A8D57A06-A426-446D-B02C-A2DC6B62E4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3649491" y="-1685840"/>
            <a:ext cx="4894564" cy="12193546"/>
          </a:xfrm>
          <a:prstGeom prst="rect">
            <a:avLst/>
          </a:prstGeom>
          <a:gradFill>
            <a:gsLst>
              <a:gs pos="0">
                <a:schemeClr val="accent5">
                  <a:lumMod val="60000"/>
                  <a:lumOff val="40000"/>
                  <a:alpha val="0"/>
                </a:schemeClr>
              </a:gs>
              <a:gs pos="100000">
                <a:srgbClr val="000000">
                  <a:alpha val="46000"/>
                </a:srgb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194" name="Picture 2" descr="Screenshot of the Copilot setting in the Fabric admin portal that lets capacity admins set Copilot.">
            <a:extLst>
              <a:ext uri="{FF2B5EF4-FFF2-40B4-BE49-F238E27FC236}">
                <a16:creationId xmlns:a16="http://schemas.microsoft.com/office/drawing/2014/main" id="{E81B210D-F295-2E1C-5375-BF631A86CE7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t="9523"/>
          <a:stretch>
            <a:fillRect/>
          </a:stretch>
        </p:blipFill>
        <p:spPr bwMode="auto">
          <a:xfrm>
            <a:off x="457200" y="457200"/>
            <a:ext cx="11277600" cy="5943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463882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223" name="Rectangle 9222">
            <a:extLst>
              <a:ext uri="{FF2B5EF4-FFF2-40B4-BE49-F238E27FC236}">
                <a16:creationId xmlns:a16="http://schemas.microsoft.com/office/drawing/2014/main" id="{AB8C311F-7253-4AED-9701-7FC0708C4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25" name="Rectangle 9224">
            <a:extLst>
              <a:ext uri="{FF2B5EF4-FFF2-40B4-BE49-F238E27FC236}">
                <a16:creationId xmlns:a16="http://schemas.microsoft.com/office/drawing/2014/main" id="{E2384209-CB15-4CDF-9D31-C44FD9A3F2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2666617" y="-2666188"/>
            <a:ext cx="6858000" cy="12191233"/>
          </a:xfrm>
          <a:prstGeom prst="rect">
            <a:avLst/>
          </a:prstGeom>
          <a:gradFill>
            <a:gsLst>
              <a:gs pos="8000">
                <a:schemeClr val="accent1"/>
              </a:gs>
              <a:gs pos="100000">
                <a:schemeClr val="accent1">
                  <a:lumMod val="5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27" name="Rectangle 9226">
            <a:extLst>
              <a:ext uri="{FF2B5EF4-FFF2-40B4-BE49-F238E27FC236}">
                <a16:creationId xmlns:a16="http://schemas.microsoft.com/office/drawing/2014/main" id="{2633B3B5-CC90-43F0-8714-D31D1F3F02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311" y="0"/>
            <a:ext cx="9070846" cy="6857572"/>
          </a:xfrm>
          <a:prstGeom prst="rect">
            <a:avLst/>
          </a:prstGeom>
          <a:gradFill>
            <a:gsLst>
              <a:gs pos="8000">
                <a:srgbClr val="000000">
                  <a:alpha val="52000"/>
                </a:srgbClr>
              </a:gs>
              <a:gs pos="100000">
                <a:schemeClr val="accent1"/>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29" name="Rectangle 9228">
            <a:extLst>
              <a:ext uri="{FF2B5EF4-FFF2-40B4-BE49-F238E27FC236}">
                <a16:creationId xmlns:a16="http://schemas.microsoft.com/office/drawing/2014/main" id="{A8D57A06-A426-446D-B02C-A2DC6B62E4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3649491" y="-1685840"/>
            <a:ext cx="4894564" cy="12193546"/>
          </a:xfrm>
          <a:prstGeom prst="rect">
            <a:avLst/>
          </a:prstGeom>
          <a:gradFill>
            <a:gsLst>
              <a:gs pos="0">
                <a:schemeClr val="accent5">
                  <a:lumMod val="60000"/>
                  <a:lumOff val="40000"/>
                  <a:alpha val="0"/>
                </a:schemeClr>
              </a:gs>
              <a:gs pos="100000">
                <a:srgbClr val="000000">
                  <a:alpha val="46000"/>
                </a:srgb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218" name="Picture 2" descr="Screenshot of the standalone Power BI Copilot setting in the Fabric Admin portal.">
            <a:extLst>
              <a:ext uri="{FF2B5EF4-FFF2-40B4-BE49-F238E27FC236}">
                <a16:creationId xmlns:a16="http://schemas.microsoft.com/office/drawing/2014/main" id="{BC1BDD5F-618E-F305-5551-E1D9319D861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b="1490"/>
          <a:stretch>
            <a:fillRect/>
          </a:stretch>
        </p:blipFill>
        <p:spPr bwMode="auto">
          <a:xfrm>
            <a:off x="457200" y="457200"/>
            <a:ext cx="11277600" cy="5943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770427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4873D9F8-BB80-5617-3148-41E8CB8ECA51}"/>
              </a:ext>
            </a:extLst>
          </p:cNvPr>
          <p:cNvGraphicFramePr>
            <a:graphicFrameLocks noGrp="1"/>
          </p:cNvGraphicFramePr>
          <p:nvPr>
            <p:extLst>
              <p:ext uri="{D42A27DB-BD31-4B8C-83A1-F6EECF244321}">
                <p14:modId xmlns:p14="http://schemas.microsoft.com/office/powerpoint/2010/main" val="2959877321"/>
              </p:ext>
            </p:extLst>
          </p:nvPr>
        </p:nvGraphicFramePr>
        <p:xfrm>
          <a:off x="500064" y="643466"/>
          <a:ext cx="10284786" cy="5571069"/>
        </p:xfrm>
        <a:graphic>
          <a:graphicData uri="http://schemas.openxmlformats.org/drawingml/2006/table">
            <a:tbl>
              <a:tblPr firstRow="1">
                <a:tableStyleId>{21E4AEA4-8DFA-4A89-87EB-49C32662AFE0}</a:tableStyleId>
              </a:tblPr>
              <a:tblGrid>
                <a:gridCol w="1325531">
                  <a:extLst>
                    <a:ext uri="{9D8B030D-6E8A-4147-A177-3AD203B41FA5}">
                      <a16:colId xmlns:a16="http://schemas.microsoft.com/office/drawing/2014/main" val="2462353772"/>
                    </a:ext>
                  </a:extLst>
                </a:gridCol>
                <a:gridCol w="2224953">
                  <a:extLst>
                    <a:ext uri="{9D8B030D-6E8A-4147-A177-3AD203B41FA5}">
                      <a16:colId xmlns:a16="http://schemas.microsoft.com/office/drawing/2014/main" val="3963017500"/>
                    </a:ext>
                  </a:extLst>
                </a:gridCol>
                <a:gridCol w="2224953">
                  <a:extLst>
                    <a:ext uri="{9D8B030D-6E8A-4147-A177-3AD203B41FA5}">
                      <a16:colId xmlns:a16="http://schemas.microsoft.com/office/drawing/2014/main" val="172851865"/>
                    </a:ext>
                  </a:extLst>
                </a:gridCol>
                <a:gridCol w="2282496">
                  <a:extLst>
                    <a:ext uri="{9D8B030D-6E8A-4147-A177-3AD203B41FA5}">
                      <a16:colId xmlns:a16="http://schemas.microsoft.com/office/drawing/2014/main" val="3005245049"/>
                    </a:ext>
                  </a:extLst>
                </a:gridCol>
                <a:gridCol w="2226853">
                  <a:extLst>
                    <a:ext uri="{9D8B030D-6E8A-4147-A177-3AD203B41FA5}">
                      <a16:colId xmlns:a16="http://schemas.microsoft.com/office/drawing/2014/main" val="4006323070"/>
                    </a:ext>
                  </a:extLst>
                </a:gridCol>
              </a:tblGrid>
              <a:tr h="713251">
                <a:tc>
                  <a:txBody>
                    <a:bodyPr/>
                    <a:lstStyle/>
                    <a:p>
                      <a:pPr algn="l" fontAlgn="ctr">
                        <a:buNone/>
                      </a:pPr>
                      <a:endParaRPr lang="en-US" sz="1900" b="0" i="0" u="none" strike="noStrike">
                        <a:effectLst/>
                        <a:latin typeface="Arial" panose="020B0604020202020204" pitchFamily="34" charset="0"/>
                      </a:endParaRPr>
                    </a:p>
                  </a:txBody>
                  <a:tcPr marL="96385" marR="96385" marT="48193" marB="48193" anchor="ctr"/>
                </a:tc>
                <a:tc>
                  <a:txBody>
                    <a:bodyPr/>
                    <a:lstStyle/>
                    <a:p>
                      <a:pPr algn="l" fontAlgn="ctr">
                        <a:buNone/>
                      </a:pPr>
                      <a:r>
                        <a:rPr lang="en-AU" sz="1900" b="1" u="none" strike="noStrike">
                          <a:effectLst/>
                        </a:rPr>
                        <a:t>CU per Hour</a:t>
                      </a:r>
                      <a:endParaRPr lang="en-AU" sz="1900" b="0" i="0" u="none" strike="noStrike">
                        <a:effectLst/>
                        <a:latin typeface="Arial" panose="020B0604020202020204" pitchFamily="34" charset="0"/>
                      </a:endParaRPr>
                    </a:p>
                  </a:txBody>
                  <a:tcPr marL="96385" marR="96385" marT="48193" marB="48193" anchor="ctr"/>
                </a:tc>
                <a:tc>
                  <a:txBody>
                    <a:bodyPr/>
                    <a:lstStyle/>
                    <a:p>
                      <a:pPr algn="l" fontAlgn="ctr">
                        <a:buNone/>
                      </a:pPr>
                      <a:r>
                        <a:rPr lang="en-AU" sz="1900" b="1" u="none" strike="noStrike">
                          <a:effectLst/>
                        </a:rPr>
                        <a:t>CU per Minute</a:t>
                      </a:r>
                      <a:endParaRPr lang="en-AU" sz="1900" b="0" i="0" u="none" strike="noStrike">
                        <a:effectLst/>
                        <a:latin typeface="Arial" panose="020B0604020202020204" pitchFamily="34" charset="0"/>
                      </a:endParaRPr>
                    </a:p>
                  </a:txBody>
                  <a:tcPr marL="96385" marR="96385" marT="48193" marB="48193" anchor="ctr"/>
                </a:tc>
                <a:tc>
                  <a:txBody>
                    <a:bodyPr/>
                    <a:lstStyle/>
                    <a:p>
                      <a:pPr algn="l" fontAlgn="ctr">
                        <a:buNone/>
                      </a:pPr>
                      <a:r>
                        <a:rPr lang="en-AU" sz="1900" b="1" u="none" strike="noStrike">
                          <a:effectLst/>
                        </a:rPr>
                        <a:t>Example Token Usage</a:t>
                      </a:r>
                      <a:endParaRPr lang="en-AU" sz="1900" b="0" i="0" u="none" strike="noStrike">
                        <a:effectLst/>
                        <a:latin typeface="Arial" panose="020B0604020202020204" pitchFamily="34" charset="0"/>
                      </a:endParaRPr>
                    </a:p>
                  </a:txBody>
                  <a:tcPr marL="96385" marR="96385" marT="48193" marB="48193" anchor="ctr"/>
                </a:tc>
                <a:tc>
                  <a:txBody>
                    <a:bodyPr/>
                    <a:lstStyle/>
                    <a:p>
                      <a:pPr algn="l" fontAlgn="t">
                        <a:buNone/>
                      </a:pPr>
                      <a:endParaRPr lang="en-US" sz="1900" b="0" i="0" u="none" strike="noStrike">
                        <a:effectLst/>
                        <a:latin typeface="Arial" panose="020B0604020202020204" pitchFamily="34" charset="0"/>
                      </a:endParaRPr>
                    </a:p>
                  </a:txBody>
                  <a:tcPr marL="96385" marR="96385" marT="48193" marB="48193"/>
                </a:tc>
                <a:extLst>
                  <a:ext uri="{0D108BD9-81ED-4DB2-BD59-A6C34878D82A}">
                    <a16:rowId xmlns:a16="http://schemas.microsoft.com/office/drawing/2014/main" val="474863616"/>
                  </a:ext>
                </a:extLst>
              </a:tr>
              <a:tr h="1291563">
                <a:tc>
                  <a:txBody>
                    <a:bodyPr/>
                    <a:lstStyle/>
                    <a:p>
                      <a:pPr algn="l" fontAlgn="ctr">
                        <a:buNone/>
                      </a:pPr>
                      <a:r>
                        <a:rPr lang="en-AU" sz="1900" b="1" u="none" strike="noStrike">
                          <a:effectLst/>
                        </a:rPr>
                        <a:t>F2</a:t>
                      </a:r>
                      <a:endParaRPr lang="en-AU" sz="1900" b="0" i="0" u="none" strike="noStrike">
                        <a:effectLst/>
                        <a:latin typeface="Arial" panose="020B0604020202020204" pitchFamily="34" charset="0"/>
                      </a:endParaRPr>
                    </a:p>
                  </a:txBody>
                  <a:tcPr marL="96385" marR="96385" marT="48193" marB="48193" anchor="ctr"/>
                </a:tc>
                <a:tc>
                  <a:txBody>
                    <a:bodyPr/>
                    <a:lstStyle/>
                    <a:p>
                      <a:pPr algn="l" fontAlgn="ctr">
                        <a:buNone/>
                      </a:pPr>
                      <a:r>
                        <a:rPr lang="en-AU" sz="1900" b="0" u="none" strike="noStrike">
                          <a:effectLst/>
                        </a:rPr>
                        <a:t>2</a:t>
                      </a:r>
                      <a:endParaRPr lang="en-AU" sz="1900" b="0" i="0" u="none" strike="noStrike">
                        <a:effectLst/>
                        <a:latin typeface="Arial" panose="020B0604020202020204" pitchFamily="34" charset="0"/>
                      </a:endParaRPr>
                    </a:p>
                  </a:txBody>
                  <a:tcPr marL="96385" marR="96385" marT="48193" marB="48193" anchor="ctr"/>
                </a:tc>
                <a:tc>
                  <a:txBody>
                    <a:bodyPr/>
                    <a:lstStyle/>
                    <a:p>
                      <a:pPr algn="l" fontAlgn="ctr">
                        <a:buNone/>
                      </a:pPr>
                      <a:r>
                        <a:rPr lang="en-AU" sz="1900" b="0" u="none" strike="noStrike">
                          <a:effectLst/>
                        </a:rPr>
                        <a:t>7,200</a:t>
                      </a:r>
                      <a:endParaRPr lang="en-AU" sz="1900" b="0" i="0" u="none" strike="noStrike">
                        <a:effectLst/>
                        <a:latin typeface="Arial" panose="020B0604020202020204" pitchFamily="34" charset="0"/>
                      </a:endParaRPr>
                    </a:p>
                  </a:txBody>
                  <a:tcPr marL="96385" marR="96385" marT="48193" marB="48193" anchor="ctr"/>
                </a:tc>
                <a:tc>
                  <a:txBody>
                    <a:bodyPr/>
                    <a:lstStyle/>
                    <a:p>
                      <a:pPr algn="l" fontAlgn="ctr">
                        <a:buNone/>
                      </a:pPr>
                      <a:r>
                        <a:rPr lang="en-AU" sz="1900" b="0" u="none" strike="noStrike">
                          <a:effectLst/>
                        </a:rPr>
                        <a:t>120</a:t>
                      </a:r>
                      <a:endParaRPr lang="en-AU" sz="1900" b="0" i="0" u="none" strike="noStrike">
                        <a:effectLst/>
                        <a:latin typeface="Arial" panose="020B0604020202020204" pitchFamily="34" charset="0"/>
                      </a:endParaRPr>
                    </a:p>
                  </a:txBody>
                  <a:tcPr marL="96385" marR="96385" marT="48193" marB="48193" anchor="ctr"/>
                </a:tc>
                <a:tc>
                  <a:txBody>
                    <a:bodyPr/>
                    <a:lstStyle/>
                    <a:p>
                      <a:pPr algn="l" fontAlgn="ctr">
                        <a:buNone/>
                      </a:pPr>
                      <a:r>
                        <a:rPr lang="en-AU" sz="1900" b="0" u="none" strike="noStrike">
                          <a:effectLst/>
                        </a:rPr>
                        <a:t>2,000 input + 500 output tokens ≈ 6.67 CU-min</a:t>
                      </a:r>
                      <a:endParaRPr lang="en-AU" sz="1900" b="0" i="0" u="none" strike="noStrike">
                        <a:effectLst/>
                        <a:latin typeface="Arial" panose="020B0604020202020204" pitchFamily="34" charset="0"/>
                      </a:endParaRPr>
                    </a:p>
                  </a:txBody>
                  <a:tcPr marL="96385" marR="96385" marT="48193" marB="48193" anchor="ctr"/>
                </a:tc>
                <a:extLst>
                  <a:ext uri="{0D108BD9-81ED-4DB2-BD59-A6C34878D82A}">
                    <a16:rowId xmlns:a16="http://schemas.microsoft.com/office/drawing/2014/main" val="1430008325"/>
                  </a:ext>
                </a:extLst>
              </a:tr>
              <a:tr h="713251">
                <a:tc>
                  <a:txBody>
                    <a:bodyPr/>
                    <a:lstStyle/>
                    <a:p>
                      <a:pPr algn="l" fontAlgn="ctr">
                        <a:buNone/>
                      </a:pPr>
                      <a:r>
                        <a:rPr lang="en-AU" sz="1900" b="1" u="none" strike="noStrike">
                          <a:effectLst/>
                        </a:rPr>
                        <a:t>F4</a:t>
                      </a:r>
                      <a:endParaRPr lang="en-AU" sz="1900" b="0" i="0" u="none" strike="noStrike">
                        <a:effectLst/>
                        <a:latin typeface="Arial" panose="020B0604020202020204" pitchFamily="34" charset="0"/>
                      </a:endParaRPr>
                    </a:p>
                  </a:txBody>
                  <a:tcPr marL="96385" marR="96385" marT="48193" marB="48193" anchor="ctr"/>
                </a:tc>
                <a:tc>
                  <a:txBody>
                    <a:bodyPr/>
                    <a:lstStyle/>
                    <a:p>
                      <a:pPr algn="l" fontAlgn="ctr">
                        <a:buNone/>
                      </a:pPr>
                      <a:r>
                        <a:rPr lang="en-AU" sz="1900" b="0" u="none" strike="noStrike">
                          <a:effectLst/>
                        </a:rPr>
                        <a:t>4</a:t>
                      </a:r>
                      <a:endParaRPr lang="en-AU" sz="1900" b="0" i="0" u="none" strike="noStrike">
                        <a:effectLst/>
                        <a:latin typeface="Arial" panose="020B0604020202020204" pitchFamily="34" charset="0"/>
                      </a:endParaRPr>
                    </a:p>
                  </a:txBody>
                  <a:tcPr marL="96385" marR="96385" marT="48193" marB="48193" anchor="ctr"/>
                </a:tc>
                <a:tc>
                  <a:txBody>
                    <a:bodyPr/>
                    <a:lstStyle/>
                    <a:p>
                      <a:pPr algn="l" fontAlgn="ctr">
                        <a:buNone/>
                      </a:pPr>
                      <a:r>
                        <a:rPr lang="en-AU" sz="1900" b="0" u="none" strike="noStrike">
                          <a:effectLst/>
                        </a:rPr>
                        <a:t>14,400</a:t>
                      </a:r>
                      <a:endParaRPr lang="en-AU" sz="1900" b="0" i="0" u="none" strike="noStrike">
                        <a:effectLst/>
                        <a:latin typeface="Arial" panose="020B0604020202020204" pitchFamily="34" charset="0"/>
                      </a:endParaRPr>
                    </a:p>
                  </a:txBody>
                  <a:tcPr marL="96385" marR="96385" marT="48193" marB="48193" anchor="ctr"/>
                </a:tc>
                <a:tc>
                  <a:txBody>
                    <a:bodyPr/>
                    <a:lstStyle/>
                    <a:p>
                      <a:pPr algn="l" fontAlgn="ctr">
                        <a:buNone/>
                      </a:pPr>
                      <a:r>
                        <a:rPr lang="en-AU" sz="1900" b="0" u="none" strike="noStrike">
                          <a:effectLst/>
                        </a:rPr>
                        <a:t>240</a:t>
                      </a:r>
                      <a:endParaRPr lang="en-AU" sz="1900" b="0" i="0" u="none" strike="noStrike">
                        <a:effectLst/>
                        <a:latin typeface="Arial" panose="020B0604020202020204" pitchFamily="34" charset="0"/>
                      </a:endParaRPr>
                    </a:p>
                  </a:txBody>
                  <a:tcPr marL="96385" marR="96385" marT="48193" marB="48193" anchor="ctr"/>
                </a:tc>
                <a:tc>
                  <a:txBody>
                    <a:bodyPr/>
                    <a:lstStyle/>
                    <a:p>
                      <a:pPr algn="l" fontAlgn="ctr">
                        <a:buNone/>
                      </a:pPr>
                      <a:r>
                        <a:rPr lang="en-AU" sz="1900" b="0" u="none" strike="noStrike">
                          <a:effectLst/>
                        </a:rPr>
                        <a:t>Same request ≈ 3.33 CU-min</a:t>
                      </a:r>
                      <a:endParaRPr lang="en-AU" sz="1900" b="0" i="0" u="none" strike="noStrike">
                        <a:effectLst/>
                        <a:latin typeface="Arial" panose="020B0604020202020204" pitchFamily="34" charset="0"/>
                      </a:endParaRPr>
                    </a:p>
                  </a:txBody>
                  <a:tcPr marL="96385" marR="96385" marT="48193" marB="48193" anchor="ctr"/>
                </a:tc>
                <a:extLst>
                  <a:ext uri="{0D108BD9-81ED-4DB2-BD59-A6C34878D82A}">
                    <a16:rowId xmlns:a16="http://schemas.microsoft.com/office/drawing/2014/main" val="3643132075"/>
                  </a:ext>
                </a:extLst>
              </a:tr>
              <a:tr h="713251">
                <a:tc>
                  <a:txBody>
                    <a:bodyPr/>
                    <a:lstStyle/>
                    <a:p>
                      <a:pPr algn="l" fontAlgn="ctr">
                        <a:buNone/>
                      </a:pPr>
                      <a:r>
                        <a:rPr lang="en-AU" sz="1900" b="1" u="none" strike="noStrike">
                          <a:effectLst/>
                        </a:rPr>
                        <a:t>F8</a:t>
                      </a:r>
                      <a:endParaRPr lang="en-AU" sz="1900" b="0" i="0" u="none" strike="noStrike">
                        <a:effectLst/>
                        <a:latin typeface="Arial" panose="020B0604020202020204" pitchFamily="34" charset="0"/>
                      </a:endParaRPr>
                    </a:p>
                  </a:txBody>
                  <a:tcPr marL="96385" marR="96385" marT="48193" marB="48193" anchor="ctr"/>
                </a:tc>
                <a:tc>
                  <a:txBody>
                    <a:bodyPr/>
                    <a:lstStyle/>
                    <a:p>
                      <a:pPr algn="l" fontAlgn="ctr">
                        <a:buNone/>
                      </a:pPr>
                      <a:r>
                        <a:rPr lang="en-AU" sz="1900" b="0" u="none" strike="noStrike">
                          <a:effectLst/>
                        </a:rPr>
                        <a:t>8</a:t>
                      </a:r>
                      <a:endParaRPr lang="en-AU" sz="1900" b="0" i="0" u="none" strike="noStrike">
                        <a:effectLst/>
                        <a:latin typeface="Arial" panose="020B0604020202020204" pitchFamily="34" charset="0"/>
                      </a:endParaRPr>
                    </a:p>
                  </a:txBody>
                  <a:tcPr marL="96385" marR="96385" marT="48193" marB="48193" anchor="ctr"/>
                </a:tc>
                <a:tc>
                  <a:txBody>
                    <a:bodyPr/>
                    <a:lstStyle/>
                    <a:p>
                      <a:pPr algn="l" fontAlgn="ctr">
                        <a:buNone/>
                      </a:pPr>
                      <a:r>
                        <a:rPr lang="en-AU" sz="1900" b="0" u="none" strike="noStrike">
                          <a:effectLst/>
                        </a:rPr>
                        <a:t>28,800</a:t>
                      </a:r>
                      <a:endParaRPr lang="en-AU" sz="1900" b="0" i="0" u="none" strike="noStrike">
                        <a:effectLst/>
                        <a:latin typeface="Arial" panose="020B0604020202020204" pitchFamily="34" charset="0"/>
                      </a:endParaRPr>
                    </a:p>
                  </a:txBody>
                  <a:tcPr marL="96385" marR="96385" marT="48193" marB="48193" anchor="ctr"/>
                </a:tc>
                <a:tc>
                  <a:txBody>
                    <a:bodyPr/>
                    <a:lstStyle/>
                    <a:p>
                      <a:pPr algn="l" fontAlgn="ctr">
                        <a:buNone/>
                      </a:pPr>
                      <a:r>
                        <a:rPr lang="en-AU" sz="1900" b="0" u="none" strike="noStrike">
                          <a:effectLst/>
                        </a:rPr>
                        <a:t>480</a:t>
                      </a:r>
                      <a:endParaRPr lang="en-AU" sz="1900" b="0" i="0" u="none" strike="noStrike">
                        <a:effectLst/>
                        <a:latin typeface="Arial" panose="020B0604020202020204" pitchFamily="34" charset="0"/>
                      </a:endParaRPr>
                    </a:p>
                  </a:txBody>
                  <a:tcPr marL="96385" marR="96385" marT="48193" marB="48193" anchor="ctr"/>
                </a:tc>
                <a:tc>
                  <a:txBody>
                    <a:bodyPr/>
                    <a:lstStyle/>
                    <a:p>
                      <a:pPr algn="l" fontAlgn="ctr">
                        <a:buNone/>
                      </a:pPr>
                      <a:r>
                        <a:rPr lang="en-AU" sz="1900" b="0" u="none" strike="noStrike">
                          <a:effectLst/>
                        </a:rPr>
                        <a:t>Same request ≈ 1.67 CU-min</a:t>
                      </a:r>
                      <a:endParaRPr lang="en-AU" sz="1900" b="0" i="0" u="none" strike="noStrike">
                        <a:effectLst/>
                        <a:latin typeface="Arial" panose="020B0604020202020204" pitchFamily="34" charset="0"/>
                      </a:endParaRPr>
                    </a:p>
                  </a:txBody>
                  <a:tcPr marL="96385" marR="96385" marT="48193" marB="48193" anchor="ctr"/>
                </a:tc>
                <a:extLst>
                  <a:ext uri="{0D108BD9-81ED-4DB2-BD59-A6C34878D82A}">
                    <a16:rowId xmlns:a16="http://schemas.microsoft.com/office/drawing/2014/main" val="3728436180"/>
                  </a:ext>
                </a:extLst>
              </a:tr>
              <a:tr h="713251">
                <a:tc>
                  <a:txBody>
                    <a:bodyPr/>
                    <a:lstStyle/>
                    <a:p>
                      <a:pPr algn="l" fontAlgn="ctr">
                        <a:buNone/>
                      </a:pPr>
                      <a:r>
                        <a:rPr lang="en-AU" sz="1900" b="1" u="none" strike="noStrike">
                          <a:effectLst/>
                        </a:rPr>
                        <a:t>F16</a:t>
                      </a:r>
                      <a:endParaRPr lang="en-AU" sz="1900" b="0" i="0" u="none" strike="noStrike">
                        <a:effectLst/>
                        <a:latin typeface="Arial" panose="020B0604020202020204" pitchFamily="34" charset="0"/>
                      </a:endParaRPr>
                    </a:p>
                  </a:txBody>
                  <a:tcPr marL="96385" marR="96385" marT="48193" marB="48193" anchor="ctr"/>
                </a:tc>
                <a:tc>
                  <a:txBody>
                    <a:bodyPr/>
                    <a:lstStyle/>
                    <a:p>
                      <a:pPr algn="l" fontAlgn="ctr">
                        <a:buNone/>
                      </a:pPr>
                      <a:r>
                        <a:rPr lang="en-AU" sz="1900" b="0" u="none" strike="noStrike">
                          <a:effectLst/>
                        </a:rPr>
                        <a:t>16</a:t>
                      </a:r>
                      <a:endParaRPr lang="en-AU" sz="1900" b="0" i="0" u="none" strike="noStrike">
                        <a:effectLst/>
                        <a:latin typeface="Arial" panose="020B0604020202020204" pitchFamily="34" charset="0"/>
                      </a:endParaRPr>
                    </a:p>
                  </a:txBody>
                  <a:tcPr marL="96385" marR="96385" marT="48193" marB="48193" anchor="ctr"/>
                </a:tc>
                <a:tc>
                  <a:txBody>
                    <a:bodyPr/>
                    <a:lstStyle/>
                    <a:p>
                      <a:pPr algn="l" fontAlgn="ctr">
                        <a:buNone/>
                      </a:pPr>
                      <a:r>
                        <a:rPr lang="en-AU" sz="1900" b="0" u="none" strike="noStrike">
                          <a:effectLst/>
                        </a:rPr>
                        <a:t>57,600</a:t>
                      </a:r>
                      <a:endParaRPr lang="en-AU" sz="1900" b="0" i="0" u="none" strike="noStrike">
                        <a:effectLst/>
                        <a:latin typeface="Arial" panose="020B0604020202020204" pitchFamily="34" charset="0"/>
                      </a:endParaRPr>
                    </a:p>
                  </a:txBody>
                  <a:tcPr marL="96385" marR="96385" marT="48193" marB="48193" anchor="ctr"/>
                </a:tc>
                <a:tc>
                  <a:txBody>
                    <a:bodyPr/>
                    <a:lstStyle/>
                    <a:p>
                      <a:pPr algn="l" fontAlgn="ctr">
                        <a:buNone/>
                      </a:pPr>
                      <a:r>
                        <a:rPr lang="en-AU" sz="1900" b="0" u="none" strike="noStrike">
                          <a:effectLst/>
                        </a:rPr>
                        <a:t>960</a:t>
                      </a:r>
                      <a:endParaRPr lang="en-AU" sz="1900" b="0" i="0" u="none" strike="noStrike">
                        <a:effectLst/>
                        <a:latin typeface="Arial" panose="020B0604020202020204" pitchFamily="34" charset="0"/>
                      </a:endParaRPr>
                    </a:p>
                  </a:txBody>
                  <a:tcPr marL="96385" marR="96385" marT="48193" marB="48193" anchor="ctr"/>
                </a:tc>
                <a:tc>
                  <a:txBody>
                    <a:bodyPr/>
                    <a:lstStyle/>
                    <a:p>
                      <a:pPr algn="l" fontAlgn="ctr">
                        <a:buNone/>
                      </a:pPr>
                      <a:r>
                        <a:rPr lang="en-AU" sz="1900" b="0" u="none" strike="noStrike">
                          <a:effectLst/>
                        </a:rPr>
                        <a:t>Same request ≈ 0.83 CU-min</a:t>
                      </a:r>
                      <a:endParaRPr lang="en-AU" sz="1900" b="0" i="0" u="none" strike="noStrike">
                        <a:effectLst/>
                        <a:latin typeface="Arial" panose="020B0604020202020204" pitchFamily="34" charset="0"/>
                      </a:endParaRPr>
                    </a:p>
                  </a:txBody>
                  <a:tcPr marL="96385" marR="96385" marT="48193" marB="48193" anchor="ctr"/>
                </a:tc>
                <a:extLst>
                  <a:ext uri="{0D108BD9-81ED-4DB2-BD59-A6C34878D82A}">
                    <a16:rowId xmlns:a16="http://schemas.microsoft.com/office/drawing/2014/main" val="1623039695"/>
                  </a:ext>
                </a:extLst>
              </a:tr>
              <a:tr h="713251">
                <a:tc>
                  <a:txBody>
                    <a:bodyPr/>
                    <a:lstStyle/>
                    <a:p>
                      <a:pPr algn="l" fontAlgn="ctr">
                        <a:buNone/>
                      </a:pPr>
                      <a:r>
                        <a:rPr lang="en-AU" sz="1900" b="1" u="none" strike="noStrike">
                          <a:effectLst/>
                        </a:rPr>
                        <a:t>F32</a:t>
                      </a:r>
                      <a:endParaRPr lang="en-AU" sz="1900" b="0" i="0" u="none" strike="noStrike">
                        <a:effectLst/>
                        <a:latin typeface="Arial" panose="020B0604020202020204" pitchFamily="34" charset="0"/>
                      </a:endParaRPr>
                    </a:p>
                  </a:txBody>
                  <a:tcPr marL="96385" marR="96385" marT="48193" marB="48193" anchor="ctr"/>
                </a:tc>
                <a:tc>
                  <a:txBody>
                    <a:bodyPr/>
                    <a:lstStyle/>
                    <a:p>
                      <a:pPr algn="l" fontAlgn="ctr">
                        <a:buNone/>
                      </a:pPr>
                      <a:r>
                        <a:rPr lang="en-AU" sz="1900" b="0" u="none" strike="noStrike">
                          <a:effectLst/>
                        </a:rPr>
                        <a:t>32</a:t>
                      </a:r>
                      <a:endParaRPr lang="en-AU" sz="1900" b="0" i="0" u="none" strike="noStrike">
                        <a:effectLst/>
                        <a:latin typeface="Arial" panose="020B0604020202020204" pitchFamily="34" charset="0"/>
                      </a:endParaRPr>
                    </a:p>
                  </a:txBody>
                  <a:tcPr marL="96385" marR="96385" marT="48193" marB="48193" anchor="ctr"/>
                </a:tc>
                <a:tc>
                  <a:txBody>
                    <a:bodyPr/>
                    <a:lstStyle/>
                    <a:p>
                      <a:pPr algn="l" fontAlgn="ctr">
                        <a:buNone/>
                      </a:pPr>
                      <a:r>
                        <a:rPr lang="en-AU" sz="1900" b="0" u="none" strike="noStrike">
                          <a:effectLst/>
                        </a:rPr>
                        <a:t>115,200</a:t>
                      </a:r>
                      <a:endParaRPr lang="en-AU" sz="1900" b="0" i="0" u="none" strike="noStrike">
                        <a:effectLst/>
                        <a:latin typeface="Arial" panose="020B0604020202020204" pitchFamily="34" charset="0"/>
                      </a:endParaRPr>
                    </a:p>
                  </a:txBody>
                  <a:tcPr marL="96385" marR="96385" marT="48193" marB="48193" anchor="ctr"/>
                </a:tc>
                <a:tc>
                  <a:txBody>
                    <a:bodyPr/>
                    <a:lstStyle/>
                    <a:p>
                      <a:pPr algn="l" fontAlgn="ctr">
                        <a:buNone/>
                      </a:pPr>
                      <a:r>
                        <a:rPr lang="en-AU" sz="1900" b="0" u="none" strike="noStrike">
                          <a:effectLst/>
                        </a:rPr>
                        <a:t>1,920</a:t>
                      </a:r>
                      <a:endParaRPr lang="en-AU" sz="1900" b="0" i="0" u="none" strike="noStrike">
                        <a:effectLst/>
                        <a:latin typeface="Arial" panose="020B0604020202020204" pitchFamily="34" charset="0"/>
                      </a:endParaRPr>
                    </a:p>
                  </a:txBody>
                  <a:tcPr marL="96385" marR="96385" marT="48193" marB="48193" anchor="ctr"/>
                </a:tc>
                <a:tc>
                  <a:txBody>
                    <a:bodyPr/>
                    <a:lstStyle/>
                    <a:p>
                      <a:pPr algn="l" fontAlgn="ctr">
                        <a:buNone/>
                      </a:pPr>
                      <a:r>
                        <a:rPr lang="en-AU" sz="1900" b="0" u="none" strike="noStrike">
                          <a:effectLst/>
                        </a:rPr>
                        <a:t>Same request ≈ 0.42 CU-min</a:t>
                      </a:r>
                      <a:endParaRPr lang="en-AU" sz="1900" b="0" i="0" u="none" strike="noStrike">
                        <a:effectLst/>
                        <a:latin typeface="Arial" panose="020B0604020202020204" pitchFamily="34" charset="0"/>
                      </a:endParaRPr>
                    </a:p>
                  </a:txBody>
                  <a:tcPr marL="96385" marR="96385" marT="48193" marB="48193" anchor="ctr"/>
                </a:tc>
                <a:extLst>
                  <a:ext uri="{0D108BD9-81ED-4DB2-BD59-A6C34878D82A}">
                    <a16:rowId xmlns:a16="http://schemas.microsoft.com/office/drawing/2014/main" val="671640957"/>
                  </a:ext>
                </a:extLst>
              </a:tr>
              <a:tr h="713251">
                <a:tc>
                  <a:txBody>
                    <a:bodyPr/>
                    <a:lstStyle/>
                    <a:p>
                      <a:pPr algn="l" fontAlgn="ctr">
                        <a:buNone/>
                      </a:pPr>
                      <a:r>
                        <a:rPr lang="en-AU" sz="1900" b="1" u="none" strike="noStrike">
                          <a:effectLst/>
                        </a:rPr>
                        <a:t>F64</a:t>
                      </a:r>
                      <a:endParaRPr lang="en-AU" sz="1900" b="0" i="0" u="none" strike="noStrike">
                        <a:effectLst/>
                        <a:latin typeface="Arial" panose="020B0604020202020204" pitchFamily="34" charset="0"/>
                      </a:endParaRPr>
                    </a:p>
                  </a:txBody>
                  <a:tcPr marL="96385" marR="96385" marT="48193" marB="48193" anchor="ctr"/>
                </a:tc>
                <a:tc>
                  <a:txBody>
                    <a:bodyPr/>
                    <a:lstStyle/>
                    <a:p>
                      <a:pPr algn="l" fontAlgn="ctr">
                        <a:buNone/>
                      </a:pPr>
                      <a:r>
                        <a:rPr lang="en-AU" sz="1900" b="0" u="none" strike="noStrike">
                          <a:effectLst/>
                        </a:rPr>
                        <a:t>64</a:t>
                      </a:r>
                      <a:endParaRPr lang="en-AU" sz="1900" b="0" i="0" u="none" strike="noStrike">
                        <a:effectLst/>
                        <a:latin typeface="Arial" panose="020B0604020202020204" pitchFamily="34" charset="0"/>
                      </a:endParaRPr>
                    </a:p>
                  </a:txBody>
                  <a:tcPr marL="96385" marR="96385" marT="48193" marB="48193" anchor="ctr"/>
                </a:tc>
                <a:tc>
                  <a:txBody>
                    <a:bodyPr/>
                    <a:lstStyle/>
                    <a:p>
                      <a:pPr algn="l" fontAlgn="ctr">
                        <a:buNone/>
                      </a:pPr>
                      <a:r>
                        <a:rPr lang="en-AU" sz="1900" b="0" u="none" strike="noStrike">
                          <a:effectLst/>
                        </a:rPr>
                        <a:t>230,400</a:t>
                      </a:r>
                      <a:endParaRPr lang="en-AU" sz="1900" b="0" i="0" u="none" strike="noStrike">
                        <a:effectLst/>
                        <a:latin typeface="Arial" panose="020B0604020202020204" pitchFamily="34" charset="0"/>
                      </a:endParaRPr>
                    </a:p>
                  </a:txBody>
                  <a:tcPr marL="96385" marR="96385" marT="48193" marB="48193" anchor="ctr"/>
                </a:tc>
                <a:tc>
                  <a:txBody>
                    <a:bodyPr/>
                    <a:lstStyle/>
                    <a:p>
                      <a:pPr algn="l" fontAlgn="ctr">
                        <a:buNone/>
                      </a:pPr>
                      <a:r>
                        <a:rPr lang="en-AU" sz="1900" b="0" u="none" strike="noStrike">
                          <a:effectLst/>
                        </a:rPr>
                        <a:t>3,840</a:t>
                      </a:r>
                      <a:endParaRPr lang="en-AU" sz="1900" b="0" i="0" u="none" strike="noStrike">
                        <a:effectLst/>
                        <a:latin typeface="Arial" panose="020B0604020202020204" pitchFamily="34" charset="0"/>
                      </a:endParaRPr>
                    </a:p>
                  </a:txBody>
                  <a:tcPr marL="96385" marR="96385" marT="48193" marB="48193" anchor="ctr"/>
                </a:tc>
                <a:tc>
                  <a:txBody>
                    <a:bodyPr/>
                    <a:lstStyle/>
                    <a:p>
                      <a:pPr algn="l" fontAlgn="ctr">
                        <a:buNone/>
                      </a:pPr>
                      <a:r>
                        <a:rPr lang="en-AU" sz="1900" b="0" u="none" strike="noStrike" dirty="0">
                          <a:effectLst/>
                        </a:rPr>
                        <a:t>Same request ≈ 0.21 CU-min</a:t>
                      </a:r>
                      <a:endParaRPr lang="en-AU" sz="1900" b="0" i="0" u="none" strike="noStrike" dirty="0">
                        <a:effectLst/>
                        <a:latin typeface="Arial" panose="020B0604020202020204" pitchFamily="34" charset="0"/>
                      </a:endParaRPr>
                    </a:p>
                  </a:txBody>
                  <a:tcPr marL="96385" marR="96385" marT="48193" marB="48193" anchor="ctr"/>
                </a:tc>
                <a:extLst>
                  <a:ext uri="{0D108BD9-81ED-4DB2-BD59-A6C34878D82A}">
                    <a16:rowId xmlns:a16="http://schemas.microsoft.com/office/drawing/2014/main" val="1395685623"/>
                  </a:ext>
                </a:extLst>
              </a:tr>
            </a:tbl>
          </a:graphicData>
        </a:graphic>
      </p:graphicFrame>
    </p:spTree>
    <p:extLst>
      <p:ext uri="{BB962C8B-B14F-4D97-AF65-F5344CB8AC3E}">
        <p14:creationId xmlns:p14="http://schemas.microsoft.com/office/powerpoint/2010/main" val="144272016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6" name="Rectangle 25">
            <a:extLst>
              <a:ext uri="{FF2B5EF4-FFF2-40B4-BE49-F238E27FC236}">
                <a16:creationId xmlns:a16="http://schemas.microsoft.com/office/drawing/2014/main" id="{AB8C311F-7253-4AED-9701-7FC0708C4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E2384209-CB15-4CDF-9D31-C44FD9A3F2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2666617" y="-2666188"/>
            <a:ext cx="6858000" cy="12191233"/>
          </a:xfrm>
          <a:prstGeom prst="rect">
            <a:avLst/>
          </a:prstGeom>
          <a:gradFill>
            <a:gsLst>
              <a:gs pos="8000">
                <a:schemeClr val="accent1"/>
              </a:gs>
              <a:gs pos="100000">
                <a:schemeClr val="accent1">
                  <a:lumMod val="5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2633B3B5-CC90-43F0-8714-D31D1F3F02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311" y="0"/>
            <a:ext cx="9070846" cy="6857572"/>
          </a:xfrm>
          <a:prstGeom prst="rect">
            <a:avLst/>
          </a:prstGeom>
          <a:gradFill>
            <a:gsLst>
              <a:gs pos="8000">
                <a:srgbClr val="000000">
                  <a:alpha val="52000"/>
                </a:srgbClr>
              </a:gs>
              <a:gs pos="100000">
                <a:schemeClr val="accent1"/>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A8D57A06-A426-446D-B02C-A2DC6B62E4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3649491" y="-1685840"/>
            <a:ext cx="4894564" cy="12193546"/>
          </a:xfrm>
          <a:prstGeom prst="rect">
            <a:avLst/>
          </a:prstGeom>
          <a:gradFill>
            <a:gsLst>
              <a:gs pos="0">
                <a:schemeClr val="accent5">
                  <a:lumMod val="60000"/>
                  <a:lumOff val="40000"/>
                  <a:alpha val="0"/>
                </a:schemeClr>
              </a:gs>
              <a:gs pos="100000">
                <a:srgbClr val="000000">
                  <a:alpha val="46000"/>
                </a:srgb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2" name="Table 1">
            <a:extLst>
              <a:ext uri="{FF2B5EF4-FFF2-40B4-BE49-F238E27FC236}">
                <a16:creationId xmlns:a16="http://schemas.microsoft.com/office/drawing/2014/main" id="{12BB0894-E531-308D-20C3-B70235173D13}"/>
              </a:ext>
            </a:extLst>
          </p:cNvPr>
          <p:cNvGraphicFramePr>
            <a:graphicFrameLocks noGrp="1"/>
          </p:cNvGraphicFramePr>
          <p:nvPr>
            <p:extLst>
              <p:ext uri="{D42A27DB-BD31-4B8C-83A1-F6EECF244321}">
                <p14:modId xmlns:p14="http://schemas.microsoft.com/office/powerpoint/2010/main" val="3195012175"/>
              </p:ext>
            </p:extLst>
          </p:nvPr>
        </p:nvGraphicFramePr>
        <p:xfrm>
          <a:off x="457200" y="400050"/>
          <a:ext cx="11277601" cy="6100763"/>
        </p:xfrm>
        <a:graphic>
          <a:graphicData uri="http://schemas.openxmlformats.org/drawingml/2006/table">
            <a:tbl>
              <a:tblPr firstRow="1" bandRow="1">
                <a:tableStyleId>{073A0DAA-6AF3-43AB-8588-CEC1D06C72B9}</a:tableStyleId>
              </a:tblPr>
              <a:tblGrid>
                <a:gridCol w="303336">
                  <a:extLst>
                    <a:ext uri="{9D8B030D-6E8A-4147-A177-3AD203B41FA5}">
                      <a16:colId xmlns:a16="http://schemas.microsoft.com/office/drawing/2014/main" val="1277731191"/>
                    </a:ext>
                  </a:extLst>
                </a:gridCol>
                <a:gridCol w="1768352">
                  <a:extLst>
                    <a:ext uri="{9D8B030D-6E8A-4147-A177-3AD203B41FA5}">
                      <a16:colId xmlns:a16="http://schemas.microsoft.com/office/drawing/2014/main" val="4145821092"/>
                    </a:ext>
                  </a:extLst>
                </a:gridCol>
                <a:gridCol w="5543550">
                  <a:extLst>
                    <a:ext uri="{9D8B030D-6E8A-4147-A177-3AD203B41FA5}">
                      <a16:colId xmlns:a16="http://schemas.microsoft.com/office/drawing/2014/main" val="1108505067"/>
                    </a:ext>
                  </a:extLst>
                </a:gridCol>
                <a:gridCol w="3662363">
                  <a:extLst>
                    <a:ext uri="{9D8B030D-6E8A-4147-A177-3AD203B41FA5}">
                      <a16:colId xmlns:a16="http://schemas.microsoft.com/office/drawing/2014/main" val="3286689688"/>
                    </a:ext>
                  </a:extLst>
                </a:gridCol>
              </a:tblGrid>
              <a:tr h="374100">
                <a:tc>
                  <a:txBody>
                    <a:bodyPr/>
                    <a:lstStyle/>
                    <a:p>
                      <a:pPr>
                        <a:buNone/>
                      </a:pPr>
                      <a:r>
                        <a:rPr lang="en-AU" sz="1400"/>
                        <a:t>#</a:t>
                      </a:r>
                    </a:p>
                  </a:txBody>
                  <a:tcPr marL="26095" marR="26095" marT="13047" marB="13047" anchor="ctr"/>
                </a:tc>
                <a:tc>
                  <a:txBody>
                    <a:bodyPr/>
                    <a:lstStyle/>
                    <a:p>
                      <a:pPr>
                        <a:buNone/>
                      </a:pPr>
                      <a:r>
                        <a:rPr lang="en-AU" sz="1400"/>
                        <a:t>Experience</a:t>
                      </a:r>
                    </a:p>
                  </a:txBody>
                  <a:tcPr marL="26095" marR="26095" marT="13047" marB="13047" anchor="ctr"/>
                </a:tc>
                <a:tc>
                  <a:txBody>
                    <a:bodyPr/>
                    <a:lstStyle/>
                    <a:p>
                      <a:pPr>
                        <a:buNone/>
                      </a:pPr>
                      <a:r>
                        <a:rPr lang="en-AU" sz="1400"/>
                        <a:t>What it is</a:t>
                      </a:r>
                    </a:p>
                  </a:txBody>
                  <a:tcPr marL="26095" marR="26095" marT="13047" marB="13047" anchor="ctr"/>
                </a:tc>
                <a:tc>
                  <a:txBody>
                    <a:bodyPr/>
                    <a:lstStyle/>
                    <a:p>
                      <a:pPr>
                        <a:buNone/>
                      </a:pPr>
                      <a:r>
                        <a:rPr lang="en-AU" sz="1400"/>
                        <a:t>Best for</a:t>
                      </a:r>
                    </a:p>
                  </a:txBody>
                  <a:tcPr marL="26095" marR="26095" marT="13047" marB="13047" anchor="ctr"/>
                </a:tc>
                <a:extLst>
                  <a:ext uri="{0D108BD9-81ED-4DB2-BD59-A6C34878D82A}">
                    <a16:rowId xmlns:a16="http://schemas.microsoft.com/office/drawing/2014/main" val="1891432666"/>
                  </a:ext>
                </a:extLst>
              </a:tr>
              <a:tr h="924981">
                <a:tc>
                  <a:txBody>
                    <a:bodyPr/>
                    <a:lstStyle/>
                    <a:p>
                      <a:pPr>
                        <a:buNone/>
                      </a:pPr>
                      <a:r>
                        <a:rPr lang="en-AU" sz="1400"/>
                        <a:t>1</a:t>
                      </a:r>
                    </a:p>
                  </a:txBody>
                  <a:tcPr marL="26095" marR="26095" marT="13047" marB="13047" anchor="ctr"/>
                </a:tc>
                <a:tc>
                  <a:txBody>
                    <a:bodyPr/>
                    <a:lstStyle/>
                    <a:p>
                      <a:pPr>
                        <a:buNone/>
                      </a:pPr>
                      <a:r>
                        <a:rPr lang="en-US" sz="1400" b="1"/>
                        <a:t>Copilot inside a Power BI report</a:t>
                      </a:r>
                      <a:endParaRPr lang="en-US" sz="1400"/>
                    </a:p>
                  </a:txBody>
                  <a:tcPr marL="26095" marR="26095" marT="13047" marB="13047" anchor="ctr"/>
                </a:tc>
                <a:tc>
                  <a:txBody>
                    <a:bodyPr/>
                    <a:lstStyle/>
                    <a:p>
                      <a:pPr>
                        <a:buNone/>
                      </a:pPr>
                      <a:r>
                        <a:rPr lang="en-US" sz="1400" dirty="0"/>
                        <a:t>Copilot pane that chats about the current report / semantic model, can build visuals, summarize and explore data in-context. </a:t>
                      </a:r>
                    </a:p>
                  </a:txBody>
                  <a:tcPr marL="26095" marR="26095" marT="13047" marB="13047" anchor="ctr"/>
                </a:tc>
                <a:tc>
                  <a:txBody>
                    <a:bodyPr/>
                    <a:lstStyle/>
                    <a:p>
                      <a:pPr>
                        <a:buNone/>
                      </a:pPr>
                      <a:r>
                        <a:rPr lang="en-US" sz="1400"/>
                        <a:t>Business users exploring a specific report; analysts building or refining that report.</a:t>
                      </a:r>
                    </a:p>
                  </a:txBody>
                  <a:tcPr marL="26095" marR="26095" marT="13047" marB="13047" anchor="ctr"/>
                </a:tc>
                <a:extLst>
                  <a:ext uri="{0D108BD9-81ED-4DB2-BD59-A6C34878D82A}">
                    <a16:rowId xmlns:a16="http://schemas.microsoft.com/office/drawing/2014/main" val="1248302888"/>
                  </a:ext>
                </a:extLst>
              </a:tr>
              <a:tr h="1200420">
                <a:tc>
                  <a:txBody>
                    <a:bodyPr/>
                    <a:lstStyle/>
                    <a:p>
                      <a:pPr>
                        <a:buNone/>
                      </a:pPr>
                      <a:r>
                        <a:rPr lang="en-AU" sz="1400"/>
                        <a:t>2</a:t>
                      </a:r>
                    </a:p>
                  </a:txBody>
                  <a:tcPr marL="26095" marR="26095" marT="13047" marB="13047" anchor="ctr"/>
                </a:tc>
                <a:tc>
                  <a:txBody>
                    <a:bodyPr/>
                    <a:lstStyle/>
                    <a:p>
                      <a:pPr>
                        <a:buNone/>
                      </a:pPr>
                      <a:r>
                        <a:rPr lang="en-US" sz="1400" b="1"/>
                        <a:t>Standalone Copilot in Power BI</a:t>
                      </a:r>
                      <a:endParaRPr lang="en-US" sz="1400"/>
                    </a:p>
                  </a:txBody>
                  <a:tcPr marL="26095" marR="26095" marT="13047" marB="13047" anchor="ctr"/>
                </a:tc>
                <a:tc>
                  <a:txBody>
                    <a:bodyPr/>
                    <a:lstStyle/>
                    <a:p>
                      <a:pPr>
                        <a:buNone/>
                      </a:pPr>
                      <a:r>
                        <a:rPr lang="en-US" sz="1400" dirty="0"/>
                        <a:t>Full-screen Copilot experience in Power BI that can search and chat over any report, semantic model, and Fabric data agent the user can access. </a:t>
                      </a:r>
                    </a:p>
                  </a:txBody>
                  <a:tcPr marL="26095" marR="26095" marT="13047" marB="13047" anchor="ctr"/>
                </a:tc>
                <a:tc>
                  <a:txBody>
                    <a:bodyPr/>
                    <a:lstStyle/>
                    <a:p>
                      <a:pPr>
                        <a:buNone/>
                      </a:pPr>
                      <a:r>
                        <a:rPr lang="en-US" sz="1400"/>
                        <a:t>RMs / execs who want a “single Copilot for analytics” across many reports/models.</a:t>
                      </a:r>
                    </a:p>
                  </a:txBody>
                  <a:tcPr marL="26095" marR="26095" marT="13047" marB="13047" anchor="ctr"/>
                </a:tc>
                <a:extLst>
                  <a:ext uri="{0D108BD9-81ED-4DB2-BD59-A6C34878D82A}">
                    <a16:rowId xmlns:a16="http://schemas.microsoft.com/office/drawing/2014/main" val="2094013739"/>
                  </a:ext>
                </a:extLst>
              </a:tr>
              <a:tr h="924981">
                <a:tc>
                  <a:txBody>
                    <a:bodyPr/>
                    <a:lstStyle/>
                    <a:p>
                      <a:pPr>
                        <a:buNone/>
                      </a:pPr>
                      <a:r>
                        <a:rPr lang="en-AU" sz="1400"/>
                        <a:t>3</a:t>
                      </a:r>
                    </a:p>
                  </a:txBody>
                  <a:tcPr marL="26095" marR="26095" marT="13047" marB="13047" anchor="ctr"/>
                </a:tc>
                <a:tc>
                  <a:txBody>
                    <a:bodyPr/>
                    <a:lstStyle/>
                    <a:p>
                      <a:pPr>
                        <a:buNone/>
                      </a:pPr>
                      <a:r>
                        <a:rPr lang="en-AU" sz="1400" b="1"/>
                        <a:t>Fabric Data Agent (standalone)</a:t>
                      </a:r>
                      <a:endParaRPr lang="en-AU" sz="1400"/>
                    </a:p>
                  </a:txBody>
                  <a:tcPr marL="26095" marR="26095" marT="13047" marB="13047" anchor="ctr"/>
                </a:tc>
                <a:tc>
                  <a:txBody>
                    <a:bodyPr/>
                    <a:lstStyle/>
                    <a:p>
                      <a:pPr>
                        <a:buNone/>
                      </a:pPr>
                      <a:r>
                        <a:rPr lang="en-US" sz="1400" dirty="0"/>
                        <a:t>A conversational Q&amp;A agent defined in Fabric that can query </a:t>
                      </a:r>
                      <a:r>
                        <a:rPr lang="en-US" sz="1400" dirty="0" err="1"/>
                        <a:t>lakehouses</a:t>
                      </a:r>
                      <a:r>
                        <a:rPr lang="en-US" sz="1400" dirty="0"/>
                        <a:t>, warehouses, Power BI semantic models, KQL DBs, etc.</a:t>
                      </a:r>
                    </a:p>
                  </a:txBody>
                  <a:tcPr marL="26095" marR="26095" marT="13047" marB="13047" anchor="ctr"/>
                </a:tc>
                <a:tc>
                  <a:txBody>
                    <a:bodyPr/>
                    <a:lstStyle/>
                    <a:p>
                      <a:pPr>
                        <a:buNone/>
                      </a:pPr>
                      <a:r>
                        <a:rPr lang="en-US" sz="1400"/>
                        <a:t>Building domain-specific “data brains” (e.g. Institutional Banking data agent, Risk data agent).</a:t>
                      </a:r>
                    </a:p>
                  </a:txBody>
                  <a:tcPr marL="26095" marR="26095" marT="13047" marB="13047" anchor="ctr"/>
                </a:tc>
                <a:extLst>
                  <a:ext uri="{0D108BD9-81ED-4DB2-BD59-A6C34878D82A}">
                    <a16:rowId xmlns:a16="http://schemas.microsoft.com/office/drawing/2014/main" val="78175764"/>
                  </a:ext>
                </a:extLst>
              </a:tr>
              <a:tr h="1475861">
                <a:tc>
                  <a:txBody>
                    <a:bodyPr/>
                    <a:lstStyle/>
                    <a:p>
                      <a:pPr>
                        <a:buNone/>
                      </a:pPr>
                      <a:r>
                        <a:rPr lang="en-AU" sz="1400"/>
                        <a:t>4</a:t>
                      </a:r>
                    </a:p>
                  </a:txBody>
                  <a:tcPr marL="26095" marR="26095" marT="13047" marB="13047" anchor="ctr"/>
                </a:tc>
                <a:tc>
                  <a:txBody>
                    <a:bodyPr/>
                    <a:lstStyle/>
                    <a:p>
                      <a:pPr>
                        <a:buNone/>
                      </a:pPr>
                      <a:r>
                        <a:rPr lang="en-US" sz="1400" b="1"/>
                        <a:t>Fabric Data Agent integrated into Copilot Studio</a:t>
                      </a:r>
                      <a:endParaRPr lang="en-US" sz="1400"/>
                    </a:p>
                  </a:txBody>
                  <a:tcPr marL="26095" marR="26095" marT="13047" marB="13047" anchor="ctr"/>
                </a:tc>
                <a:tc>
                  <a:txBody>
                    <a:bodyPr/>
                    <a:lstStyle/>
                    <a:p>
                      <a:pPr>
                        <a:buNone/>
                      </a:pPr>
                      <a:r>
                        <a:rPr lang="en-US" sz="1400" dirty="0"/>
                        <a:t>A Fabric data agent added as a connected agent inside Copilot Studio, so your Copilot Studio agent can call it for data Q&amp;A while also using tools, topics, connectors, and other agents. </a:t>
                      </a:r>
                    </a:p>
                  </a:txBody>
                  <a:tcPr marL="26095" marR="26095" marT="13047" marB="13047" anchor="ctr"/>
                </a:tc>
                <a:tc>
                  <a:txBody>
                    <a:bodyPr/>
                    <a:lstStyle/>
                    <a:p>
                      <a:pPr>
                        <a:buNone/>
                      </a:pPr>
                      <a:r>
                        <a:rPr lang="en-US" sz="1400"/>
                        <a:t>Enterprise copilots (in Teams, web, apps) that need Fabric data + business workflows + external systems (CRM, tickets, line-of-business apps).</a:t>
                      </a:r>
                    </a:p>
                  </a:txBody>
                  <a:tcPr marL="26095" marR="26095" marT="13047" marB="13047" anchor="ctr"/>
                </a:tc>
                <a:extLst>
                  <a:ext uri="{0D108BD9-81ED-4DB2-BD59-A6C34878D82A}">
                    <a16:rowId xmlns:a16="http://schemas.microsoft.com/office/drawing/2014/main" val="3680476914"/>
                  </a:ext>
                </a:extLst>
              </a:tr>
              <a:tr h="1200420">
                <a:tc>
                  <a:txBody>
                    <a:bodyPr/>
                    <a:lstStyle/>
                    <a:p>
                      <a:pPr>
                        <a:buNone/>
                      </a:pPr>
                      <a:r>
                        <a:rPr lang="en-AU" sz="1400"/>
                        <a:t>5</a:t>
                      </a:r>
                    </a:p>
                  </a:txBody>
                  <a:tcPr marL="26095" marR="26095" marT="13047" marB="13047" anchor="ctr"/>
                </a:tc>
                <a:tc>
                  <a:txBody>
                    <a:bodyPr/>
                    <a:lstStyle/>
                    <a:p>
                      <a:pPr>
                        <a:buNone/>
                      </a:pPr>
                      <a:r>
                        <a:rPr lang="en-US" sz="1400" b="1"/>
                        <a:t>Copilot Studio agent with Power BI connector to query datasets</a:t>
                      </a:r>
                      <a:endParaRPr lang="en-US" sz="1400"/>
                    </a:p>
                  </a:txBody>
                  <a:tcPr marL="26095" marR="26095" marT="13047" marB="13047" anchor="ctr"/>
                </a:tc>
                <a:tc>
                  <a:txBody>
                    <a:bodyPr/>
                    <a:lstStyle/>
                    <a:p>
                      <a:pPr>
                        <a:buNone/>
                      </a:pPr>
                      <a:r>
                        <a:rPr lang="en-US" sz="1400" dirty="0"/>
                        <a:t>Copilot Studio agent that calls the Power BI connector / APIs to execute queries against datasets, read reports, or trigger alerts.</a:t>
                      </a:r>
                    </a:p>
                  </a:txBody>
                  <a:tcPr marL="26095" marR="26095" marT="13047" marB="13047" anchor="ctr"/>
                </a:tc>
                <a:tc>
                  <a:txBody>
                    <a:bodyPr/>
                    <a:lstStyle/>
                    <a:p>
                      <a:pPr>
                        <a:buNone/>
                      </a:pPr>
                      <a:r>
                        <a:rPr lang="en-US" sz="1400" dirty="0"/>
                        <a:t>When you mainly need Power BI metrics but don’t (yet) have Fabric data agents, or you need very custom query logic / actions around a single dataset.</a:t>
                      </a:r>
                    </a:p>
                  </a:txBody>
                  <a:tcPr marL="26095" marR="26095" marT="13047" marB="13047" anchor="ctr"/>
                </a:tc>
                <a:extLst>
                  <a:ext uri="{0D108BD9-81ED-4DB2-BD59-A6C34878D82A}">
                    <a16:rowId xmlns:a16="http://schemas.microsoft.com/office/drawing/2014/main" val="2529937226"/>
                  </a:ext>
                </a:extLst>
              </a:tr>
            </a:tbl>
          </a:graphicData>
        </a:graphic>
      </p:graphicFrame>
    </p:spTree>
    <p:extLst>
      <p:ext uri="{BB962C8B-B14F-4D97-AF65-F5344CB8AC3E}">
        <p14:creationId xmlns:p14="http://schemas.microsoft.com/office/powerpoint/2010/main" val="247286588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56</TotalTime>
  <Words>1295</Words>
  <Application>Microsoft Office PowerPoint</Application>
  <PresentationFormat>Widescreen</PresentationFormat>
  <Paragraphs>112</Paragraphs>
  <Slides>14</Slides>
  <Notes>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14</vt:i4>
      </vt:variant>
    </vt:vector>
  </HeadingPairs>
  <TitlesOfParts>
    <vt:vector size="22" baseType="lpstr">
      <vt:lpstr>Aptos</vt:lpstr>
      <vt:lpstr>Aptos Display</vt:lpstr>
      <vt:lpstr>Arial</vt:lpstr>
      <vt:lpstr>Calibri</vt:lpstr>
      <vt:lpstr>Segoe Sans Text</vt:lpstr>
      <vt:lpstr>Segoe Sans Text Semibold</vt:lpstr>
      <vt:lpstr>Wingdings</vt:lpstr>
      <vt:lpstr>Office Theme</vt:lpstr>
      <vt:lpstr>Copilot in Fabric</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Ravikumar pasupuleti</dc:creator>
  <cp:lastModifiedBy>Ravikumar pasupuleti</cp:lastModifiedBy>
  <cp:revision>13</cp:revision>
  <dcterms:created xsi:type="dcterms:W3CDTF">2025-11-18T12:37:59Z</dcterms:created>
  <dcterms:modified xsi:type="dcterms:W3CDTF">2025-11-18T20:54:06Z</dcterms:modified>
</cp:coreProperties>
</file>
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93" r:id="rId2"/>
    <p:sldId id="296" r:id="rId3"/>
    <p:sldId id="295" r:id="rId4"/>
    <p:sldId id="297" r:id="rId5"/>
    <p:sldId id="298" r:id="rId6"/>
    <p:sldId id="299" r:id="rId7"/>
    <p:sldId id="300" r:id="rId8"/>
    <p:sldId id="301" r:id="rId9"/>
    <p:sldId id="302" r:id="rId10"/>
    <p:sldId id="303" r:id="rId11"/>
    <p:sldId id="304" r:id="rId12"/>
    <p:sldId id="305" r:id="rId13"/>
    <p:sldId id="30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2263" autoAdjust="0"/>
  </p:normalViewPr>
  <p:slideViewPr>
    <p:cSldViewPr snapToGrid="0">
      <p:cViewPr varScale="1">
        <p:scale>
          <a:sx n="45" d="100"/>
          <a:sy n="45" d="100"/>
        </p:scale>
        <p:origin x="1496" y="2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644A52-903E-4871-B160-2603F125808E}" type="datetimeFigureOut">
              <a:rPr lang="en-AU" smtClean="0"/>
              <a:t>19/11/2025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3588F27-7D87-4EC6-95FC-D7E5994196E5}" type="slidenum">
              <a:rPr lang="en-AU" smtClean="0"/>
              <a:t>‹#›</a:t>
            </a:fld>
            <a:endParaRPr lang="en-AU"/>
          </a:p>
        </p:txBody>
      </p:sp>
    </p:spTree>
    <p:extLst>
      <p:ext uri="{BB962C8B-B14F-4D97-AF65-F5344CB8AC3E}">
        <p14:creationId xmlns:p14="http://schemas.microsoft.com/office/powerpoint/2010/main" val="32893377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54A4EC1-C524-ED45-A185-10510AA0C8D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799658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73588F27-7D87-4EC6-95FC-D7E5994196E5}" type="slidenum">
              <a:rPr lang="en-AU" smtClean="0"/>
              <a:t>6</a:t>
            </a:fld>
            <a:endParaRPr lang="en-AU"/>
          </a:p>
        </p:txBody>
      </p:sp>
    </p:spTree>
    <p:extLst>
      <p:ext uri="{BB962C8B-B14F-4D97-AF65-F5344CB8AC3E}">
        <p14:creationId xmlns:p14="http://schemas.microsoft.com/office/powerpoint/2010/main" val="9396012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3114D-F497-8518-982C-E18929A7F7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1B8FE-D1E1-A4ED-B328-8EE6C7BE85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25F56F-C4C6-D147-A047-77D9ED923E95}"/>
              </a:ext>
            </a:extLst>
          </p:cNvPr>
          <p:cNvSpPr>
            <a:spLocks noGrp="1"/>
          </p:cNvSpPr>
          <p:nvPr>
            <p:ph type="body" idx="1"/>
          </p:nvPr>
        </p:nvSpPr>
        <p:spPr/>
        <p:txBody>
          <a:bodyPr/>
          <a:lstStyle/>
          <a:p>
            <a:endParaRPr lang="en-AU" dirty="0"/>
          </a:p>
        </p:txBody>
      </p:sp>
      <p:sp>
        <p:nvSpPr>
          <p:cNvPr id="4" name="Slide Number Placeholder 3">
            <a:extLst>
              <a:ext uri="{FF2B5EF4-FFF2-40B4-BE49-F238E27FC236}">
                <a16:creationId xmlns:a16="http://schemas.microsoft.com/office/drawing/2014/main" id="{F9CCC4C4-1EE0-1CD8-131A-EFC90390B95B}"/>
              </a:ext>
            </a:extLst>
          </p:cNvPr>
          <p:cNvSpPr>
            <a:spLocks noGrp="1"/>
          </p:cNvSpPr>
          <p:nvPr>
            <p:ph type="sldNum" sz="quarter" idx="5"/>
          </p:nvPr>
        </p:nvSpPr>
        <p:spPr/>
        <p:txBody>
          <a:bodyPr/>
          <a:lstStyle/>
          <a:p>
            <a:fld id="{73588F27-7D87-4EC6-95FC-D7E5994196E5}" type="slidenum">
              <a:rPr lang="en-AU" smtClean="0"/>
              <a:t>7</a:t>
            </a:fld>
            <a:endParaRPr lang="en-AU"/>
          </a:p>
        </p:txBody>
      </p:sp>
    </p:spTree>
    <p:extLst>
      <p:ext uri="{BB962C8B-B14F-4D97-AF65-F5344CB8AC3E}">
        <p14:creationId xmlns:p14="http://schemas.microsoft.com/office/powerpoint/2010/main" val="9011103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5DAD47-5FDC-2CB5-AF14-C079524D68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C0BD56AC-6D1A-F3E2-8107-29E6208D29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1C3B70B-6663-0D0E-F0B5-3F81FA566DC9}"/>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4C87D66A-6FB4-47B7-8C1F-3031A40CFF7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4C121B2-DED7-E583-DFD5-A04939DDEC77}"/>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41817548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8850E-A487-D7B0-C8E1-F526BA18850E}"/>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CB341294-8446-5639-C14C-860D8D5A93A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27C3DE3-1994-433E-307F-BFCE0EAE1DFD}"/>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75A2A843-FCCA-16B8-65E1-F0BC418648D3}"/>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9DD618E-D51D-EF70-333F-C776EBE19E55}"/>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1040782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57444-D244-5516-268E-B724B8ACAA1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1583ACC7-4494-5EB4-DA25-0FE2D410B45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97730A0-4A1A-06B1-6CF3-0A4BBA1304B0}"/>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68A6A7C6-3F6D-4F38-8BD9-DBD63F7E212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885F05B-9C50-2CBB-82CF-4A8CA009984F}"/>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4014161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B9DDE7-26D8-1116-6EDD-99FA9E3D90D5}"/>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8558274-9001-922F-C589-6E7220EB717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50AAB7CE-4048-4379-2D60-9BBFEEFC8AD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87103BAA-B191-8EF3-0064-9A04DB9A6ADE}"/>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6" name="Footer Placeholder 5">
            <a:extLst>
              <a:ext uri="{FF2B5EF4-FFF2-40B4-BE49-F238E27FC236}">
                <a16:creationId xmlns:a16="http://schemas.microsoft.com/office/drawing/2014/main" id="{CC24CF13-AA12-E6DF-D786-794D7F55D3B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89C4273-2901-D1F9-0363-0C80D048A0CB}"/>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21307488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E6CEE-379E-65D4-93B1-A07C316DC30C}"/>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751125C8-A7EA-051A-4FDA-2704B681D8D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5333F1-A74A-FDAB-5416-D501C6D010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7F2CCA9-2B60-97BB-8EBC-21DE2B11F63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5975-2A45-6F41-9BB3-435CE279E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D632C750-0ED6-1065-0624-BD38317ABF5D}"/>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8" name="Footer Placeholder 7">
            <a:extLst>
              <a:ext uri="{FF2B5EF4-FFF2-40B4-BE49-F238E27FC236}">
                <a16:creationId xmlns:a16="http://schemas.microsoft.com/office/drawing/2014/main" id="{09F1FC3A-4E04-C297-FB2B-C68B43A8C5E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95199AAE-189A-15BA-807D-489EBEF8088F}"/>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15771437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A47B3-E0A6-6FD1-AB50-9FB923763E54}"/>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158DA605-73A3-21BB-8744-A5BFFA8DCB91}"/>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4" name="Footer Placeholder 3">
            <a:extLst>
              <a:ext uri="{FF2B5EF4-FFF2-40B4-BE49-F238E27FC236}">
                <a16:creationId xmlns:a16="http://schemas.microsoft.com/office/drawing/2014/main" id="{75CDBAAF-7D94-A65A-8C4D-A8C9ADD7E11E}"/>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3815C48D-73B0-C1B7-87A6-4A675795781F}"/>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27069790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4B086A0-5733-EE56-0874-23A21196C84F}"/>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3" name="Footer Placeholder 2">
            <a:extLst>
              <a:ext uri="{FF2B5EF4-FFF2-40B4-BE49-F238E27FC236}">
                <a16:creationId xmlns:a16="http://schemas.microsoft.com/office/drawing/2014/main" id="{6EFB0E34-2B57-27C1-E40F-AC3F3D66FF5B}"/>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BE33A117-EB3E-2FBB-9A3A-3DF6A15BA140}"/>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3764819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BBF5F-15E2-9CF7-6ABE-DD9DF44891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8C4A0C0D-524C-5668-DCB7-D3926397F8F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8C087D61-D24C-549B-4B12-762AFFA7A45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226461-D2BD-78D7-C688-BE166C80C315}"/>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6" name="Footer Placeholder 5">
            <a:extLst>
              <a:ext uri="{FF2B5EF4-FFF2-40B4-BE49-F238E27FC236}">
                <a16:creationId xmlns:a16="http://schemas.microsoft.com/office/drawing/2014/main" id="{C9472D94-6B02-5532-E838-EB5B8DE7E6F0}"/>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E9B7DF7-C98C-1E1A-864E-6EB17EF8D54B}"/>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1841332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7D6C4-D6E5-EAD9-9EA9-2AAFB3E8451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CA8585F-9357-0BD0-A9F8-F3C1C0FC73C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F3AC094E-A85A-1621-4386-04A6731513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45296-C997-6FA8-A97A-A7DABD3B97B6}"/>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6" name="Footer Placeholder 5">
            <a:extLst>
              <a:ext uri="{FF2B5EF4-FFF2-40B4-BE49-F238E27FC236}">
                <a16:creationId xmlns:a16="http://schemas.microsoft.com/office/drawing/2014/main" id="{F2831E0A-C703-F329-6158-965B4CB15CC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F2931150-688D-1E88-06E3-773CF728C074}"/>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2332512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0647E-5046-24C6-C3F2-4E38293ECAE2}"/>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7ADA652-998C-5795-35CB-79F99110B36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F326B28-8553-DFD4-FECA-C042B69D4365}"/>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C45DE14C-76C4-5408-445B-9EE6C35668B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22B4BCD-19C3-6F82-AEC4-5E1C3DE8D1F7}"/>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3084264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65F478-EFC5-C078-6E12-4D35BD05A48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884CB59A-DA8B-841C-D323-0EB11E51333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0AE79B3-312E-5F00-183F-925262357116}"/>
              </a:ext>
            </a:extLst>
          </p:cNvPr>
          <p:cNvSpPr>
            <a:spLocks noGrp="1"/>
          </p:cNvSpPr>
          <p:nvPr>
            <p:ph type="dt" sz="half" idx="10"/>
          </p:nvPr>
        </p:nvSpPr>
        <p:spPr/>
        <p:txBody>
          <a:body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1A42B9C5-887E-253D-879D-C37FDEBE990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DC361E-6CB1-4AA9-6058-D751B0318761}"/>
              </a:ext>
            </a:extLst>
          </p:cNvPr>
          <p:cNvSpPr>
            <a:spLocks noGrp="1"/>
          </p:cNvSpPr>
          <p:nvPr>
            <p:ph type="sldNum" sz="quarter" idx="12"/>
          </p:nvPr>
        </p:nvSpPr>
        <p:spPr/>
        <p:txBody>
          <a:bodyPr/>
          <a:lstStyle/>
          <a:p>
            <a:fld id="{126420BC-4690-4AB5-A138-F39DF2867DCD}" type="slidenum">
              <a:rPr lang="en-AU" smtClean="0"/>
              <a:t>‹#›</a:t>
            </a:fld>
            <a:endParaRPr lang="en-AU"/>
          </a:p>
        </p:txBody>
      </p:sp>
    </p:spTree>
    <p:extLst>
      <p:ext uri="{BB962C8B-B14F-4D97-AF65-F5344CB8AC3E}">
        <p14:creationId xmlns:p14="http://schemas.microsoft.com/office/powerpoint/2010/main" val="24162608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ection Title - Data 1">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vert="horz" wrap="square" lIns="0" tIns="0" rIns="0" bIns="0" rtlCol="0" anchor="b" anchorCtr="0">
            <a:spAutoFit/>
          </a:bodyPr>
          <a:lstStyle>
            <a:lvl1pPr>
              <a:defRPr lang="en-US" sz="4000" b="0" dirty="0">
                <a:solidFill>
                  <a:schemeClr val="bg1"/>
                </a:solidFill>
                <a:latin typeface="+mj-lt"/>
              </a:defRPr>
            </a:lvl1pPr>
          </a:lstStyle>
          <a:p>
            <a:pPr lvl="0">
              <a:lnSpc>
                <a:spcPct val="90000"/>
              </a:lnSpc>
            </a:pPr>
            <a:r>
              <a:rPr lang="en-US"/>
              <a:t>Section title</a:t>
            </a:r>
          </a:p>
        </p:txBody>
      </p:sp>
    </p:spTree>
    <p:extLst>
      <p:ext uri="{BB962C8B-B14F-4D97-AF65-F5344CB8AC3E}">
        <p14:creationId xmlns:p14="http://schemas.microsoft.com/office/powerpoint/2010/main" val="175983275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EBD179-7E86-F266-4723-AA508ADAF75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B91BEB52-A879-1847-DA1E-AA7DD66F9E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7DA9FDC-4635-430A-644B-8ED0A95156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EA847C5-2B01-4A68-AAF0-23BF3BEFF0E4}" type="datetimeFigureOut">
              <a:rPr lang="en-AU" smtClean="0"/>
              <a:t>19/11/2025</a:t>
            </a:fld>
            <a:endParaRPr lang="en-AU"/>
          </a:p>
        </p:txBody>
      </p:sp>
      <p:sp>
        <p:nvSpPr>
          <p:cNvPr id="5" name="Footer Placeholder 4">
            <a:extLst>
              <a:ext uri="{FF2B5EF4-FFF2-40B4-BE49-F238E27FC236}">
                <a16:creationId xmlns:a16="http://schemas.microsoft.com/office/drawing/2014/main" id="{D2CDBDCC-19CE-E401-8B21-9032F4FB66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986FB21F-08D7-C49C-068E-A2FC6A92DE0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26420BC-4690-4AB5-A138-F39DF2867DCD}" type="slidenum">
              <a:rPr lang="en-AU" smtClean="0"/>
              <a:t>‹#›</a:t>
            </a:fld>
            <a:endParaRPr lang="en-AU"/>
          </a:p>
        </p:txBody>
      </p:sp>
    </p:spTree>
    <p:extLst>
      <p:ext uri="{BB962C8B-B14F-4D97-AF65-F5344CB8AC3E}">
        <p14:creationId xmlns:p14="http://schemas.microsoft.com/office/powerpoint/2010/main" val="12229002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hyperlink" Target="https://aka.ms/Copilot-Billing-Docs"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learn.microsoft.com/en-us/power-bi/create-reports/copilot-power-bi-desktop?utm_source=chatgpt.com" TargetMode="External"/><Relationship Id="rId2" Type="http://schemas.openxmlformats.org/officeDocument/2006/relationships/hyperlink" Target="https://learn.microsoft.com/en-us/power-bi/create-reports/copilot-enable-power-bi?utm_source=chatgpt.com" TargetMode="External"/><Relationship Id="rId1" Type="http://schemas.openxmlformats.org/officeDocument/2006/relationships/slideLayout" Target="../slideLayouts/slideLayout7.xml"/><Relationship Id="rId5" Type="http://schemas.openxmlformats.org/officeDocument/2006/relationships/hyperlink" Target="https://blog.atwork.at/post.aspx?id=afc7a8e6-373b-4fb4-bd81-5f9ec8701b6d&amp;utm_source=chatgpt.com" TargetMode="External"/><Relationship Id="rId4" Type="http://schemas.openxmlformats.org/officeDocument/2006/relationships/hyperlink" Target="https://learn.microsoft.com/en-us/power-bi/create-reports/copilot-introduction?utm_source=chatgpt.com" TargetMode="Externa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FB51733-ACCB-97C0-BE3A-C2EB29E8B127}"/>
              </a:ext>
            </a:extLst>
          </p:cNvPr>
          <p:cNvSpPr>
            <a:spLocks noGrp="1"/>
          </p:cNvSpPr>
          <p:nvPr>
            <p:ph type="title"/>
          </p:nvPr>
        </p:nvSpPr>
        <p:spPr>
          <a:xfrm>
            <a:off x="585216" y="2980408"/>
            <a:ext cx="9144000" cy="553998"/>
          </a:xfrm>
        </p:spPr>
        <p:txBody>
          <a:bodyPr/>
          <a:lstStyle/>
          <a:p>
            <a:r>
              <a:rPr lang="en-US"/>
              <a:t>Copilot in Fabric</a:t>
            </a:r>
          </a:p>
        </p:txBody>
      </p:sp>
    </p:spTree>
    <p:extLst>
      <p:ext uri="{BB962C8B-B14F-4D97-AF65-F5344CB8AC3E}">
        <p14:creationId xmlns:p14="http://schemas.microsoft.com/office/powerpoint/2010/main" val="9066571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ounded Rectangle 10">
            <a:extLst>
              <a:ext uri="{FF2B5EF4-FFF2-40B4-BE49-F238E27FC236}">
                <a16:creationId xmlns:a16="http://schemas.microsoft.com/office/drawing/2014/main" id="{52B5C28D-070B-E8DD-C09B-156C1C41C661}"/>
              </a:ext>
              <a:ext uri="{C183D7F6-B498-43B3-948B-1728B52AA6E4}">
                <adec:decorative xmlns:adec="http://schemas.microsoft.com/office/drawing/2017/decorative" val="1"/>
              </a:ext>
            </a:extLst>
          </p:cNvPr>
          <p:cNvSpPr/>
          <p:nvPr/>
        </p:nvSpPr>
        <p:spPr bwMode="auto">
          <a:xfrm>
            <a:off x="4356100" y="997897"/>
            <a:ext cx="7249301" cy="4979410"/>
          </a:xfrm>
          <a:prstGeom prst="roundRect">
            <a:avLst>
              <a:gd name="adj" fmla="val 4013"/>
            </a:avLst>
          </a:prstGeom>
          <a:solidFill>
            <a:schemeClr val="bg1">
              <a:alpha val="85000"/>
            </a:schemeClr>
          </a:solidFill>
          <a:ln w="25400">
            <a:gradFill flip="none" rotWithShape="1">
              <a:gsLst>
                <a:gs pos="0">
                  <a:schemeClr val="accent3"/>
                </a:gs>
                <a:gs pos="50000">
                  <a:schemeClr val="accent1"/>
                </a:gs>
                <a:gs pos="100000">
                  <a:srgbClr val="8661C5"/>
                </a:gs>
              </a:gsLst>
              <a:lin ang="0" scaled="1"/>
              <a:tileRect/>
            </a:gradFill>
          </a:ln>
          <a:effectLst>
            <a:outerShdw blurRad="190500" dist="63500" dir="8100000" algn="tr" rotWithShape="0">
              <a:schemeClr val="bg1">
                <a:lumMod val="50000"/>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tIns="1280160" rtlCol="0" anchor="t">
            <a:noAutofit/>
          </a:bodyP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err="1">
              <a:ln>
                <a:noFill/>
              </a:ln>
              <a:solidFill>
                <a:srgbClr val="0078D4"/>
              </a:solidFill>
              <a:effectLst/>
              <a:uLnTx/>
              <a:uFillTx/>
              <a:latin typeface="Segoe Sans Text Semibold"/>
              <a:ea typeface="+mn-ea"/>
              <a:cs typeface="+mn-cs"/>
            </a:endParaRPr>
          </a:p>
        </p:txBody>
      </p:sp>
      <p:cxnSp>
        <p:nvCxnSpPr>
          <p:cNvPr id="3" name="Straight Connector 2">
            <a:extLst>
              <a:ext uri="{FF2B5EF4-FFF2-40B4-BE49-F238E27FC236}">
                <a16:creationId xmlns:a16="http://schemas.microsoft.com/office/drawing/2014/main" id="{C959226D-64AB-C4DC-45EF-BC8C11A9B2AA}"/>
              </a:ext>
              <a:ext uri="{C183D7F6-B498-43B3-948B-1728B52AA6E4}">
                <adec:decorative xmlns:adec="http://schemas.microsoft.com/office/drawing/2017/decorative" val="1"/>
              </a:ext>
            </a:extLst>
          </p:cNvPr>
          <p:cNvCxnSpPr>
            <a:cxnSpLocks/>
          </p:cNvCxnSpPr>
          <p:nvPr/>
        </p:nvCxnSpPr>
        <p:spPr>
          <a:xfrm>
            <a:off x="4635500" y="2808811"/>
            <a:ext cx="6690500" cy="0"/>
          </a:xfrm>
          <a:prstGeom prst="line">
            <a:avLst/>
          </a:prstGeom>
          <a:ln w="635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sp>
        <p:nvSpPr>
          <p:cNvPr id="4" name="Title 5">
            <a:extLst>
              <a:ext uri="{FF2B5EF4-FFF2-40B4-BE49-F238E27FC236}">
                <a16:creationId xmlns:a16="http://schemas.microsoft.com/office/drawing/2014/main" id="{38EC8676-B6C0-B31E-2FA7-DCB69BB21DB8}"/>
              </a:ext>
            </a:extLst>
          </p:cNvPr>
          <p:cNvSpPr txBox="1">
            <a:spLocks/>
          </p:cNvSpPr>
          <p:nvPr/>
        </p:nvSpPr>
        <p:spPr>
          <a:xfrm>
            <a:off x="588263" y="2871651"/>
            <a:ext cx="3234437" cy="1231901"/>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Copilot in Microsoft Fabric</a:t>
            </a:r>
            <a:endParaRPr lang="en-US" dirty="0"/>
          </a:p>
        </p:txBody>
      </p:sp>
      <p:sp>
        <p:nvSpPr>
          <p:cNvPr id="5" name="TextBox 4">
            <a:extLst>
              <a:ext uri="{FF2B5EF4-FFF2-40B4-BE49-F238E27FC236}">
                <a16:creationId xmlns:a16="http://schemas.microsoft.com/office/drawing/2014/main" id="{C05E2866-6971-6BDE-0F98-1BB3A3662A7A}"/>
              </a:ext>
            </a:extLst>
          </p:cNvPr>
          <p:cNvSpPr txBox="1">
            <a:spLocks/>
          </p:cNvSpPr>
          <p:nvPr/>
        </p:nvSpPr>
        <p:spPr>
          <a:xfrm>
            <a:off x="4635500" y="1500379"/>
            <a:ext cx="6690500" cy="1015663"/>
          </a:xfrm>
          <a:prstGeom prst="rect">
            <a:avLst/>
          </a:prstGeom>
        </p:spPr>
        <p:txBody>
          <a:bodyPr wrap="square" l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a:ln>
                  <a:noFill/>
                </a:ln>
                <a:solidFill>
                  <a:srgbClr val="000000"/>
                </a:solidFill>
                <a:effectLst/>
                <a:uLnTx/>
                <a:uFillTx/>
                <a:latin typeface="Segoe Sans Text"/>
                <a:ea typeface="+mn-ea"/>
                <a:cs typeface="+mn-cs"/>
              </a:rPr>
              <a:t>You can simply count Copilot usage against your existing Fabric or Power BI Premium capacity just like any other Fabric capability.</a:t>
            </a:r>
          </a:p>
        </p:txBody>
      </p:sp>
      <p:sp>
        <p:nvSpPr>
          <p:cNvPr id="6" name="TextBox 5">
            <a:extLst>
              <a:ext uri="{FF2B5EF4-FFF2-40B4-BE49-F238E27FC236}">
                <a16:creationId xmlns:a16="http://schemas.microsoft.com/office/drawing/2014/main" id="{C7F85202-F8F5-45B0-5B61-E5CA74147909}"/>
              </a:ext>
            </a:extLst>
          </p:cNvPr>
          <p:cNvSpPr txBox="1">
            <a:spLocks/>
          </p:cNvSpPr>
          <p:nvPr/>
        </p:nvSpPr>
        <p:spPr>
          <a:xfrm>
            <a:off x="4635500" y="3101580"/>
            <a:ext cx="6690500" cy="1015663"/>
          </a:xfrm>
          <a:prstGeom prst="rect">
            <a:avLst/>
          </a:prstGeom>
        </p:spPr>
        <p:txBody>
          <a:bodyPr wrap="square" l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000000"/>
                </a:solidFill>
                <a:effectLst/>
                <a:uLnTx/>
                <a:uFillTx/>
                <a:latin typeface="Segoe Sans Text"/>
                <a:ea typeface="+mn-ea"/>
                <a:cs typeface="+mn-cs"/>
              </a:rPr>
              <a:t>Copilot in Fabric usage is charged at a rate of 100 Capacity Units seconds per 1,000 input tokens and 400 Capacity Units seconds per 1,000 output tokens.</a:t>
            </a:r>
          </a:p>
        </p:txBody>
      </p:sp>
      <p:sp>
        <p:nvSpPr>
          <p:cNvPr id="7" name="TextBox 6">
            <a:extLst>
              <a:ext uri="{FF2B5EF4-FFF2-40B4-BE49-F238E27FC236}">
                <a16:creationId xmlns:a16="http://schemas.microsoft.com/office/drawing/2014/main" id="{9602BCF5-2E79-4D97-754C-A74B08499541}"/>
              </a:ext>
            </a:extLst>
          </p:cNvPr>
          <p:cNvSpPr txBox="1">
            <a:spLocks/>
          </p:cNvSpPr>
          <p:nvPr/>
        </p:nvSpPr>
        <p:spPr>
          <a:xfrm>
            <a:off x="4635500" y="4619724"/>
            <a:ext cx="6690500" cy="1073967"/>
          </a:xfrm>
          <a:prstGeom prst="roundRect">
            <a:avLst>
              <a:gd name="adj" fmla="val 14775"/>
            </a:avLst>
          </a:prstGeom>
          <a:gradFill flip="none" rotWithShape="1">
            <a:gsLst>
              <a:gs pos="0">
                <a:schemeClr val="accent3"/>
              </a:gs>
              <a:gs pos="100000">
                <a:srgbClr val="8661C5"/>
              </a:gs>
              <a:gs pos="52000">
                <a:schemeClr val="tx2"/>
              </a:gs>
            </a:gsLst>
            <a:path path="circle">
              <a:fillToRect r="100000" b="100000"/>
            </a:path>
            <a:tileRect l="-100000" t="-100000"/>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defRPr lang="en-US"/>
            </a:defPPr>
            <a:lvl1pPr marL="12700" marR="0" lvl="0" indent="0" algn="ctr" defTabSz="932742" fontAlgn="auto">
              <a:lnSpc>
                <a:spcPct val="100000"/>
              </a:lnSpc>
              <a:spcBef>
                <a:spcPct val="20000"/>
              </a:spcBef>
              <a:spcAft>
                <a:spcPts val="0"/>
              </a:spcAft>
              <a:buClrTx/>
              <a:buSzPct val="90000"/>
              <a:buFont typeface="Wingdings" panose="05000000000000000000" pitchFamily="2" charset="2"/>
              <a:buNone/>
              <a:tabLst/>
              <a:defRPr kumimoji="0" sz="2000" b="0" i="0" u="none" strike="noStrike" cap="none" spc="0" normalizeH="0" baseline="0">
                <a:ln>
                  <a:noFill/>
                </a:ln>
                <a:solidFill>
                  <a:schemeClr val="bg1"/>
                </a:solidFill>
                <a:effectLst/>
                <a:uLnTx/>
                <a:uFillTx/>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12700" marR="0" lvl="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2000" b="0" i="0" u="none" strike="noStrike" kern="1200" cap="none" spc="0" normalizeH="0" baseline="0" noProof="0" dirty="0">
                <a:ln>
                  <a:noFill/>
                </a:ln>
                <a:solidFill>
                  <a:srgbClr val="FFFFFF"/>
                </a:solidFill>
                <a:effectLst/>
                <a:uLnTx/>
                <a:uFillTx/>
                <a:latin typeface="Segoe Sans Text Semibold"/>
                <a:ea typeface="+mn-ea"/>
                <a:cs typeface="+mn-cs"/>
              </a:rPr>
              <a:t>See full details here: </a:t>
            </a:r>
            <a:br>
              <a:rPr kumimoji="0" lang="en-US" sz="2000" b="0" i="0" u="none" strike="noStrike" kern="1200" cap="none" spc="0" normalizeH="0" baseline="0" noProof="0" dirty="0">
                <a:ln>
                  <a:noFill/>
                </a:ln>
                <a:solidFill>
                  <a:srgbClr val="FFFFFF"/>
                </a:solidFill>
                <a:effectLst/>
                <a:uLnTx/>
                <a:uFillTx/>
                <a:latin typeface="Segoe Sans Text Semibold"/>
                <a:ea typeface="+mn-ea"/>
                <a:cs typeface="+mn-cs"/>
              </a:rPr>
            </a:br>
            <a:r>
              <a:rPr kumimoji="0" lang="en-US" sz="2000" b="0" i="0" u="none" strike="noStrike" kern="1200" cap="none" spc="0" normalizeH="0" baseline="0" noProof="0" dirty="0">
                <a:ln>
                  <a:noFill/>
                </a:ln>
                <a:solidFill>
                  <a:srgbClr val="FFFFFF"/>
                </a:solidFill>
                <a:effectLst/>
                <a:uLnTx/>
                <a:uFillTx/>
                <a:latin typeface="Segoe Sans Text Semibold"/>
                <a:ea typeface="+mn-ea"/>
                <a:cs typeface="+mn-cs"/>
                <a:hlinkClick r:id="rId2">
                  <a:extLst>
                    <a:ext uri="{A12FA001-AC4F-418D-AE19-62706E023703}">
                      <ahyp:hlinkClr xmlns:ahyp="http://schemas.microsoft.com/office/drawing/2018/hyperlinkcolor" val="tx"/>
                    </a:ext>
                  </a:extLst>
                </a:hlinkClick>
              </a:rPr>
              <a:t>https://aka.ms/Copilot-Billing-Docs</a:t>
            </a:r>
            <a:r>
              <a:rPr kumimoji="0" lang="en-US" sz="2000" b="0" i="0" u="none" strike="noStrike" kern="1200" cap="none" spc="0" normalizeH="0" baseline="0" noProof="0" dirty="0">
                <a:ln>
                  <a:noFill/>
                </a:ln>
                <a:solidFill>
                  <a:srgbClr val="FFFFFF"/>
                </a:solidFill>
                <a:effectLst/>
                <a:uLnTx/>
                <a:uFillTx/>
                <a:latin typeface="Segoe Sans Text Semibold"/>
                <a:ea typeface="+mn-ea"/>
                <a:cs typeface="+mn-cs"/>
              </a:rPr>
              <a:t>.</a:t>
            </a:r>
          </a:p>
        </p:txBody>
      </p:sp>
    </p:spTree>
    <p:extLst>
      <p:ext uri="{BB962C8B-B14F-4D97-AF65-F5344CB8AC3E}">
        <p14:creationId xmlns:p14="http://schemas.microsoft.com/office/powerpoint/2010/main" val="891623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42" presetClass="path" presetSubtype="0" decel="100000" fill="hold" grpId="1" nodeType="withEffect">
                                  <p:stCondLst>
                                    <p:cond delay="0"/>
                                  </p:stCondLst>
                                  <p:childTnLst>
                                    <p:animMotion origin="layout" path="M -0.01719 -0.00024 L 2.70833E-6 4.81481E-6 " pathEditMode="relative" rAng="0" ptsTypes="AA">
                                      <p:cBhvr>
                                        <p:cTn id="13" dur="750" fill="hold"/>
                                        <p:tgtEl>
                                          <p:spTgt spid="5"/>
                                        </p:tgtEl>
                                        <p:attrNameLst>
                                          <p:attrName>ppt_x</p:attrName>
                                          <p:attrName>ppt_y</p:attrName>
                                        </p:attrNameLst>
                                      </p:cBhvr>
                                      <p:rCtr x="859" y="0"/>
                                    </p:animMotion>
                                  </p:childTnLst>
                                </p:cTn>
                              </p:par>
                              <p:par>
                                <p:cTn id="14" presetID="10" presetClass="entr" presetSubtype="0" fill="hold" nodeType="with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500"/>
                                        <p:tgtEl>
                                          <p:spTgt spid="3"/>
                                        </p:tgtEl>
                                      </p:cBhvr>
                                    </p:animEffect>
                                  </p:childTnLst>
                                </p:cTn>
                              </p:par>
                              <p:par>
                                <p:cTn id="17" presetID="42" presetClass="path" presetSubtype="0" decel="100000" fill="hold" nodeType="withEffect">
                                  <p:stCondLst>
                                    <p:cond delay="0"/>
                                  </p:stCondLst>
                                  <p:childTnLst>
                                    <p:animMotion origin="layout" path="M -0.01719 -0.00023 L 2.70833E-6 5.55112E-17 " pathEditMode="relative" rAng="0" ptsTypes="AA">
                                      <p:cBhvr>
                                        <p:cTn id="18" dur="750" fill="hold"/>
                                        <p:tgtEl>
                                          <p:spTgt spid="3"/>
                                        </p:tgtEl>
                                        <p:attrNameLst>
                                          <p:attrName>ppt_x</p:attrName>
                                          <p:attrName>ppt_y</p:attrName>
                                        </p:attrNameLst>
                                      </p:cBhvr>
                                      <p:rCtr x="859" y="0"/>
                                    </p:animMotion>
                                  </p:childTnLst>
                                </p:cTn>
                              </p:par>
                              <p:par>
                                <p:cTn id="19" presetID="10" presetClass="entr" presetSubtype="0" fill="hold" grpId="0" nodeType="withEffect">
                                  <p:stCondLst>
                                    <p:cond delay="3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42" presetClass="path" presetSubtype="0" decel="100000" fill="hold" grpId="1" nodeType="withEffect">
                                  <p:stCondLst>
                                    <p:cond delay="300"/>
                                  </p:stCondLst>
                                  <p:childTnLst>
                                    <p:animMotion origin="layout" path="M -0.01719 -0.00023 L -1.25E-6 1.85185E-6 " pathEditMode="relative" rAng="0" ptsTypes="AA">
                                      <p:cBhvr>
                                        <p:cTn id="23" dur="750" fill="hold"/>
                                        <p:tgtEl>
                                          <p:spTgt spid="6"/>
                                        </p:tgtEl>
                                        <p:attrNameLst>
                                          <p:attrName>ppt_x</p:attrName>
                                          <p:attrName>ppt_y</p:attrName>
                                        </p:attrNameLst>
                                      </p:cBhvr>
                                      <p:rCtr x="859" y="0"/>
                                    </p:animMotion>
                                  </p:childTnLst>
                                </p:cTn>
                              </p:par>
                              <p:par>
                                <p:cTn id="24" presetID="10"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par>
                                <p:cTn id="27" presetID="42" presetClass="path" presetSubtype="0" decel="100000" fill="hold" grpId="1" nodeType="withEffect">
                                  <p:stCondLst>
                                    <p:cond delay="600"/>
                                  </p:stCondLst>
                                  <p:childTnLst>
                                    <p:animMotion origin="layout" path="M -0.01719 -0.00024 L 2.70833E-6 3.7037E-6 " pathEditMode="relative" rAng="0" ptsTypes="AA">
                                      <p:cBhvr>
                                        <p:cTn id="28" dur="750" fill="hold"/>
                                        <p:tgtEl>
                                          <p:spTgt spid="7"/>
                                        </p:tgtEl>
                                        <p:attrNameLst>
                                          <p:attrName>ppt_x</p:attrName>
                                          <p:attrName>ppt_y</p:attrName>
                                        </p:attrNameLst>
                                      </p:cBhvr>
                                      <p:rCtr x="859"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p:bldP spid="5" grpId="1"/>
      <p:bldP spid="6" grpId="0"/>
      <p:bldP spid="6" grpId="1"/>
      <p:bldP spid="7" grpId="0" animBg="1"/>
      <p:bldP spid="7"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BC97A35E-2202-6D63-4101-2ADA50DE8850}"/>
              </a:ext>
              <a:ext uri="{C183D7F6-B498-43B3-948B-1728B52AA6E4}">
                <adec:decorative xmlns:adec="http://schemas.microsoft.com/office/drawing/2017/decorative" val="1"/>
              </a:ext>
            </a:extLst>
          </p:cNvPr>
          <p:cNvSpPr/>
          <p:nvPr/>
        </p:nvSpPr>
        <p:spPr bwMode="auto">
          <a:xfrm>
            <a:off x="10810543" y="294186"/>
            <a:ext cx="809958" cy="818153"/>
          </a:xfrm>
          <a:prstGeom prst="ellipse">
            <a:avLst/>
          </a:prstGeom>
          <a:solidFill>
            <a:srgbClr val="FFFFFF"/>
          </a:solidFill>
          <a:ln w="76200" cap="rnd" cmpd="sng" algn="ctr">
            <a:gradFill flip="none" rotWithShape="1">
              <a:gsLst>
                <a:gs pos="0">
                  <a:srgbClr val="B9DCD2">
                    <a:alpha val="40000"/>
                  </a:srgbClr>
                </a:gs>
                <a:gs pos="99000">
                  <a:srgbClr val="C5B4E3">
                    <a:alpha val="40000"/>
                  </a:srgbClr>
                </a:gs>
                <a:gs pos="51000">
                  <a:srgbClr val="8DC8E8">
                    <a:alpha val="40000"/>
                  </a:srgbClr>
                </a:gs>
              </a:gsLst>
              <a:path path="circle">
                <a:fillToRect r="100000" b="100000"/>
              </a:path>
              <a:tileRect l="-100000" t="-100000"/>
            </a:gradFill>
            <a:prstDash val="solid"/>
            <a:headEnd type="none" w="lg" len="med"/>
            <a:tailEnd type="arrow" w="lg" len="sm"/>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ts val="0"/>
              </a:spcBef>
              <a:spcAft>
                <a:spcPts val="600"/>
              </a:spcAft>
              <a:buClrTx/>
              <a:buSzTx/>
              <a:buFontTx/>
              <a:buNone/>
              <a:tabLst/>
              <a:defRPr/>
            </a:pPr>
            <a:endParaRPr kumimoji="0" lang="en-US" sz="800" b="0" i="0" u="none" strike="noStrike" kern="0" cap="none" spc="0" normalizeH="0" baseline="0" noProof="0" err="1">
              <a:ln>
                <a:noFill/>
              </a:ln>
              <a:solidFill>
                <a:srgbClr val="000000"/>
              </a:solidFill>
              <a:effectLst/>
              <a:uLnTx/>
              <a:uFillTx/>
              <a:latin typeface="Segoe Sans Text"/>
              <a:ea typeface="+mn-ea"/>
              <a:cs typeface="Segoe UI" pitchFamily="34" charset="0"/>
            </a:endParaRPr>
          </a:p>
        </p:txBody>
      </p:sp>
      <p:sp>
        <p:nvSpPr>
          <p:cNvPr id="3" name="Rectangle: Rounded Corners 2">
            <a:extLst>
              <a:ext uri="{FF2B5EF4-FFF2-40B4-BE49-F238E27FC236}">
                <a16:creationId xmlns:a16="http://schemas.microsoft.com/office/drawing/2014/main" id="{3FF79068-EBBA-F073-5AEF-C62D56F78F6B}"/>
              </a:ext>
              <a:ext uri="{C183D7F6-B498-43B3-948B-1728B52AA6E4}">
                <adec:decorative xmlns:adec="http://schemas.microsoft.com/office/drawing/2017/decorative" val="1"/>
              </a:ext>
            </a:extLst>
          </p:cNvPr>
          <p:cNvSpPr>
            <a:spLocks/>
          </p:cNvSpPr>
          <p:nvPr/>
        </p:nvSpPr>
        <p:spPr bwMode="auto">
          <a:xfrm>
            <a:off x="577299" y="2194946"/>
            <a:ext cx="5338721" cy="4074087"/>
          </a:xfrm>
          <a:prstGeom prst="roundRect">
            <a:avLst>
              <a:gd name="adj" fmla="val 4274"/>
            </a:avLst>
          </a:prstGeom>
          <a:solidFill>
            <a:schemeClr val="bg1">
              <a:alpha val="85000"/>
            </a:schemeClr>
          </a:solidFill>
          <a:ln w="12700">
            <a:noFill/>
          </a:ln>
          <a:effectLst>
            <a:outerShdw blurRad="190500" dist="63500" dir="8100000" algn="tr" rotWithShape="0">
              <a:schemeClr val="bg1">
                <a:lumMod val="50000"/>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err="1">
              <a:ln>
                <a:noFill/>
              </a:ln>
              <a:solidFill>
                <a:srgbClr val="FFFFFF"/>
              </a:solidFill>
              <a:effectLst/>
              <a:uLnTx/>
              <a:uFillTx/>
              <a:latin typeface="Segoe Sans Text"/>
              <a:ea typeface="+mn-ea"/>
              <a:cs typeface="+mn-cs"/>
            </a:endParaRPr>
          </a:p>
        </p:txBody>
      </p:sp>
      <p:sp>
        <p:nvSpPr>
          <p:cNvPr id="4" name="Rectangle: Rounded Corners 3">
            <a:extLst>
              <a:ext uri="{FF2B5EF4-FFF2-40B4-BE49-F238E27FC236}">
                <a16:creationId xmlns:a16="http://schemas.microsoft.com/office/drawing/2014/main" id="{1BA38A5F-38F2-0446-8334-70E8ED92F143}"/>
              </a:ext>
              <a:ext uri="{C183D7F6-B498-43B3-948B-1728B52AA6E4}">
                <adec:decorative xmlns:adec="http://schemas.microsoft.com/office/drawing/2017/decorative" val="1"/>
              </a:ext>
            </a:extLst>
          </p:cNvPr>
          <p:cNvSpPr>
            <a:spLocks/>
          </p:cNvSpPr>
          <p:nvPr/>
        </p:nvSpPr>
        <p:spPr bwMode="auto">
          <a:xfrm>
            <a:off x="6281779" y="2194946"/>
            <a:ext cx="5338721" cy="4074087"/>
          </a:xfrm>
          <a:prstGeom prst="roundRect">
            <a:avLst>
              <a:gd name="adj" fmla="val 4274"/>
            </a:avLst>
          </a:prstGeom>
          <a:solidFill>
            <a:schemeClr val="bg1">
              <a:alpha val="85000"/>
            </a:schemeClr>
          </a:solidFill>
          <a:ln w="12700">
            <a:noFill/>
          </a:ln>
          <a:effectLst>
            <a:outerShdw blurRad="190500" dist="63500" dir="8100000" algn="tr" rotWithShape="0">
              <a:schemeClr val="bg1">
                <a:lumMod val="50000"/>
                <a:alpha val="1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err="1">
              <a:ln>
                <a:noFill/>
              </a:ln>
              <a:solidFill>
                <a:srgbClr val="FFFFFF"/>
              </a:solidFill>
              <a:effectLst/>
              <a:uLnTx/>
              <a:uFillTx/>
              <a:latin typeface="Segoe Sans Text"/>
              <a:ea typeface="+mn-ea"/>
              <a:cs typeface="+mn-cs"/>
            </a:endParaRPr>
          </a:p>
        </p:txBody>
      </p:sp>
      <p:sp>
        <p:nvSpPr>
          <p:cNvPr id="5" name="Oval 4">
            <a:extLst>
              <a:ext uri="{FF2B5EF4-FFF2-40B4-BE49-F238E27FC236}">
                <a16:creationId xmlns:a16="http://schemas.microsoft.com/office/drawing/2014/main" id="{10B105C1-771D-623F-469C-508CE4DDCDC1}"/>
              </a:ext>
              <a:ext uri="{C183D7F6-B498-43B3-948B-1728B52AA6E4}">
                <adec:decorative xmlns:adec="http://schemas.microsoft.com/office/drawing/2017/decorative" val="1"/>
              </a:ext>
            </a:extLst>
          </p:cNvPr>
          <p:cNvSpPr/>
          <p:nvPr/>
        </p:nvSpPr>
        <p:spPr bwMode="auto">
          <a:xfrm>
            <a:off x="2841681" y="1785869"/>
            <a:ext cx="809958" cy="818153"/>
          </a:xfrm>
          <a:prstGeom prst="ellipse">
            <a:avLst/>
          </a:prstGeom>
          <a:solidFill>
            <a:srgbClr val="FFFFFF"/>
          </a:solidFill>
          <a:ln w="76200" cap="rnd" cmpd="sng" algn="ctr">
            <a:gradFill flip="none" rotWithShape="1">
              <a:gsLst>
                <a:gs pos="0">
                  <a:srgbClr val="B9DCD2">
                    <a:alpha val="40000"/>
                  </a:srgbClr>
                </a:gs>
                <a:gs pos="99000">
                  <a:srgbClr val="C5B4E3">
                    <a:alpha val="40000"/>
                  </a:srgbClr>
                </a:gs>
                <a:gs pos="51000">
                  <a:srgbClr val="8DC8E8">
                    <a:alpha val="40000"/>
                  </a:srgbClr>
                </a:gs>
              </a:gsLst>
              <a:path path="circle">
                <a:fillToRect r="100000" b="100000"/>
              </a:path>
              <a:tileRect l="-100000" t="-100000"/>
            </a:gradFill>
            <a:prstDash val="solid"/>
            <a:headEnd type="none" w="lg" len="med"/>
            <a:tailEnd type="arrow" w="lg" len="sm"/>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ts val="0"/>
              </a:spcBef>
              <a:spcAft>
                <a:spcPts val="600"/>
              </a:spcAft>
              <a:buClrTx/>
              <a:buSzTx/>
              <a:buFontTx/>
              <a:buNone/>
              <a:tabLst/>
              <a:defRPr/>
            </a:pPr>
            <a:endParaRPr kumimoji="0" lang="en-US" sz="800" b="0" i="0" u="none" strike="noStrike" kern="0" cap="none" spc="0" normalizeH="0" baseline="0" noProof="0" err="1">
              <a:ln>
                <a:noFill/>
              </a:ln>
              <a:solidFill>
                <a:srgbClr val="000000"/>
              </a:solidFill>
              <a:effectLst/>
              <a:uLnTx/>
              <a:uFillTx/>
              <a:latin typeface="Segoe Sans Text"/>
              <a:ea typeface="+mn-ea"/>
              <a:cs typeface="Segoe UI" pitchFamily="34" charset="0"/>
            </a:endParaRPr>
          </a:p>
        </p:txBody>
      </p:sp>
      <p:sp>
        <p:nvSpPr>
          <p:cNvPr id="6" name="Oval 5">
            <a:extLst>
              <a:ext uri="{FF2B5EF4-FFF2-40B4-BE49-F238E27FC236}">
                <a16:creationId xmlns:a16="http://schemas.microsoft.com/office/drawing/2014/main" id="{41027882-6777-4042-9193-0D9ECBA64B34}"/>
              </a:ext>
              <a:ext uri="{C183D7F6-B498-43B3-948B-1728B52AA6E4}">
                <adec:decorative xmlns:adec="http://schemas.microsoft.com/office/drawing/2017/decorative" val="1"/>
              </a:ext>
            </a:extLst>
          </p:cNvPr>
          <p:cNvSpPr/>
          <p:nvPr/>
        </p:nvSpPr>
        <p:spPr bwMode="auto">
          <a:xfrm>
            <a:off x="8546161" y="1785869"/>
            <a:ext cx="809958" cy="818153"/>
          </a:xfrm>
          <a:prstGeom prst="ellipse">
            <a:avLst/>
          </a:prstGeom>
          <a:solidFill>
            <a:srgbClr val="FFFFFF"/>
          </a:solidFill>
          <a:ln w="76200" cap="rnd" cmpd="sng" algn="ctr">
            <a:gradFill flip="none" rotWithShape="1">
              <a:gsLst>
                <a:gs pos="0">
                  <a:srgbClr val="B9DCD2">
                    <a:alpha val="40000"/>
                  </a:srgbClr>
                </a:gs>
                <a:gs pos="99000">
                  <a:srgbClr val="C5B4E3">
                    <a:alpha val="40000"/>
                  </a:srgbClr>
                </a:gs>
                <a:gs pos="51000">
                  <a:srgbClr val="8DC8E8">
                    <a:alpha val="40000"/>
                  </a:srgbClr>
                </a:gs>
              </a:gsLst>
              <a:path path="circle">
                <a:fillToRect r="100000" b="100000"/>
              </a:path>
              <a:tileRect l="-100000" t="-100000"/>
            </a:gradFill>
            <a:prstDash val="solid"/>
            <a:headEnd type="none" w="lg" len="med"/>
            <a:tailEnd type="arrow" w="lg" len="sm"/>
          </a:ln>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100000"/>
              </a:lnSpc>
              <a:spcBef>
                <a:spcPts val="0"/>
              </a:spcBef>
              <a:spcAft>
                <a:spcPts val="600"/>
              </a:spcAft>
              <a:buClrTx/>
              <a:buSzTx/>
              <a:buFontTx/>
              <a:buNone/>
              <a:tabLst/>
              <a:defRPr/>
            </a:pPr>
            <a:endParaRPr kumimoji="0" lang="en-US" sz="800" b="0" i="0" u="none" strike="noStrike" kern="0" cap="none" spc="0" normalizeH="0" baseline="0" noProof="0" err="1">
              <a:ln>
                <a:noFill/>
              </a:ln>
              <a:solidFill>
                <a:srgbClr val="000000"/>
              </a:solidFill>
              <a:effectLst/>
              <a:uLnTx/>
              <a:uFillTx/>
              <a:latin typeface="Segoe Sans Text"/>
              <a:ea typeface="+mn-ea"/>
              <a:cs typeface="Segoe UI" pitchFamily="34" charset="0"/>
            </a:endParaRPr>
          </a:p>
        </p:txBody>
      </p:sp>
      <p:cxnSp>
        <p:nvCxnSpPr>
          <p:cNvPr id="7" name="Straight Connector 6">
            <a:extLst>
              <a:ext uri="{FF2B5EF4-FFF2-40B4-BE49-F238E27FC236}">
                <a16:creationId xmlns:a16="http://schemas.microsoft.com/office/drawing/2014/main" id="{C9568281-E1B4-F15C-3CA3-4DAA01E47DFA}"/>
              </a:ext>
              <a:ext uri="{C183D7F6-B498-43B3-948B-1728B52AA6E4}">
                <adec:decorative xmlns:adec="http://schemas.microsoft.com/office/drawing/2017/decorative" val="1"/>
              </a:ext>
            </a:extLst>
          </p:cNvPr>
          <p:cNvCxnSpPr>
            <a:cxnSpLocks/>
          </p:cNvCxnSpPr>
          <p:nvPr/>
        </p:nvCxnSpPr>
        <p:spPr>
          <a:xfrm flipH="1">
            <a:off x="791736" y="4799025"/>
            <a:ext cx="5013889" cy="0"/>
          </a:xfrm>
          <a:prstGeom prst="line">
            <a:avLst/>
          </a:prstGeom>
          <a:ln w="635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BE7236F-897F-BA89-B72B-864A23A93AD7}"/>
              </a:ext>
              <a:ext uri="{C183D7F6-B498-43B3-948B-1728B52AA6E4}">
                <adec:decorative xmlns:adec="http://schemas.microsoft.com/office/drawing/2017/decorative" val="1"/>
              </a:ext>
            </a:extLst>
          </p:cNvPr>
          <p:cNvCxnSpPr>
            <a:cxnSpLocks/>
          </p:cNvCxnSpPr>
          <p:nvPr/>
        </p:nvCxnSpPr>
        <p:spPr>
          <a:xfrm flipH="1">
            <a:off x="6444195" y="4800222"/>
            <a:ext cx="5013889" cy="0"/>
          </a:xfrm>
          <a:prstGeom prst="line">
            <a:avLst/>
          </a:prstGeom>
          <a:ln w="6350" cap="rnd">
            <a:solidFill>
              <a:schemeClr val="tx1">
                <a:alpha val="20000"/>
              </a:schemeClr>
            </a:solidFill>
            <a:headEnd type="none" w="sm" len="sm"/>
            <a:tailEnd type="none" w="lg" len="med"/>
          </a:ln>
        </p:spPr>
        <p:style>
          <a:lnRef idx="1">
            <a:schemeClr val="accent1"/>
          </a:lnRef>
          <a:fillRef idx="0">
            <a:schemeClr val="accent1"/>
          </a:fillRef>
          <a:effectRef idx="0">
            <a:schemeClr val="accent1"/>
          </a:effectRef>
          <a:fontRef idx="minor">
            <a:schemeClr val="tx1"/>
          </a:fontRef>
        </p:style>
      </p:cxnSp>
      <p:sp>
        <p:nvSpPr>
          <p:cNvPr id="9" name="Graphic 57">
            <a:extLst>
              <a:ext uri="{FF2B5EF4-FFF2-40B4-BE49-F238E27FC236}">
                <a16:creationId xmlns:a16="http://schemas.microsoft.com/office/drawing/2014/main" id="{4D18DB6B-3915-CE09-F5A8-7D14BA388E5C}"/>
              </a:ext>
              <a:ext uri="{C183D7F6-B498-43B3-948B-1728B52AA6E4}">
                <adec:decorative xmlns:adec="http://schemas.microsoft.com/office/drawing/2017/decorative" val="1"/>
              </a:ext>
            </a:extLst>
          </p:cNvPr>
          <p:cNvSpPr>
            <a:spLocks/>
          </p:cNvSpPr>
          <p:nvPr/>
        </p:nvSpPr>
        <p:spPr>
          <a:xfrm>
            <a:off x="3016695" y="1976466"/>
            <a:ext cx="459930" cy="436958"/>
          </a:xfrm>
          <a:custGeom>
            <a:avLst/>
            <a:gdLst>
              <a:gd name="connsiteX0" fmla="*/ 45244 w 190490"/>
              <a:gd name="connsiteY0" fmla="*/ 180975 h 180975"/>
              <a:gd name="connsiteX1" fmla="*/ 38102 w 190490"/>
              <a:gd name="connsiteY1" fmla="*/ 173829 h 180975"/>
              <a:gd name="connsiteX2" fmla="*/ 44272 w 190490"/>
              <a:gd name="connsiteY2" fmla="*/ 166754 h 180975"/>
              <a:gd name="connsiteX3" fmla="*/ 45244 w 190490"/>
              <a:gd name="connsiteY3" fmla="*/ 166688 h 180975"/>
              <a:gd name="connsiteX4" fmla="*/ 61903 w 190490"/>
              <a:gd name="connsiteY4" fmla="*/ 166688 h 180975"/>
              <a:gd name="connsiteX5" fmla="*/ 61903 w 190490"/>
              <a:gd name="connsiteY5" fmla="*/ 142894 h 180975"/>
              <a:gd name="connsiteX6" fmla="*/ 21431 w 190490"/>
              <a:gd name="connsiteY6" fmla="*/ 142894 h 180975"/>
              <a:gd name="connsiteX7" fmla="*/ 48 w 190490"/>
              <a:gd name="connsiteY7" fmla="*/ 122930 h 180975"/>
              <a:gd name="connsiteX8" fmla="*/ 0 w 190490"/>
              <a:gd name="connsiteY8" fmla="*/ 121463 h 180975"/>
              <a:gd name="connsiteX9" fmla="*/ 0 w 190490"/>
              <a:gd name="connsiteY9" fmla="*/ 21431 h 180975"/>
              <a:gd name="connsiteX10" fmla="*/ 19964 w 190490"/>
              <a:gd name="connsiteY10" fmla="*/ 48 h 180975"/>
              <a:gd name="connsiteX11" fmla="*/ 21431 w 190490"/>
              <a:gd name="connsiteY11" fmla="*/ 0 h 180975"/>
              <a:gd name="connsiteX12" fmla="*/ 169059 w 190490"/>
              <a:gd name="connsiteY12" fmla="*/ 0 h 180975"/>
              <a:gd name="connsiteX13" fmla="*/ 190443 w 190490"/>
              <a:gd name="connsiteY13" fmla="*/ 19964 h 180975"/>
              <a:gd name="connsiteX14" fmla="*/ 190490 w 190490"/>
              <a:gd name="connsiteY14" fmla="*/ 21431 h 180975"/>
              <a:gd name="connsiteX15" fmla="*/ 190490 w 190490"/>
              <a:gd name="connsiteY15" fmla="*/ 121463 h 180975"/>
              <a:gd name="connsiteX16" fmla="*/ 170526 w 190490"/>
              <a:gd name="connsiteY16" fmla="*/ 142846 h 180975"/>
              <a:gd name="connsiteX17" fmla="*/ 169059 w 190490"/>
              <a:gd name="connsiteY17" fmla="*/ 142894 h 180975"/>
              <a:gd name="connsiteX18" fmla="*/ 128578 w 190490"/>
              <a:gd name="connsiteY18" fmla="*/ 142894 h 180975"/>
              <a:gd name="connsiteX19" fmla="*/ 128578 w 190490"/>
              <a:gd name="connsiteY19" fmla="*/ 166688 h 180975"/>
              <a:gd name="connsiteX20" fmla="*/ 145256 w 190490"/>
              <a:gd name="connsiteY20" fmla="*/ 166688 h 180975"/>
              <a:gd name="connsiteX21" fmla="*/ 152472 w 190490"/>
              <a:gd name="connsiteY21" fmla="*/ 173758 h 180975"/>
              <a:gd name="connsiteX22" fmla="*/ 146228 w 190490"/>
              <a:gd name="connsiteY22" fmla="*/ 180918 h 180975"/>
              <a:gd name="connsiteX23" fmla="*/ 145256 w 190490"/>
              <a:gd name="connsiteY23" fmla="*/ 180975 h 180975"/>
              <a:gd name="connsiteX24" fmla="*/ 45244 w 190490"/>
              <a:gd name="connsiteY24" fmla="*/ 180975 h 180975"/>
              <a:gd name="connsiteX25" fmla="*/ 114281 w 190490"/>
              <a:gd name="connsiteY25" fmla="*/ 142894 h 180975"/>
              <a:gd name="connsiteX26" fmla="*/ 76181 w 190490"/>
              <a:gd name="connsiteY26" fmla="*/ 142894 h 180975"/>
              <a:gd name="connsiteX27" fmla="*/ 76190 w 190490"/>
              <a:gd name="connsiteY27" fmla="*/ 166688 h 180975"/>
              <a:gd name="connsiteX28" fmla="*/ 114290 w 190490"/>
              <a:gd name="connsiteY28" fmla="*/ 166688 h 180975"/>
              <a:gd name="connsiteX29" fmla="*/ 114281 w 190490"/>
              <a:gd name="connsiteY29" fmla="*/ 142894 h 180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90490" h="180975">
                <a:moveTo>
                  <a:pt x="45244" y="180975"/>
                </a:moveTo>
                <a:cubicBezTo>
                  <a:pt x="41298" y="180974"/>
                  <a:pt x="38101" y="177775"/>
                  <a:pt x="38102" y="173829"/>
                </a:cubicBezTo>
                <a:cubicBezTo>
                  <a:pt x="38103" y="170260"/>
                  <a:pt x="40737" y="167241"/>
                  <a:pt x="44272" y="166754"/>
                </a:cubicBezTo>
                <a:lnTo>
                  <a:pt x="45244" y="166688"/>
                </a:lnTo>
                <a:lnTo>
                  <a:pt x="61903" y="166688"/>
                </a:lnTo>
                <a:lnTo>
                  <a:pt x="61903" y="142894"/>
                </a:lnTo>
                <a:lnTo>
                  <a:pt x="21431" y="142894"/>
                </a:lnTo>
                <a:cubicBezTo>
                  <a:pt x="10163" y="142895"/>
                  <a:pt x="819" y="134171"/>
                  <a:pt x="48" y="122930"/>
                </a:cubicBezTo>
                <a:lnTo>
                  <a:pt x="0" y="121463"/>
                </a:lnTo>
                <a:lnTo>
                  <a:pt x="0" y="21431"/>
                </a:lnTo>
                <a:cubicBezTo>
                  <a:pt x="-1" y="10163"/>
                  <a:pt x="8723" y="819"/>
                  <a:pt x="19964" y="48"/>
                </a:cubicBezTo>
                <a:lnTo>
                  <a:pt x="21431" y="0"/>
                </a:lnTo>
                <a:lnTo>
                  <a:pt x="169059" y="0"/>
                </a:lnTo>
                <a:cubicBezTo>
                  <a:pt x="180327" y="-1"/>
                  <a:pt x="189671" y="8723"/>
                  <a:pt x="190443" y="19964"/>
                </a:cubicBezTo>
                <a:lnTo>
                  <a:pt x="190490" y="21431"/>
                </a:lnTo>
                <a:lnTo>
                  <a:pt x="190490" y="121463"/>
                </a:lnTo>
                <a:cubicBezTo>
                  <a:pt x="190491" y="132731"/>
                  <a:pt x="181767" y="142075"/>
                  <a:pt x="170526" y="142846"/>
                </a:cubicBezTo>
                <a:lnTo>
                  <a:pt x="169059" y="142894"/>
                </a:lnTo>
                <a:lnTo>
                  <a:pt x="128578" y="142894"/>
                </a:lnTo>
                <a:lnTo>
                  <a:pt x="128578" y="166688"/>
                </a:lnTo>
                <a:lnTo>
                  <a:pt x="145256" y="166688"/>
                </a:lnTo>
                <a:cubicBezTo>
                  <a:pt x="149202" y="166648"/>
                  <a:pt x="152432" y="169813"/>
                  <a:pt x="152472" y="173758"/>
                </a:cubicBezTo>
                <a:cubicBezTo>
                  <a:pt x="152510" y="177383"/>
                  <a:pt x="149824" y="180462"/>
                  <a:pt x="146228" y="180918"/>
                </a:cubicBezTo>
                <a:lnTo>
                  <a:pt x="145256" y="180975"/>
                </a:lnTo>
                <a:lnTo>
                  <a:pt x="45244" y="180975"/>
                </a:lnTo>
                <a:close/>
                <a:moveTo>
                  <a:pt x="114281" y="142894"/>
                </a:moveTo>
                <a:lnTo>
                  <a:pt x="76181" y="142894"/>
                </a:lnTo>
                <a:lnTo>
                  <a:pt x="76190" y="166688"/>
                </a:lnTo>
                <a:lnTo>
                  <a:pt x="114290" y="166688"/>
                </a:lnTo>
                <a:lnTo>
                  <a:pt x="114281" y="142894"/>
                </a:lnTo>
                <a:close/>
              </a:path>
            </a:pathLst>
          </a:custGeom>
          <a:gradFill flip="none" rotWithShape="1">
            <a:gsLst>
              <a:gs pos="0">
                <a:schemeClr val="accent3"/>
              </a:gs>
              <a:gs pos="78000">
                <a:schemeClr val="tx2"/>
              </a:gs>
            </a:gsLst>
            <a:path path="circle">
              <a:fillToRect r="100000" b="100000"/>
            </a:path>
            <a:tileRect l="-100000" t="-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000000"/>
              </a:solidFill>
              <a:effectLst/>
              <a:uLnTx/>
              <a:uFillTx/>
              <a:latin typeface="Segoe Sans Text"/>
              <a:ea typeface="+mn-ea"/>
              <a:cs typeface="+mn-cs"/>
            </a:endParaRPr>
          </a:p>
        </p:txBody>
      </p:sp>
      <p:sp>
        <p:nvSpPr>
          <p:cNvPr id="10" name="Graphic 125">
            <a:extLst>
              <a:ext uri="{FF2B5EF4-FFF2-40B4-BE49-F238E27FC236}">
                <a16:creationId xmlns:a16="http://schemas.microsoft.com/office/drawing/2014/main" id="{42CA30BF-AA77-5018-6D61-992EB5C0542A}"/>
              </a:ext>
              <a:ext uri="{C183D7F6-B498-43B3-948B-1728B52AA6E4}">
                <adec:decorative xmlns:adec="http://schemas.microsoft.com/office/drawing/2017/decorative" val="1"/>
              </a:ext>
            </a:extLst>
          </p:cNvPr>
          <p:cNvSpPr>
            <a:spLocks/>
          </p:cNvSpPr>
          <p:nvPr/>
        </p:nvSpPr>
        <p:spPr>
          <a:xfrm>
            <a:off x="8710330" y="2074541"/>
            <a:ext cx="481620" cy="240809"/>
          </a:xfrm>
          <a:custGeom>
            <a:avLst/>
            <a:gdLst>
              <a:gd name="connsiteX0" fmla="*/ 28575 w 190500"/>
              <a:gd name="connsiteY0" fmla="*/ 0 h 95250"/>
              <a:gd name="connsiteX1" fmla="*/ 161925 w 190500"/>
              <a:gd name="connsiteY1" fmla="*/ 0 h 95250"/>
              <a:gd name="connsiteX2" fmla="*/ 190452 w 190500"/>
              <a:gd name="connsiteY2" fmla="*/ 26899 h 95250"/>
              <a:gd name="connsiteX3" fmla="*/ 190500 w 190500"/>
              <a:gd name="connsiteY3" fmla="*/ 28575 h 95250"/>
              <a:gd name="connsiteX4" fmla="*/ 190500 w 190500"/>
              <a:gd name="connsiteY4" fmla="*/ 66675 h 95250"/>
              <a:gd name="connsiteX5" fmla="*/ 163601 w 190500"/>
              <a:gd name="connsiteY5" fmla="*/ 95202 h 95250"/>
              <a:gd name="connsiteX6" fmla="*/ 161925 w 190500"/>
              <a:gd name="connsiteY6" fmla="*/ 95250 h 95250"/>
              <a:gd name="connsiteX7" fmla="*/ 28575 w 190500"/>
              <a:gd name="connsiteY7" fmla="*/ 95250 h 95250"/>
              <a:gd name="connsiteX8" fmla="*/ 48 w 190500"/>
              <a:gd name="connsiteY8" fmla="*/ 68351 h 95250"/>
              <a:gd name="connsiteX9" fmla="*/ 0 w 190500"/>
              <a:gd name="connsiteY9" fmla="*/ 66675 h 95250"/>
              <a:gd name="connsiteX10" fmla="*/ 0 w 190500"/>
              <a:gd name="connsiteY10" fmla="*/ 28575 h 95250"/>
              <a:gd name="connsiteX11" fmla="*/ 26899 w 190500"/>
              <a:gd name="connsiteY11" fmla="*/ 48 h 95250"/>
              <a:gd name="connsiteX12" fmla="*/ 28575 w 190500"/>
              <a:gd name="connsiteY12" fmla="*/ 0 h 95250"/>
              <a:gd name="connsiteX13" fmla="*/ 161925 w 190500"/>
              <a:gd name="connsiteY13" fmla="*/ 0 h 95250"/>
              <a:gd name="connsiteX14" fmla="*/ 28575 w 190500"/>
              <a:gd name="connsiteY14" fmla="*/ 0 h 95250"/>
              <a:gd name="connsiteX15" fmla="*/ 152400 w 190500"/>
              <a:gd name="connsiteY15" fmla="*/ 28575 h 95250"/>
              <a:gd name="connsiteX16" fmla="*/ 142875 w 190500"/>
              <a:gd name="connsiteY16" fmla="*/ 38100 h 95250"/>
              <a:gd name="connsiteX17" fmla="*/ 152400 w 190500"/>
              <a:gd name="connsiteY17" fmla="*/ 47625 h 95250"/>
              <a:gd name="connsiteX18" fmla="*/ 161925 w 190500"/>
              <a:gd name="connsiteY18" fmla="*/ 38100 h 95250"/>
              <a:gd name="connsiteX19" fmla="*/ 152400 w 190500"/>
              <a:gd name="connsiteY19" fmla="*/ 28575 h 95250"/>
              <a:gd name="connsiteX20" fmla="*/ 114300 w 190500"/>
              <a:gd name="connsiteY20" fmla="*/ 28575 h 95250"/>
              <a:gd name="connsiteX21" fmla="*/ 104775 w 190500"/>
              <a:gd name="connsiteY21" fmla="*/ 38100 h 95250"/>
              <a:gd name="connsiteX22" fmla="*/ 114300 w 190500"/>
              <a:gd name="connsiteY22" fmla="*/ 47625 h 95250"/>
              <a:gd name="connsiteX23" fmla="*/ 123825 w 190500"/>
              <a:gd name="connsiteY23" fmla="*/ 38100 h 95250"/>
              <a:gd name="connsiteX24" fmla="*/ 114300 w 190500"/>
              <a:gd name="connsiteY24" fmla="*/ 2857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90500" h="95250">
                <a:moveTo>
                  <a:pt x="28575" y="0"/>
                </a:moveTo>
                <a:lnTo>
                  <a:pt x="161925" y="0"/>
                </a:lnTo>
                <a:cubicBezTo>
                  <a:pt x="177056" y="-1"/>
                  <a:pt x="189565" y="11794"/>
                  <a:pt x="190452" y="26899"/>
                </a:cubicBezTo>
                <a:lnTo>
                  <a:pt x="190500" y="28575"/>
                </a:lnTo>
                <a:lnTo>
                  <a:pt x="190500" y="66675"/>
                </a:lnTo>
                <a:cubicBezTo>
                  <a:pt x="190501" y="81806"/>
                  <a:pt x="178706" y="94315"/>
                  <a:pt x="163601" y="95202"/>
                </a:cubicBezTo>
                <a:lnTo>
                  <a:pt x="161925" y="95250"/>
                </a:lnTo>
                <a:lnTo>
                  <a:pt x="28575" y="95250"/>
                </a:lnTo>
                <a:cubicBezTo>
                  <a:pt x="13444" y="95251"/>
                  <a:pt x="935" y="83456"/>
                  <a:pt x="48" y="68351"/>
                </a:cubicBezTo>
                <a:lnTo>
                  <a:pt x="0" y="66675"/>
                </a:lnTo>
                <a:lnTo>
                  <a:pt x="0" y="28575"/>
                </a:lnTo>
                <a:cubicBezTo>
                  <a:pt x="-1" y="13444"/>
                  <a:pt x="11794" y="935"/>
                  <a:pt x="26899" y="48"/>
                </a:cubicBezTo>
                <a:lnTo>
                  <a:pt x="28575" y="0"/>
                </a:lnTo>
                <a:lnTo>
                  <a:pt x="161925" y="0"/>
                </a:lnTo>
                <a:lnTo>
                  <a:pt x="28575" y="0"/>
                </a:lnTo>
                <a:close/>
                <a:moveTo>
                  <a:pt x="152400" y="28575"/>
                </a:moveTo>
                <a:cubicBezTo>
                  <a:pt x="147139" y="28575"/>
                  <a:pt x="142875" y="32839"/>
                  <a:pt x="142875" y="38100"/>
                </a:cubicBezTo>
                <a:cubicBezTo>
                  <a:pt x="142875" y="43361"/>
                  <a:pt x="147139" y="47625"/>
                  <a:pt x="152400" y="47625"/>
                </a:cubicBezTo>
                <a:cubicBezTo>
                  <a:pt x="157661" y="47625"/>
                  <a:pt x="161925" y="43361"/>
                  <a:pt x="161925" y="38100"/>
                </a:cubicBezTo>
                <a:cubicBezTo>
                  <a:pt x="161925" y="32839"/>
                  <a:pt x="157661" y="28575"/>
                  <a:pt x="152400" y="28575"/>
                </a:cubicBezTo>
                <a:close/>
                <a:moveTo>
                  <a:pt x="114300" y="28575"/>
                </a:moveTo>
                <a:cubicBezTo>
                  <a:pt x="109039" y="28575"/>
                  <a:pt x="104775" y="32839"/>
                  <a:pt x="104775" y="38100"/>
                </a:cubicBezTo>
                <a:cubicBezTo>
                  <a:pt x="104775" y="43361"/>
                  <a:pt x="109039" y="47625"/>
                  <a:pt x="114300" y="47625"/>
                </a:cubicBezTo>
                <a:cubicBezTo>
                  <a:pt x="119561" y="47625"/>
                  <a:pt x="123825" y="43361"/>
                  <a:pt x="123825" y="38100"/>
                </a:cubicBezTo>
                <a:cubicBezTo>
                  <a:pt x="123825" y="32839"/>
                  <a:pt x="119561" y="28575"/>
                  <a:pt x="114300" y="28575"/>
                </a:cubicBezTo>
                <a:close/>
              </a:path>
            </a:pathLst>
          </a:custGeom>
          <a:gradFill flip="none" rotWithShape="1">
            <a:gsLst>
              <a:gs pos="0">
                <a:schemeClr val="accent3"/>
              </a:gs>
              <a:gs pos="78000">
                <a:schemeClr val="tx2"/>
              </a:gs>
            </a:gsLst>
            <a:path path="circle">
              <a:fillToRect r="100000" b="100000"/>
            </a:path>
            <a:tileRect l="-100000" t="-100000"/>
          </a:gradFill>
          <a:ln w="52388" cap="flat">
            <a:noFill/>
            <a:prstDash val="solid"/>
            <a:miter/>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1200" cap="none" spc="0" normalizeH="0" baseline="0" noProof="0">
              <a:ln>
                <a:noFill/>
              </a:ln>
              <a:solidFill>
                <a:srgbClr val="000000"/>
              </a:solidFill>
              <a:effectLst/>
              <a:uLnTx/>
              <a:uFillTx/>
              <a:latin typeface="Segoe Sans Text"/>
              <a:ea typeface="+mn-ea"/>
              <a:cs typeface="+mn-cs"/>
            </a:endParaRPr>
          </a:p>
        </p:txBody>
      </p:sp>
      <p:sp>
        <p:nvSpPr>
          <p:cNvPr id="11" name="Title 7">
            <a:extLst>
              <a:ext uri="{FF2B5EF4-FFF2-40B4-BE49-F238E27FC236}">
                <a16:creationId xmlns:a16="http://schemas.microsoft.com/office/drawing/2014/main" id="{DCD0B742-ED23-ABF8-9DF9-098EA171B6A6}"/>
              </a:ext>
            </a:extLst>
          </p:cNvPr>
          <p:cNvSpPr txBox="1">
            <a:spLocks/>
          </p:cNvSpPr>
          <p:nvPr/>
        </p:nvSpPr>
        <p:spPr>
          <a:xfrm>
            <a:off x="588963" y="457200"/>
            <a:ext cx="9799637" cy="49212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Making Copilot in Fabric and data agents more accessible</a:t>
            </a:r>
          </a:p>
        </p:txBody>
      </p:sp>
      <p:pic>
        <p:nvPicPr>
          <p:cNvPr id="12" name="Picture 11" descr="Copilot logo">
            <a:extLst>
              <a:ext uri="{FF2B5EF4-FFF2-40B4-BE49-F238E27FC236}">
                <a16:creationId xmlns:a16="http://schemas.microsoft.com/office/drawing/2014/main" id="{71575478-F34E-6714-C8F8-01152D6D7B3A}"/>
              </a:ext>
            </a:extLst>
          </p:cNvPr>
          <p:cNvPicPr>
            <a:picLocks noChangeAspect="1"/>
          </p:cNvPicPr>
          <p:nvPr/>
        </p:nvPicPr>
        <p:blipFill>
          <a:blip r:embed="rId2"/>
          <a:stretch>
            <a:fillRect/>
          </a:stretch>
        </p:blipFill>
        <p:spPr>
          <a:xfrm>
            <a:off x="10958515" y="473094"/>
            <a:ext cx="514014" cy="460336"/>
          </a:xfrm>
          <a:prstGeom prst="rect">
            <a:avLst/>
          </a:prstGeom>
        </p:spPr>
      </p:pic>
      <p:sp>
        <p:nvSpPr>
          <p:cNvPr id="13" name="Rectangle: Rounded Corners 12">
            <a:extLst>
              <a:ext uri="{FF2B5EF4-FFF2-40B4-BE49-F238E27FC236}">
                <a16:creationId xmlns:a16="http://schemas.microsoft.com/office/drawing/2014/main" id="{D80D0EF9-EA01-D6CF-7211-720087FC3EA1}"/>
              </a:ext>
              <a:ext uri="{C183D7F6-B498-43B3-948B-1728B52AA6E4}">
                <adec:decorative xmlns:adec="http://schemas.microsoft.com/office/drawing/2017/decorative" val="0"/>
              </a:ext>
            </a:extLst>
          </p:cNvPr>
          <p:cNvSpPr/>
          <p:nvPr/>
        </p:nvSpPr>
        <p:spPr bwMode="auto">
          <a:xfrm>
            <a:off x="739715" y="2902320"/>
            <a:ext cx="5013890" cy="562642"/>
          </a:xfrm>
          <a:prstGeom prst="roundRect">
            <a:avLst/>
          </a:prstGeom>
          <a:gradFill flip="none" rotWithShape="1">
            <a:gsLst>
              <a:gs pos="0">
                <a:schemeClr val="accent3"/>
              </a:gs>
              <a:gs pos="100000">
                <a:srgbClr val="8661C5"/>
              </a:gs>
              <a:gs pos="52000">
                <a:schemeClr val="tx2"/>
              </a:gs>
            </a:gsLst>
            <a:path path="circle">
              <a:fillToRect r="100000" b="100000"/>
            </a:path>
            <a:tileRect l="-100000" t="-100000"/>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1270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2000" b="0" i="0" u="none" strike="noStrike" kern="1200" cap="none" spc="0" normalizeH="0" baseline="0" noProof="0">
                <a:ln>
                  <a:noFill/>
                </a:ln>
                <a:solidFill>
                  <a:srgbClr val="FFFFFF"/>
                </a:solidFill>
                <a:effectLst/>
                <a:uLnTx/>
                <a:uFillTx/>
                <a:latin typeface="Segoe Sans Text Semibold"/>
                <a:ea typeface="+mn-ea"/>
                <a:cs typeface="+mn-cs"/>
              </a:rPr>
              <a:t>Expanding access to all users</a:t>
            </a:r>
          </a:p>
        </p:txBody>
      </p:sp>
      <p:sp>
        <p:nvSpPr>
          <p:cNvPr id="14" name="TextBox 13">
            <a:extLst>
              <a:ext uri="{FF2B5EF4-FFF2-40B4-BE49-F238E27FC236}">
                <a16:creationId xmlns:a16="http://schemas.microsoft.com/office/drawing/2014/main" id="{EE793FAA-3F77-A5E3-BBD7-78A5AF8783A3}"/>
              </a:ext>
            </a:extLst>
          </p:cNvPr>
          <p:cNvSpPr txBox="1">
            <a:spLocks/>
          </p:cNvSpPr>
          <p:nvPr/>
        </p:nvSpPr>
        <p:spPr>
          <a:xfrm>
            <a:off x="907312" y="3886371"/>
            <a:ext cx="4782736" cy="492443"/>
          </a:xfrm>
          <a:prstGeom prst="rect">
            <a:avLst/>
          </a:prstGeom>
          <a:noFill/>
        </p:spPr>
        <p:txBody>
          <a:bodyPr wrap="square" lIns="0" tIns="0" rIns="0" bIns="0" anchor="ctr">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000000"/>
                </a:solidFill>
                <a:effectLst/>
                <a:uLnTx/>
                <a:uFillTx/>
                <a:latin typeface="Segoe Sans Text Semibold"/>
                <a:ea typeface="+mn-ea"/>
                <a:cs typeface="+mn-cs"/>
              </a:rPr>
              <a:t>Expanding Copilot to all F-SKUs: </a:t>
            </a:r>
            <a:r>
              <a:rPr kumimoji="0" lang="en-US" sz="1600" b="0" i="0" u="none" strike="noStrike" kern="1200" cap="none" spc="0" normalizeH="0" baseline="0" noProof="0" dirty="0">
                <a:ln>
                  <a:noFill/>
                </a:ln>
                <a:solidFill>
                  <a:srgbClr val="000000"/>
                </a:solidFill>
                <a:effectLst/>
                <a:uLnTx/>
                <a:uFillTx/>
                <a:latin typeface="Segoe Sans Text"/>
                <a:ea typeface="+mn-ea"/>
                <a:cs typeface="+mn-cs"/>
              </a:rPr>
              <a:t>Copilot and AI capabilities will be enabled for all paid SKUs in Fabric.</a:t>
            </a:r>
          </a:p>
        </p:txBody>
      </p:sp>
      <p:sp>
        <p:nvSpPr>
          <p:cNvPr id="15" name="TextBox 14">
            <a:extLst>
              <a:ext uri="{FF2B5EF4-FFF2-40B4-BE49-F238E27FC236}">
                <a16:creationId xmlns:a16="http://schemas.microsoft.com/office/drawing/2014/main" id="{855ADA6D-9E3C-B8D4-B8E2-1E78179455C8}"/>
              </a:ext>
            </a:extLst>
          </p:cNvPr>
          <p:cNvSpPr txBox="1">
            <a:spLocks/>
          </p:cNvSpPr>
          <p:nvPr/>
        </p:nvSpPr>
        <p:spPr>
          <a:xfrm>
            <a:off x="1058400" y="5221631"/>
            <a:ext cx="4480560" cy="492443"/>
          </a:xfrm>
          <a:prstGeom prst="rect">
            <a:avLst/>
          </a:prstGeom>
          <a:noFill/>
        </p:spPr>
        <p:txBody>
          <a:bodyPr wrap="square" lIns="0" tIns="0" rIns="0" bIns="0" anchor="ctr">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Segoe Sans Text Semibold"/>
                <a:ea typeface="+mn-ea"/>
                <a:cs typeface="+mn-cs"/>
              </a:rPr>
              <a:t>Rate reduction: </a:t>
            </a:r>
            <a:r>
              <a:rPr kumimoji="0" lang="en-US" sz="1600" b="0" i="0" u="none" strike="noStrike" kern="1200" cap="none" spc="0" normalizeH="0" baseline="0" noProof="0">
                <a:ln>
                  <a:noFill/>
                </a:ln>
                <a:solidFill>
                  <a:srgbClr val="000000"/>
                </a:solidFill>
                <a:effectLst/>
                <a:uLnTx/>
                <a:uFillTx/>
                <a:latin typeface="Segoe Sans Text"/>
                <a:ea typeface="+mn-ea"/>
                <a:cs typeface="+mn-cs"/>
              </a:rPr>
              <a:t>We’ve reduced the Copilot in Fabric consumption rate by ~70% since launch. </a:t>
            </a:r>
          </a:p>
        </p:txBody>
      </p:sp>
      <p:sp>
        <p:nvSpPr>
          <p:cNvPr id="16" name="Rectangle: Rounded Corners 15">
            <a:extLst>
              <a:ext uri="{FF2B5EF4-FFF2-40B4-BE49-F238E27FC236}">
                <a16:creationId xmlns:a16="http://schemas.microsoft.com/office/drawing/2014/main" id="{16C6147B-2B14-AC6B-0823-0BC3B68053FD}"/>
              </a:ext>
              <a:ext uri="{C183D7F6-B498-43B3-948B-1728B52AA6E4}">
                <adec:decorative xmlns:adec="http://schemas.microsoft.com/office/drawing/2017/decorative" val="0"/>
              </a:ext>
            </a:extLst>
          </p:cNvPr>
          <p:cNvSpPr/>
          <p:nvPr/>
        </p:nvSpPr>
        <p:spPr bwMode="auto">
          <a:xfrm>
            <a:off x="6444195" y="2902320"/>
            <a:ext cx="5013890" cy="562642"/>
          </a:xfrm>
          <a:prstGeom prst="roundRect">
            <a:avLst/>
          </a:prstGeom>
          <a:gradFill flip="none" rotWithShape="1">
            <a:gsLst>
              <a:gs pos="0">
                <a:schemeClr val="accent3"/>
              </a:gs>
              <a:gs pos="100000">
                <a:srgbClr val="8661C5"/>
              </a:gs>
              <a:gs pos="52000">
                <a:schemeClr val="tx2"/>
              </a:gs>
            </a:gsLst>
            <a:path path="circle">
              <a:fillToRect r="100000" b="100000"/>
            </a:path>
            <a:tileRect l="-100000" t="-100000"/>
          </a:gra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12700" marR="0" lvl="0" indent="0" algn="ctr"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a:pPr>
            <a:r>
              <a:rPr kumimoji="0" lang="en-US" sz="2000" b="0" i="0" u="none" strike="noStrike" kern="1200" cap="none" spc="0" normalizeH="0" baseline="0" noProof="0">
                <a:ln>
                  <a:noFill/>
                </a:ln>
                <a:solidFill>
                  <a:srgbClr val="FFFFFF"/>
                </a:solidFill>
                <a:effectLst/>
                <a:uLnTx/>
                <a:uFillTx/>
                <a:latin typeface="Segoe Sans Text Semibold"/>
                <a:ea typeface="+mn-ea"/>
                <a:cs typeface="+mn-cs"/>
              </a:rPr>
              <a:t>New Copilot capacity</a:t>
            </a:r>
          </a:p>
        </p:txBody>
      </p:sp>
      <p:sp>
        <p:nvSpPr>
          <p:cNvPr id="17" name="TextBox 16">
            <a:extLst>
              <a:ext uri="{FF2B5EF4-FFF2-40B4-BE49-F238E27FC236}">
                <a16:creationId xmlns:a16="http://schemas.microsoft.com/office/drawing/2014/main" id="{BB632355-1060-E2F3-12A8-570A25FCD340}"/>
              </a:ext>
            </a:extLst>
          </p:cNvPr>
          <p:cNvSpPr txBox="1">
            <a:spLocks/>
          </p:cNvSpPr>
          <p:nvPr/>
        </p:nvSpPr>
        <p:spPr>
          <a:xfrm>
            <a:off x="6501952" y="3763260"/>
            <a:ext cx="4782736" cy="738664"/>
          </a:xfrm>
          <a:prstGeom prst="rect">
            <a:avLst/>
          </a:prstGeom>
          <a:noFill/>
        </p:spPr>
        <p:txBody>
          <a:bodyPr wrap="square" lIns="0" tIns="0" rIns="0" bIns="0" anchor="ctr">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Segoe Sans Text"/>
                <a:ea typeface="+mn-ea"/>
                <a:cs typeface="+mn-cs"/>
              </a:rPr>
              <a:t>Organizations with multiple capacities can direct Copilot consumption and billing to a specific capacity, no matter where the usage takes place.</a:t>
            </a:r>
          </a:p>
        </p:txBody>
      </p:sp>
      <p:sp>
        <p:nvSpPr>
          <p:cNvPr id="18" name="TextBox 17">
            <a:extLst>
              <a:ext uri="{FF2B5EF4-FFF2-40B4-BE49-F238E27FC236}">
                <a16:creationId xmlns:a16="http://schemas.microsoft.com/office/drawing/2014/main" id="{7301E0ED-C60F-944D-0BCF-755E5FE4DE09}"/>
              </a:ext>
            </a:extLst>
          </p:cNvPr>
          <p:cNvSpPr txBox="1">
            <a:spLocks/>
          </p:cNvSpPr>
          <p:nvPr/>
        </p:nvSpPr>
        <p:spPr>
          <a:xfrm>
            <a:off x="6653040" y="5098520"/>
            <a:ext cx="4480560" cy="738664"/>
          </a:xfrm>
          <a:prstGeom prst="rect">
            <a:avLst/>
          </a:prstGeom>
          <a:noFill/>
        </p:spPr>
        <p:txBody>
          <a:bodyPr wrap="square" lIns="0" tIns="0" rIns="0" bIns="0" anchor="ctr">
            <a:spAutoFit/>
          </a:bodyPr>
          <a:lstStyle/>
          <a:p>
            <a:pPr marL="0" marR="0" lvl="0" indent="0" algn="ctr" defTabSz="932742"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a:ln>
                  <a:noFill/>
                </a:ln>
                <a:solidFill>
                  <a:srgbClr val="000000"/>
                </a:solidFill>
                <a:effectLst/>
                <a:uLnTx/>
                <a:uFillTx/>
                <a:latin typeface="Segoe Sans Text"/>
                <a:ea typeface="+mn-ea"/>
                <a:cs typeface="+mn-cs"/>
              </a:rPr>
              <a:t>Admins can assign specific users to a specific capacity for all their Copilot requests, ensuring their requests don’t impact priority jobs.</a:t>
            </a:r>
          </a:p>
        </p:txBody>
      </p:sp>
    </p:spTree>
    <p:extLst>
      <p:ext uri="{BB962C8B-B14F-4D97-AF65-F5344CB8AC3E}">
        <p14:creationId xmlns:p14="http://schemas.microsoft.com/office/powerpoint/2010/main" val="58045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3766264-8A12-42A6-AB93-276F4C2CFB71}"/>
              </a:ext>
            </a:extLst>
          </p:cNvPr>
          <p:cNvSpPr txBox="1"/>
          <p:nvPr/>
        </p:nvSpPr>
        <p:spPr>
          <a:xfrm>
            <a:off x="645064" y="525982"/>
            <a:ext cx="4282983" cy="1200361"/>
          </a:xfrm>
          <a:prstGeom prst="rect">
            <a:avLst/>
          </a:prstGeom>
        </p:spPr>
        <p:txBody>
          <a:bodyPr vert="horz" lIns="91440" tIns="45720" rIns="91440" bIns="45720" rtlCol="0" anchor="b">
            <a:normAutofit/>
          </a:bodyPr>
          <a:lstStyle/>
          <a:p>
            <a:pPr marL="0" indent="0">
              <a:lnSpc>
                <a:spcPct val="90000"/>
              </a:lnSpc>
              <a:spcBef>
                <a:spcPct val="0"/>
              </a:spcBef>
              <a:spcAft>
                <a:spcPts val="600"/>
              </a:spcAft>
            </a:pPr>
            <a:r>
              <a:rPr lang="en-US" sz="2500" b="1" kern="1200">
                <a:solidFill>
                  <a:schemeClr val="tx1"/>
                </a:solidFill>
                <a:effectLst/>
                <a:latin typeface="+mj-lt"/>
                <a:ea typeface="+mj-ea"/>
                <a:cs typeface="+mj-cs"/>
              </a:rPr>
              <a:t>Settings for Copilot Tenants</a:t>
            </a:r>
            <a:endParaRPr lang="en-US" sz="2500" kern="1200">
              <a:solidFill>
                <a:schemeClr val="tx1"/>
              </a:solidFill>
              <a:effectLst/>
              <a:latin typeface="+mj-lt"/>
              <a:ea typeface="+mj-ea"/>
              <a:cs typeface="+mj-cs"/>
            </a:endParaRPr>
          </a:p>
          <a:p>
            <a:pPr marL="0" indent="0">
              <a:lnSpc>
                <a:spcPct val="90000"/>
              </a:lnSpc>
              <a:spcBef>
                <a:spcPct val="0"/>
              </a:spcBef>
              <a:spcAft>
                <a:spcPts val="600"/>
              </a:spcAft>
            </a:pPr>
            <a:br>
              <a:rPr lang="en-US" sz="2500" kern="1200">
                <a:solidFill>
                  <a:schemeClr val="tx1"/>
                </a:solidFill>
                <a:effectLst/>
                <a:latin typeface="+mj-lt"/>
                <a:ea typeface="+mj-ea"/>
                <a:cs typeface="+mj-cs"/>
              </a:rPr>
            </a:br>
            <a:endParaRPr lang="en-US" sz="2500" kern="1200">
              <a:solidFill>
                <a:schemeClr val="tx1"/>
              </a:solidFill>
              <a:latin typeface="+mj-lt"/>
              <a:ea typeface="+mj-ea"/>
              <a:cs typeface="+mj-cs"/>
            </a:endParaRPr>
          </a:p>
        </p:txBody>
      </p:sp>
      <p:sp>
        <p:nvSpPr>
          <p:cNvPr id="1049" name="Rectangle 1048">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F9A8F019-441C-EAA3-36F0-4C4A36AB55AF}"/>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b="0" i="0">
                <a:effectLst/>
              </a:rPr>
              <a:t>Fabric Copilot settings are controlled by the </a:t>
            </a:r>
            <a:r>
              <a:rPr lang="en-US" b="1" i="0">
                <a:effectLst/>
              </a:rPr>
              <a:t>Copilot and Azure OpenAI Service</a:t>
            </a:r>
            <a:r>
              <a:rPr lang="en-US" b="0" i="0">
                <a:effectLst/>
              </a:rPr>
              <a:t> tenant settings group.​ There are multiple settings governing user access and data processing policies, and some of them are enabled by default whereas others require the Fabric administrator to enable them.</a:t>
            </a:r>
          </a:p>
          <a:p>
            <a:pPr indent="-228600">
              <a:lnSpc>
                <a:spcPct val="90000"/>
              </a:lnSpc>
              <a:spcAft>
                <a:spcPts val="600"/>
              </a:spcAft>
              <a:buFont typeface="Arial" panose="020B0604020202020204" pitchFamily="34" charset="0"/>
              <a:buChar char="•"/>
            </a:pPr>
            <a:endParaRPr lang="en-US"/>
          </a:p>
        </p:txBody>
      </p:sp>
      <p:sp>
        <p:nvSpPr>
          <p:cNvPr id="1051" name="Rectangle 1050">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5" name="Rectangle 105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Screenshot showing the tenant setting where copilot can be enabled and disabled.">
            <a:extLst>
              <a:ext uri="{FF2B5EF4-FFF2-40B4-BE49-F238E27FC236}">
                <a16:creationId xmlns:a16="http://schemas.microsoft.com/office/drawing/2014/main" id="{87C61544-6A84-D6E9-661C-1614DBCD572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987738" y="681467"/>
            <a:ext cx="5628018" cy="52621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3274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1C2300D-6C7F-4973-95DD-75372833E4ED}"/>
            </a:ext>
          </a:extLst>
        </p:cNvPr>
        <p:cNvGrpSpPr/>
        <p:nvPr/>
      </p:nvGrpSpPr>
      <p:grpSpPr>
        <a:xfrm>
          <a:off x="0" y="0"/>
          <a:ext cx="0" cy="0"/>
          <a:chOff x="0" y="0"/>
          <a:chExt cx="0" cy="0"/>
        </a:xfrm>
      </p:grpSpPr>
      <p:sp useBgFill="1">
        <p:nvSpPr>
          <p:cNvPr id="2068" name="Rectangle 2067">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2E6AD7E-395D-D5A2-2747-93DFD4FB99B9}"/>
              </a:ext>
            </a:extLst>
          </p:cNvPr>
          <p:cNvSpPr txBox="1"/>
          <p:nvPr/>
        </p:nvSpPr>
        <p:spPr>
          <a:xfrm>
            <a:off x="589560" y="856180"/>
            <a:ext cx="5279408" cy="1128068"/>
          </a:xfrm>
          <a:prstGeom prst="rect">
            <a:avLst/>
          </a:prstGeom>
        </p:spPr>
        <p:txBody>
          <a:bodyPr vert="horz" lIns="91440" tIns="45720" rIns="91440" bIns="45720" rtlCol="0" anchor="ctr">
            <a:normAutofit/>
          </a:bodyPr>
          <a:lstStyle/>
          <a:p>
            <a:pPr marL="0" indent="0">
              <a:lnSpc>
                <a:spcPct val="90000"/>
              </a:lnSpc>
              <a:spcBef>
                <a:spcPct val="0"/>
              </a:spcBef>
              <a:spcAft>
                <a:spcPts val="600"/>
              </a:spcAft>
            </a:pPr>
            <a:r>
              <a:rPr lang="en-US" sz="2200" b="1">
                <a:effectLst/>
                <a:latin typeface="+mj-lt"/>
                <a:ea typeface="+mj-ea"/>
                <a:cs typeface="+mj-cs"/>
              </a:rPr>
              <a:t>Settings for Copilot Tenants</a:t>
            </a:r>
            <a:endParaRPr lang="en-US" sz="2200">
              <a:effectLst/>
              <a:latin typeface="+mj-lt"/>
              <a:ea typeface="+mj-ea"/>
              <a:cs typeface="+mj-cs"/>
            </a:endParaRPr>
          </a:p>
          <a:p>
            <a:pPr marL="0" indent="0">
              <a:lnSpc>
                <a:spcPct val="90000"/>
              </a:lnSpc>
              <a:spcBef>
                <a:spcPct val="0"/>
              </a:spcBef>
              <a:spcAft>
                <a:spcPts val="600"/>
              </a:spcAft>
            </a:pPr>
            <a:br>
              <a:rPr lang="en-US" sz="2200">
                <a:effectLst/>
                <a:latin typeface="+mj-lt"/>
                <a:ea typeface="+mj-ea"/>
                <a:cs typeface="+mj-cs"/>
              </a:rPr>
            </a:br>
            <a:endParaRPr lang="en-US" sz="2200">
              <a:latin typeface="+mj-lt"/>
              <a:ea typeface="+mj-ea"/>
              <a:cs typeface="+mj-cs"/>
            </a:endParaRPr>
          </a:p>
        </p:txBody>
      </p:sp>
      <p:grpSp>
        <p:nvGrpSpPr>
          <p:cNvPr id="2070" name="Group 206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071" name="Rectangle 207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2" name="Rectangle 207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74" name="Rectangle 207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B5D0DAB-8F14-81F7-2AC3-867A39AFF522}"/>
              </a:ext>
            </a:extLst>
          </p:cNvPr>
          <p:cNvSpPr txBox="1"/>
          <p:nvPr/>
        </p:nvSpPr>
        <p:spPr>
          <a:xfrm>
            <a:off x="590719" y="2330505"/>
            <a:ext cx="5278066" cy="3979585"/>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sz="2000" dirty="0"/>
              <a:t>This setting is only applicable for customers who want to use Copilot and AI features in Fabric powered by Azure OpenAI, and whose capacity's geographic region is outside of the EU data boundary and the US. When this setting is enabled, service background jobs may execute across geographic boundaries at no charge to the tenant capacity to support end user experiences.</a:t>
            </a:r>
          </a:p>
          <a:p>
            <a:pPr>
              <a:lnSpc>
                <a:spcPct val="90000"/>
              </a:lnSpc>
              <a:spcAft>
                <a:spcPts val="600"/>
              </a:spcAft>
            </a:pPr>
            <a:br>
              <a:rPr lang="en-US" sz="2000" dirty="0"/>
            </a:br>
            <a:r>
              <a:rPr lang="en-US" sz="2000" b="1" dirty="0"/>
              <a:t>Default:</a:t>
            </a:r>
            <a:r>
              <a:rPr lang="en-US" sz="2000" dirty="0"/>
              <a:t> Disabled</a:t>
            </a:r>
          </a:p>
          <a:p>
            <a:pPr>
              <a:lnSpc>
                <a:spcPct val="90000"/>
              </a:lnSpc>
              <a:spcAft>
                <a:spcPts val="600"/>
              </a:spcAft>
            </a:pPr>
            <a:br>
              <a:rPr lang="en-US" sz="2000" dirty="0"/>
            </a:br>
            <a:endParaRPr lang="en-US" sz="2000" dirty="0"/>
          </a:p>
        </p:txBody>
      </p:sp>
      <p:sp>
        <p:nvSpPr>
          <p:cNvPr id="2076" name="Rectangle 207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78" name="Rectangle 207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2" name="Picture 4" descr="Screenshot of Fabric Copilot Storage setting in the admin portal.">
            <a:extLst>
              <a:ext uri="{FF2B5EF4-FFF2-40B4-BE49-F238E27FC236}">
                <a16:creationId xmlns:a16="http://schemas.microsoft.com/office/drawing/2014/main" id="{2E95A9FD-EE51-AAAB-F184-82538307CDC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26909" y="581892"/>
            <a:ext cx="3510460" cy="2518756"/>
          </a:xfrm>
          <a:prstGeom prst="rect">
            <a:avLst/>
          </a:prstGeom>
          <a:noFill/>
          <a:extLst>
            <a:ext uri="{909E8E84-426E-40DD-AFC4-6F175D3DCCD1}">
              <a14:hiddenFill xmlns:a14="http://schemas.microsoft.com/office/drawing/2010/main">
                <a:solidFill>
                  <a:srgbClr val="FFFFFF"/>
                </a:solidFill>
              </a14:hiddenFill>
            </a:ext>
          </a:extLst>
        </p:spPr>
      </p:pic>
      <p:sp>
        <p:nvSpPr>
          <p:cNvPr id="2080" name="Rectangle 2079">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Screenshot showing the tenant setting for data processing outside the capacity's region.">
            <a:extLst>
              <a:ext uri="{FF2B5EF4-FFF2-40B4-BE49-F238E27FC236}">
                <a16:creationId xmlns:a16="http://schemas.microsoft.com/office/drawing/2014/main" id="{7449B633-C008-D65F-76B4-E274F0C1476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561920" y="3707894"/>
            <a:ext cx="3438574"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9864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F9A53F3-7FD6-1B2B-543F-36CC19A221D6}"/>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2C8C21C-C276-D5FB-C67E-F86E6A7E7790}"/>
              </a:ext>
            </a:extLst>
          </p:cNvPr>
          <p:cNvSpPr txBox="1"/>
          <p:nvPr/>
        </p:nvSpPr>
        <p:spPr>
          <a:xfrm>
            <a:off x="645064" y="525982"/>
            <a:ext cx="4282983" cy="1200361"/>
          </a:xfrm>
          <a:prstGeom prst="rect">
            <a:avLst/>
          </a:prstGeom>
        </p:spPr>
        <p:txBody>
          <a:bodyPr vert="horz" lIns="91440" tIns="45720" rIns="91440" bIns="45720" rtlCol="0" anchor="b">
            <a:normAutofit/>
          </a:bodyPr>
          <a:lstStyle/>
          <a:p>
            <a:pPr marL="0" indent="0">
              <a:lnSpc>
                <a:spcPct val="90000"/>
              </a:lnSpc>
              <a:spcBef>
                <a:spcPct val="0"/>
              </a:spcBef>
              <a:spcAft>
                <a:spcPts val="600"/>
              </a:spcAft>
            </a:pPr>
            <a:r>
              <a:rPr lang="en-US" sz="2500" b="1" kern="1200">
                <a:solidFill>
                  <a:schemeClr val="tx1"/>
                </a:solidFill>
                <a:effectLst/>
                <a:latin typeface="+mj-lt"/>
                <a:ea typeface="+mj-ea"/>
                <a:cs typeface="+mj-cs"/>
              </a:rPr>
              <a:t>Settings for Copilot Tenants</a:t>
            </a:r>
            <a:endParaRPr lang="en-US" sz="2500" kern="1200">
              <a:solidFill>
                <a:schemeClr val="tx1"/>
              </a:solidFill>
              <a:effectLst/>
              <a:latin typeface="+mj-lt"/>
              <a:ea typeface="+mj-ea"/>
              <a:cs typeface="+mj-cs"/>
            </a:endParaRPr>
          </a:p>
          <a:p>
            <a:pPr marL="0" indent="0">
              <a:lnSpc>
                <a:spcPct val="90000"/>
              </a:lnSpc>
              <a:spcBef>
                <a:spcPct val="0"/>
              </a:spcBef>
              <a:spcAft>
                <a:spcPts val="600"/>
              </a:spcAft>
            </a:pPr>
            <a:br>
              <a:rPr lang="en-US" sz="2500" kern="1200">
                <a:solidFill>
                  <a:schemeClr val="tx1"/>
                </a:solidFill>
                <a:effectLst/>
                <a:latin typeface="+mj-lt"/>
                <a:ea typeface="+mj-ea"/>
                <a:cs typeface="+mj-cs"/>
              </a:rPr>
            </a:br>
            <a:endParaRPr lang="en-US" sz="2500" kern="1200">
              <a:solidFill>
                <a:schemeClr val="tx1"/>
              </a:solidFill>
              <a:latin typeface="+mj-lt"/>
              <a:ea typeface="+mj-ea"/>
              <a:cs typeface="+mj-cs"/>
            </a:endParaRPr>
          </a:p>
        </p:txBody>
      </p:sp>
      <p:sp>
        <p:nvSpPr>
          <p:cNvPr id="3081" name="Rectangle 308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4DE148A-D7D5-D894-F29C-4A8E492EDC37}"/>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Copilot capacities enable users' usage and billing to be consolidated under a single capacity. Fabric administrators can assign specific groups or the entire organization to manage capacities as Fabric Copilot capacities. Capacity administrators must designate user access to each Copilot capacity and can view item names linked to users' Copilot activity in the Fabric capacity metrics app.</a:t>
            </a:r>
            <a:endParaRPr lang="en-US"/>
          </a:p>
        </p:txBody>
      </p:sp>
      <p:sp>
        <p:nvSpPr>
          <p:cNvPr id="3083" name="Rectangle 308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5" name="Rectangle 308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7" name="Rectangle 308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Screenshot showing the tenant setting for data storage outside the capacity's region.">
            <a:extLst>
              <a:ext uri="{FF2B5EF4-FFF2-40B4-BE49-F238E27FC236}">
                <a16:creationId xmlns:a16="http://schemas.microsoft.com/office/drawing/2014/main" id="{DAAC8659-DA27-E57C-D350-193B6F9AD20E}"/>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5987738" y="1884455"/>
            <a:ext cx="5628018" cy="28562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1420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30EAA-A449-CA34-87BF-B1B1ED28E2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91CF3DB-C252-AEEC-F702-42F548840179}"/>
              </a:ext>
            </a:extLst>
          </p:cNvPr>
          <p:cNvSpPr txBox="1"/>
          <p:nvPr/>
        </p:nvSpPr>
        <p:spPr>
          <a:xfrm>
            <a:off x="576244" y="254520"/>
            <a:ext cx="9539306" cy="2702993"/>
          </a:xfrm>
          <a:prstGeom prst="rect">
            <a:avLst/>
          </a:prstGeom>
        </p:spPr>
        <p:txBody>
          <a:bodyPr vert="horz" lIns="91440" tIns="45720" rIns="91440" bIns="45720" rtlCol="0" anchor="b">
            <a:noAutofit/>
          </a:bodyPr>
          <a:lstStyle/>
          <a:p>
            <a:r>
              <a:rPr lang="en-US" sz="3600" b="1"/>
              <a:t>Users can access a standalone, cross-item Power BI Copilot experience (preview)</a:t>
            </a:r>
          </a:p>
          <a:p>
            <a:br>
              <a:rPr lang="en-US" sz="3600"/>
            </a:br>
            <a:br>
              <a:rPr lang="en-US" sz="3600" kern="1200">
                <a:solidFill>
                  <a:schemeClr val="tx1"/>
                </a:solidFill>
                <a:effectLst/>
                <a:latin typeface="+mj-lt"/>
                <a:ea typeface="+mj-ea"/>
                <a:cs typeface="+mj-cs"/>
              </a:rPr>
            </a:br>
            <a:endParaRPr lang="en-US" sz="3600" kern="1200" dirty="0">
              <a:solidFill>
                <a:schemeClr val="tx1"/>
              </a:solidFill>
              <a:latin typeface="+mj-lt"/>
              <a:ea typeface="+mj-ea"/>
              <a:cs typeface="+mj-cs"/>
            </a:endParaRPr>
          </a:p>
        </p:txBody>
      </p:sp>
      <p:sp>
        <p:nvSpPr>
          <p:cNvPr id="5" name="TextBox 4">
            <a:extLst>
              <a:ext uri="{FF2B5EF4-FFF2-40B4-BE49-F238E27FC236}">
                <a16:creationId xmlns:a16="http://schemas.microsoft.com/office/drawing/2014/main" id="{53B7E941-AACA-F067-900E-078553AA8B68}"/>
              </a:ext>
            </a:extLst>
          </p:cNvPr>
          <p:cNvSpPr txBox="1"/>
          <p:nvPr/>
        </p:nvSpPr>
        <p:spPr>
          <a:xfrm>
            <a:off x="645066" y="2031101"/>
            <a:ext cx="4282984"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You can enable copilot as a standalone experience for Fabric. Enabling this setting allows users to access the standalone Copilot experience from the left navigation. </a:t>
            </a:r>
          </a:p>
          <a:p>
            <a:pPr indent="-228600">
              <a:lnSpc>
                <a:spcPct val="90000"/>
              </a:lnSpc>
              <a:spcAft>
                <a:spcPts val="600"/>
              </a:spcAft>
              <a:buFont typeface="Arial" panose="020B0604020202020204" pitchFamily="34" charset="0"/>
              <a:buChar char="•"/>
            </a:pPr>
            <a:r>
              <a:rPr lang="en-US" dirty="0"/>
              <a:t>This setting also affects the Power BI agent. Turn on this setting to enable the Power BI agent in Microsoft 365.</a:t>
            </a:r>
          </a:p>
        </p:txBody>
      </p:sp>
      <p:pic>
        <p:nvPicPr>
          <p:cNvPr id="4098" name="Picture 2" descr="Screenshot showing the tenant setting for standalone Copilot.">
            <a:extLst>
              <a:ext uri="{FF2B5EF4-FFF2-40B4-BE49-F238E27FC236}">
                <a16:creationId xmlns:a16="http://schemas.microsoft.com/office/drawing/2014/main" id="{BFABBD91-487E-F177-452D-7C3C48AF4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43651" y="1346027"/>
            <a:ext cx="5614988" cy="55119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17324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7">
            <a:extLst>
              <a:ext uri="{FF2B5EF4-FFF2-40B4-BE49-F238E27FC236}">
                <a16:creationId xmlns:a16="http://schemas.microsoft.com/office/drawing/2014/main" id="{4B852C05-9C24-B7A5-E999-E3F11F2B6040}"/>
              </a:ext>
            </a:extLst>
          </p:cNvPr>
          <p:cNvSpPr txBox="1">
            <a:spLocks/>
          </p:cNvSpPr>
          <p:nvPr/>
        </p:nvSpPr>
        <p:spPr>
          <a:xfrm>
            <a:off x="638881" y="417576"/>
            <a:ext cx="10909640" cy="124939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Aft>
                <a:spcPts val="600"/>
              </a:spcAft>
            </a:pPr>
            <a:r>
              <a:rPr lang="en-US" sz="4000" dirty="0"/>
              <a:t>Enable Fabric Copilot for Power BI</a:t>
            </a:r>
            <a:endParaRPr lang="en-US" sz="4100" kern="1200" dirty="0">
              <a:solidFill>
                <a:schemeClr val="tx1"/>
              </a:solidFill>
              <a:latin typeface="+mj-lt"/>
              <a:ea typeface="+mj-ea"/>
              <a:cs typeface="+mj-cs"/>
            </a:endParaRPr>
          </a:p>
        </p:txBody>
      </p:sp>
      <p:sp>
        <p:nvSpPr>
          <p:cNvPr id="35"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onnsiteX0" fmla="*/ 0 w 4572000"/>
              <a:gd name="connsiteY0" fmla="*/ 0 h 18288"/>
              <a:gd name="connsiteX1" fmla="*/ 515983 w 4572000"/>
              <a:gd name="connsiteY1" fmla="*/ 0 h 18288"/>
              <a:gd name="connsiteX2" fmla="*/ 1031966 w 4572000"/>
              <a:gd name="connsiteY2" fmla="*/ 0 h 18288"/>
              <a:gd name="connsiteX3" fmla="*/ 1639389 w 4572000"/>
              <a:gd name="connsiteY3" fmla="*/ 0 h 18288"/>
              <a:gd name="connsiteX4" fmla="*/ 2383971 w 4572000"/>
              <a:gd name="connsiteY4" fmla="*/ 0 h 18288"/>
              <a:gd name="connsiteX5" fmla="*/ 2945674 w 4572000"/>
              <a:gd name="connsiteY5" fmla="*/ 0 h 18288"/>
              <a:gd name="connsiteX6" fmla="*/ 3507377 w 4572000"/>
              <a:gd name="connsiteY6" fmla="*/ 0 h 18288"/>
              <a:gd name="connsiteX7" fmla="*/ 4572000 w 4572000"/>
              <a:gd name="connsiteY7" fmla="*/ 0 h 18288"/>
              <a:gd name="connsiteX8" fmla="*/ 4572000 w 4572000"/>
              <a:gd name="connsiteY8" fmla="*/ 18288 h 18288"/>
              <a:gd name="connsiteX9" fmla="*/ 3873137 w 4572000"/>
              <a:gd name="connsiteY9" fmla="*/ 18288 h 18288"/>
              <a:gd name="connsiteX10" fmla="*/ 3311434 w 4572000"/>
              <a:gd name="connsiteY10" fmla="*/ 18288 h 18288"/>
              <a:gd name="connsiteX11" fmla="*/ 2749731 w 4572000"/>
              <a:gd name="connsiteY11" fmla="*/ 18288 h 18288"/>
              <a:gd name="connsiteX12" fmla="*/ 2050869 w 4572000"/>
              <a:gd name="connsiteY12" fmla="*/ 18288 h 18288"/>
              <a:gd name="connsiteX13" fmla="*/ 1306286 w 4572000"/>
              <a:gd name="connsiteY13" fmla="*/ 18288 h 18288"/>
              <a:gd name="connsiteX14" fmla="*/ 790303 w 4572000"/>
              <a:gd name="connsiteY14" fmla="*/ 18288 h 18288"/>
              <a:gd name="connsiteX15" fmla="*/ 0 w 4572000"/>
              <a:gd name="connsiteY15" fmla="*/ 18288 h 18288"/>
              <a:gd name="connsiteX16" fmla="*/ 0 w 457200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Table 1">
            <a:extLst>
              <a:ext uri="{FF2B5EF4-FFF2-40B4-BE49-F238E27FC236}">
                <a16:creationId xmlns:a16="http://schemas.microsoft.com/office/drawing/2014/main" id="{D8C444A9-67F9-805C-A46C-8DE0AD16BCD5}"/>
              </a:ext>
            </a:extLst>
          </p:cNvPr>
          <p:cNvGraphicFramePr>
            <a:graphicFrameLocks noGrp="1"/>
          </p:cNvGraphicFramePr>
          <p:nvPr>
            <p:extLst>
              <p:ext uri="{D42A27DB-BD31-4B8C-83A1-F6EECF244321}">
                <p14:modId xmlns:p14="http://schemas.microsoft.com/office/powerpoint/2010/main" val="616343384"/>
              </p:ext>
            </p:extLst>
          </p:nvPr>
        </p:nvGraphicFramePr>
        <p:xfrm>
          <a:off x="754609" y="2084546"/>
          <a:ext cx="10679734" cy="4135286"/>
        </p:xfrm>
        <a:graphic>
          <a:graphicData uri="http://schemas.openxmlformats.org/drawingml/2006/table">
            <a:tbl>
              <a:tblPr>
                <a:noFill/>
                <a:tableStyleId>{8EC20E35-A176-4012-BC5E-935CFFF8708E}</a:tableStyleId>
              </a:tblPr>
              <a:tblGrid>
                <a:gridCol w="4610770">
                  <a:extLst>
                    <a:ext uri="{9D8B030D-6E8A-4147-A177-3AD203B41FA5}">
                      <a16:colId xmlns:a16="http://schemas.microsoft.com/office/drawing/2014/main" val="560360152"/>
                    </a:ext>
                  </a:extLst>
                </a:gridCol>
                <a:gridCol w="6068964">
                  <a:extLst>
                    <a:ext uri="{9D8B030D-6E8A-4147-A177-3AD203B41FA5}">
                      <a16:colId xmlns:a16="http://schemas.microsoft.com/office/drawing/2014/main" val="1985964391"/>
                    </a:ext>
                  </a:extLst>
                </a:gridCol>
              </a:tblGrid>
              <a:tr h="234088">
                <a:tc>
                  <a:txBody>
                    <a:bodyPr/>
                    <a:lstStyle/>
                    <a:p>
                      <a:pPr>
                        <a:buNone/>
                      </a:pPr>
                      <a:r>
                        <a:rPr lang="en-AU" sz="800" b="1" cap="none" spc="0">
                          <a:solidFill>
                            <a:schemeClr val="tx1"/>
                          </a:solidFill>
                        </a:rPr>
                        <a:t>Section</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28575" cap="flat" cmpd="sng" algn="ctr">
                      <a:noFill/>
                      <a:prstDash val="solid"/>
                    </a:lnT>
                    <a:lnB w="12700" cmpd="sng">
                      <a:noFill/>
                      <a:prstDash val="solid"/>
                    </a:lnB>
                    <a:noFill/>
                  </a:tcPr>
                </a:tc>
                <a:tc>
                  <a:txBody>
                    <a:bodyPr/>
                    <a:lstStyle/>
                    <a:p>
                      <a:pPr>
                        <a:buNone/>
                      </a:pPr>
                      <a:r>
                        <a:rPr lang="en-AU" sz="800" b="1" cap="none" spc="0">
                          <a:solidFill>
                            <a:schemeClr val="tx1"/>
                          </a:solidFill>
                        </a:rPr>
                        <a:t>Key Points</a:t>
                      </a:r>
                      <a:endParaRPr lang="en-AU" sz="800" cap="none" spc="0">
                        <a:solidFill>
                          <a:schemeClr val="tx1"/>
                        </a:solidFill>
                      </a:endParaRPr>
                    </a:p>
                  </a:txBody>
                  <a:tcPr marL="11115" marR="11115" marT="30196" marB="30196" anchor="ctr">
                    <a:lnL w="12700" cmpd="sng">
                      <a:noFill/>
                      <a:prstDash val="solid"/>
                    </a:lnL>
                    <a:lnR w="28575" cap="flat" cmpd="sng" algn="ctr">
                      <a:noFill/>
                      <a:prstDash val="solid"/>
                    </a:lnR>
                    <a:lnT w="28575" cap="flat" cmpd="sng" algn="ctr">
                      <a:noFill/>
                      <a:prstDash val="solid"/>
                    </a:lnT>
                    <a:lnB w="12700" cmpd="sng">
                      <a:noFill/>
                      <a:prstDash val="solid"/>
                    </a:lnB>
                    <a:noFill/>
                  </a:tcPr>
                </a:tc>
                <a:extLst>
                  <a:ext uri="{0D108BD9-81ED-4DB2-BD59-A6C34878D82A}">
                    <a16:rowId xmlns:a16="http://schemas.microsoft.com/office/drawing/2014/main" val="3069762273"/>
                  </a:ext>
                </a:extLst>
              </a:tr>
              <a:tr h="234088">
                <a:tc>
                  <a:txBody>
                    <a:bodyPr/>
                    <a:lstStyle/>
                    <a:p>
                      <a:pPr>
                        <a:buNone/>
                      </a:pPr>
                      <a:r>
                        <a:rPr lang="en-AU" sz="800" b="1" cap="none" spc="0">
                          <a:solidFill>
                            <a:schemeClr val="tx1"/>
                          </a:solidFill>
                        </a:rPr>
                        <a:t>Applies to</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Power BI Desktop and Power BI Service.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3223545985"/>
                  </a:ext>
                </a:extLst>
              </a:tr>
              <a:tr h="234088">
                <a:tc>
                  <a:txBody>
                    <a:bodyPr/>
                    <a:lstStyle/>
                    <a:p>
                      <a:pPr>
                        <a:buNone/>
                      </a:pPr>
                      <a:r>
                        <a:rPr lang="en-AU" sz="800" b="1" cap="none" spc="0">
                          <a:solidFill>
                            <a:schemeClr val="tx1"/>
                          </a:solidFill>
                        </a:rPr>
                        <a:t>Purpose</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Helps organisations enable and start using Copilot in Microsoft Fabric (and specifically in Power BI).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2911136052"/>
                  </a:ext>
                </a:extLst>
              </a:tr>
              <a:tr h="366711">
                <a:tc>
                  <a:txBody>
                    <a:bodyPr/>
                    <a:lstStyle/>
                    <a:p>
                      <a:pPr>
                        <a:buNone/>
                      </a:pPr>
                      <a:r>
                        <a:rPr lang="en-US" sz="800" b="1" cap="none" spc="0">
                          <a:solidFill>
                            <a:schemeClr val="tx1"/>
                          </a:solidFill>
                        </a:rPr>
                        <a:t>Prerequisites / Admin Steps (Tenant level)</a:t>
                      </a:r>
                      <a:endParaRPr lang="en-US"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dirty="0">
                          <a:solidFill>
                            <a:schemeClr val="tx1"/>
                          </a:solidFill>
                        </a:rPr>
                        <a:t>• In the Fabric Admin portal: go to Tenant settings. • Enable the setting “Users can use Copilot and other features powered by Azure OpenAI”. (</a:t>
                      </a:r>
                      <a:r>
                        <a:rPr lang="en-US" sz="800" cap="none" spc="0" dirty="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dirty="0">
                          <a:solidFill>
                            <a:schemeClr val="tx1"/>
                          </a:solidFill>
                        </a:rPr>
                        <a:t>) • Specify which users/groups it applies to. (</a:t>
                      </a:r>
                      <a:r>
                        <a:rPr lang="en-US" sz="800" cap="none" spc="0" dirty="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dirty="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2876958350"/>
                  </a:ext>
                </a:extLst>
              </a:tr>
              <a:tr h="366711">
                <a:tc>
                  <a:txBody>
                    <a:bodyPr/>
                    <a:lstStyle/>
                    <a:p>
                      <a:pPr>
                        <a:buNone/>
                      </a:pPr>
                      <a:r>
                        <a:rPr lang="en-AU" sz="800" b="1" cap="none" spc="0">
                          <a:solidFill>
                            <a:schemeClr val="tx1"/>
                          </a:solidFill>
                        </a:rPr>
                        <a:t>Data-sharing / Geolocation setting</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If Azure OpenAI is not available in the organisation’s region, admins must enable: “Data sent to Azure OpenAI can be processed outside your capacity’s geographic region/compliance boundary”.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2998185939"/>
                  </a:ext>
                </a:extLst>
              </a:tr>
              <a:tr h="366711">
                <a:tc>
                  <a:txBody>
                    <a:bodyPr/>
                    <a:lstStyle/>
                    <a:p>
                      <a:pPr>
                        <a:buNone/>
                      </a:pPr>
                      <a:r>
                        <a:rPr lang="en-AU" sz="800" b="1" cap="none" spc="0">
                          <a:solidFill>
                            <a:schemeClr val="tx1"/>
                          </a:solidFill>
                        </a:rPr>
                        <a:t>Capacity-level enablement</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Admins can delegate Copilot enablement to capacity admins (for specific Fabric capacities). If tenant-level is off, a capacity admin </a:t>
                      </a:r>
                      <a:r>
                        <a:rPr lang="en-US" sz="800" b="1" cap="none" spc="0">
                          <a:solidFill>
                            <a:schemeClr val="tx1"/>
                          </a:solidFill>
                        </a:rPr>
                        <a:t>can</a:t>
                      </a:r>
                      <a:r>
                        <a:rPr lang="en-US" sz="800" cap="none" spc="0">
                          <a:solidFill>
                            <a:schemeClr val="tx1"/>
                          </a:solidFill>
                        </a:rPr>
                        <a:t> still enable Copilot for their capacity if delegated.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1109834342"/>
                  </a:ext>
                </a:extLst>
              </a:tr>
              <a:tr h="499334">
                <a:tc>
                  <a:txBody>
                    <a:bodyPr/>
                    <a:lstStyle/>
                    <a:p>
                      <a:pPr>
                        <a:buNone/>
                      </a:pPr>
                      <a:r>
                        <a:rPr lang="en-US" sz="800" b="1" cap="none" spc="0">
                          <a:solidFill>
                            <a:schemeClr val="tx1"/>
                          </a:solidFill>
                        </a:rPr>
                        <a:t>Standalone Power BI Copilot experience (Preview)</a:t>
                      </a:r>
                      <a:endParaRPr lang="en-US"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 There is a tenant setting “Users can access a standalone, cross-item Power BI Copilot experience (preview)”.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Note: Standalone Copilot will be enabled by default (from ~Sep 5 2025) for tenants with Copilot already turned on.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Not supported in all regions.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955324611"/>
                  </a:ext>
                </a:extLst>
              </a:tr>
              <a:tr h="366711">
                <a:tc>
                  <a:txBody>
                    <a:bodyPr/>
                    <a:lstStyle/>
                    <a:p>
                      <a:pPr>
                        <a:buNone/>
                      </a:pPr>
                      <a:r>
                        <a:rPr lang="en-US" sz="800" b="1" cap="none" spc="0">
                          <a:solidFill>
                            <a:schemeClr val="tx1"/>
                          </a:solidFill>
                        </a:rPr>
                        <a:t>Using Copilot in Power BI Service</a:t>
                      </a:r>
                      <a:endParaRPr lang="en-US"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 Workspace must be in a Premium Power BI capacity (P1 or higher) or paid Fabric capacity (F2 or higher) for Copilot to be available.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Verify workspace settings via Workspace &gt; Settings &gt; Premium/Fabric capacity.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292384909"/>
                  </a:ext>
                </a:extLst>
              </a:tr>
              <a:tr h="499334">
                <a:tc>
                  <a:txBody>
                    <a:bodyPr/>
                    <a:lstStyle/>
                    <a:p>
                      <a:pPr>
                        <a:buNone/>
                      </a:pPr>
                      <a:r>
                        <a:rPr lang="en-US" sz="800" b="1" cap="none" spc="0">
                          <a:solidFill>
                            <a:schemeClr val="tx1"/>
                          </a:solidFill>
                        </a:rPr>
                        <a:t>Using Copilot in Power BI Desktop</a:t>
                      </a:r>
                      <a:endParaRPr lang="en-US"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 The Copilot button appears in the ribbon. (</a:t>
                      </a:r>
                      <a:r>
                        <a:rPr lang="en-US" sz="800" cap="none" spc="0">
                          <a:solidFill>
                            <a:schemeClr val="tx1"/>
                          </a:solidFill>
                          <a:hlinkClick r:id="rId3" tooltip="Use Copilot in Power BI Desktop">
                            <a:extLst>
                              <a:ext uri="{A12FA001-AC4F-418D-AE19-62706E023703}">
                                <ahyp:hlinkClr xmlns:ahyp="http://schemas.microsoft.com/office/drawing/2018/hyperlinkcolor" val="tx"/>
                              </a:ext>
                            </a:extLst>
                          </a:hlinkClick>
                        </a:rPr>
                        <a:t>Microsoft Learn</a:t>
                      </a:r>
                      <a:r>
                        <a:rPr lang="en-US" sz="800" cap="none" spc="0">
                          <a:solidFill>
                            <a:schemeClr val="tx1"/>
                          </a:solidFill>
                        </a:rPr>
                        <a:t>) • To use: you must have access (admin/member/contributor) to at least one workspace in a supported capacity (paid Fabric or Premium) and Copilot enabled. (</a:t>
                      </a:r>
                      <a:r>
                        <a:rPr lang="en-US" sz="800" cap="none" spc="0">
                          <a:solidFill>
                            <a:schemeClr val="tx1"/>
                          </a:solidFill>
                          <a:hlinkClick r:id="rId3" tooltip="Use Copilot in Power BI Desktop">
                            <a:extLst>
                              <a:ext uri="{A12FA001-AC4F-418D-AE19-62706E023703}">
                                <ahyp:hlinkClr xmlns:ahyp="http://schemas.microsoft.com/office/drawing/2018/hyperlinkcolor" val="tx"/>
                              </a:ext>
                            </a:extLst>
                          </a:hlinkClick>
                        </a:rPr>
                        <a:t>Microsoft Learn</a:t>
                      </a:r>
                      <a:r>
                        <a:rPr lang="en-US" sz="800" cap="none" spc="0">
                          <a:solidFill>
                            <a:schemeClr val="tx1"/>
                          </a:solidFill>
                        </a:rPr>
                        <a:t>) • On first use, you’ll be prompted to select a supported workspace. (</a:t>
                      </a:r>
                      <a:r>
                        <a:rPr lang="en-US" sz="800" cap="none" spc="0">
                          <a:solidFill>
                            <a:schemeClr val="tx1"/>
                          </a:solidFill>
                          <a:hlinkClick r:id="rId3" tooltip="Use Copilot in Power BI Desktop">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984700563"/>
                  </a:ext>
                </a:extLst>
              </a:tr>
              <a:tr h="366711">
                <a:tc>
                  <a:txBody>
                    <a:bodyPr/>
                    <a:lstStyle/>
                    <a:p>
                      <a:pPr>
                        <a:buNone/>
                      </a:pPr>
                      <a:r>
                        <a:rPr lang="en-AU" sz="800" b="1" cap="none" spc="0">
                          <a:solidFill>
                            <a:schemeClr val="tx1"/>
                          </a:solidFill>
                        </a:rPr>
                        <a:t>Licensing / Capacity Requirements</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 Only paid SKUs/capacities supported (e.g., not trial SKUs).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Your capacity must be in a supported region for Fabric/Copilot.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2875802063"/>
                  </a:ext>
                </a:extLst>
              </a:tr>
              <a:tr h="366711">
                <a:tc>
                  <a:txBody>
                    <a:bodyPr/>
                    <a:lstStyle/>
                    <a:p>
                      <a:pPr>
                        <a:buNone/>
                      </a:pPr>
                      <a:r>
                        <a:rPr lang="en-AU" sz="800" b="1" cap="none" spc="0">
                          <a:solidFill>
                            <a:schemeClr val="tx1"/>
                          </a:solidFill>
                        </a:rPr>
                        <a:t>Considerations &amp; Limitations</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12700" cmpd="sng">
                      <a:noFill/>
                      <a:prstDash val="solid"/>
                    </a:lnB>
                    <a:noFill/>
                  </a:tcPr>
                </a:tc>
                <a:tc>
                  <a:txBody>
                    <a:bodyPr/>
                    <a:lstStyle/>
                    <a:p>
                      <a:pPr>
                        <a:buNone/>
                      </a:pPr>
                      <a:r>
                        <a:rPr lang="en-US" sz="800" cap="none" spc="0">
                          <a:solidFill>
                            <a:schemeClr val="tx1"/>
                          </a:solidFill>
                        </a:rPr>
                        <a:t>• Some regions are not yet supported for standalone Copilot. (</a:t>
                      </a:r>
                      <a:r>
                        <a:rPr lang="en-US" sz="800" cap="none" spc="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Not currently supported in sovereign clouds due to GPU availability. (</a:t>
                      </a:r>
                      <a:r>
                        <a:rPr lang="en-US" sz="800" cap="none" spc="0">
                          <a:solidFill>
                            <a:schemeClr val="tx1"/>
                          </a:solidFill>
                          <a:hlinkClick r:id="rId4" tooltip="Overview of Copilot for Power BI">
                            <a:extLst>
                              <a:ext uri="{A12FA001-AC4F-418D-AE19-62706E023703}">
                                <ahyp:hlinkClr xmlns:ahyp="http://schemas.microsoft.com/office/drawing/2018/hyperlinkcolor" val="tx"/>
                              </a:ext>
                            </a:extLst>
                          </a:hlinkClick>
                        </a:rPr>
                        <a:t>Microsoft Learn</a:t>
                      </a:r>
                      <a:r>
                        <a:rPr lang="en-US" sz="800" cap="none" spc="0">
                          <a:solidFill>
                            <a:schemeClr val="tx1"/>
                          </a:solidFill>
                        </a:rPr>
                        <a:t>) • Workspace must meet capacity/licensing; if not, users may see errors or disabled features. (</a:t>
                      </a:r>
                      <a:r>
                        <a:rPr lang="en-US" sz="800" cap="none" spc="0">
                          <a:solidFill>
                            <a:schemeClr val="tx1"/>
                          </a:solidFill>
                          <a:hlinkClick r:id="rId5" tooltip="How to enable Copilot in Power BI - AtWork Blog">
                            <a:extLst>
                              <a:ext uri="{A12FA001-AC4F-418D-AE19-62706E023703}">
                                <ahyp:hlinkClr xmlns:ahyp="http://schemas.microsoft.com/office/drawing/2018/hyperlinkcolor" val="tx"/>
                              </a:ext>
                            </a:extLst>
                          </a:hlinkClick>
                        </a:rPr>
                        <a:t>blog.atwork.at</a:t>
                      </a:r>
                      <a:r>
                        <a:rPr lang="en-US" sz="800" cap="none" spc="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12700" cmpd="sng">
                      <a:noFill/>
                      <a:prstDash val="solid"/>
                    </a:lnB>
                    <a:noFill/>
                  </a:tcPr>
                </a:tc>
                <a:extLst>
                  <a:ext uri="{0D108BD9-81ED-4DB2-BD59-A6C34878D82A}">
                    <a16:rowId xmlns:a16="http://schemas.microsoft.com/office/drawing/2014/main" val="3584173027"/>
                  </a:ext>
                </a:extLst>
              </a:tr>
              <a:tr h="234088">
                <a:tc>
                  <a:txBody>
                    <a:bodyPr/>
                    <a:lstStyle/>
                    <a:p>
                      <a:pPr>
                        <a:buNone/>
                      </a:pPr>
                      <a:r>
                        <a:rPr lang="en-AU" sz="800" b="1" cap="none" spc="0">
                          <a:solidFill>
                            <a:schemeClr val="tx1"/>
                          </a:solidFill>
                        </a:rPr>
                        <a:t>Last updated</a:t>
                      </a:r>
                      <a:endParaRPr lang="en-AU" sz="800" cap="none" spc="0">
                        <a:solidFill>
                          <a:schemeClr val="tx1"/>
                        </a:solidFill>
                      </a:endParaRPr>
                    </a:p>
                  </a:txBody>
                  <a:tcPr marL="11115" marR="11115" marT="30196" marB="30196" anchor="ctr">
                    <a:lnL w="28575" cap="flat" cmpd="sng" algn="ctr">
                      <a:noFill/>
                      <a:prstDash val="solid"/>
                    </a:lnL>
                    <a:lnR w="12700" cmpd="sng">
                      <a:noFill/>
                      <a:prstDash val="solid"/>
                    </a:lnR>
                    <a:lnT w="12700" cmpd="sng">
                      <a:noFill/>
                      <a:prstDash val="solid"/>
                    </a:lnT>
                    <a:lnB w="28575" cap="flat" cmpd="sng" algn="ctr">
                      <a:noFill/>
                      <a:prstDash val="solid"/>
                    </a:lnB>
                    <a:noFill/>
                  </a:tcPr>
                </a:tc>
                <a:tc>
                  <a:txBody>
                    <a:bodyPr/>
                    <a:lstStyle/>
                    <a:p>
                      <a:pPr>
                        <a:buNone/>
                      </a:pPr>
                      <a:r>
                        <a:rPr lang="en-US" sz="800" cap="none" spc="0" dirty="0">
                          <a:solidFill>
                            <a:schemeClr val="tx1"/>
                          </a:solidFill>
                        </a:rPr>
                        <a:t>October 16, 2025. (</a:t>
                      </a:r>
                      <a:r>
                        <a:rPr lang="en-US" sz="800" cap="none" spc="0" dirty="0">
                          <a:solidFill>
                            <a:schemeClr val="tx1"/>
                          </a:solidFill>
                          <a:hlinkClick r:id="rId2" tooltip="Enable Fabric Copilot for Power BI">
                            <a:extLst>
                              <a:ext uri="{A12FA001-AC4F-418D-AE19-62706E023703}">
                                <ahyp:hlinkClr xmlns:ahyp="http://schemas.microsoft.com/office/drawing/2018/hyperlinkcolor" val="tx"/>
                              </a:ext>
                            </a:extLst>
                          </a:hlinkClick>
                        </a:rPr>
                        <a:t>Microsoft Learn</a:t>
                      </a:r>
                      <a:r>
                        <a:rPr lang="en-US" sz="800" cap="none" spc="0" dirty="0">
                          <a:solidFill>
                            <a:schemeClr val="tx1"/>
                          </a:solidFill>
                        </a:rPr>
                        <a:t>)</a:t>
                      </a:r>
                    </a:p>
                  </a:txBody>
                  <a:tcPr marL="11115" marR="11115" marT="30196" marB="30196" anchor="ctr">
                    <a:lnL w="12700" cmpd="sng">
                      <a:noFill/>
                      <a:prstDash val="solid"/>
                    </a:lnL>
                    <a:lnR w="28575" cap="flat" cmpd="sng" algn="ctr">
                      <a:noFill/>
                      <a:prstDash val="solid"/>
                    </a:lnR>
                    <a:lnT w="12700" cmpd="sng">
                      <a:noFill/>
                      <a:prstDash val="solid"/>
                    </a:lnT>
                    <a:lnB w="28575" cap="flat" cmpd="sng" algn="ctr">
                      <a:noFill/>
                      <a:prstDash val="solid"/>
                    </a:lnB>
                    <a:noFill/>
                  </a:tcPr>
                </a:tc>
                <a:extLst>
                  <a:ext uri="{0D108BD9-81ED-4DB2-BD59-A6C34878D82A}">
                    <a16:rowId xmlns:a16="http://schemas.microsoft.com/office/drawing/2014/main" val="947857287"/>
                  </a:ext>
                </a:extLst>
              </a:tr>
            </a:tbl>
          </a:graphicData>
        </a:graphic>
      </p:graphicFrame>
    </p:spTree>
    <p:extLst>
      <p:ext uri="{BB962C8B-B14F-4D97-AF65-F5344CB8AC3E}">
        <p14:creationId xmlns:p14="http://schemas.microsoft.com/office/powerpoint/2010/main" val="781620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7" name="Rectangle 6156">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146" name="Picture 2" descr="Screenshot of the Copilot setting in the Fabric admin portal that asks admins to enable delegation to capacity admins.">
            <a:extLst>
              <a:ext uri="{FF2B5EF4-FFF2-40B4-BE49-F238E27FC236}">
                <a16:creationId xmlns:a16="http://schemas.microsoft.com/office/drawing/2014/main" id="{B77306C7-2936-0756-DED4-AAC6FEBBC5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9639" b="5606"/>
          <a:stretch>
            <a:fillRect/>
          </a:stretch>
        </p:blipFill>
        <p:spPr bwMode="auto">
          <a:xfrm>
            <a:off x="457200" y="457200"/>
            <a:ext cx="11277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84903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C56C4F-27B2-85B5-74B0-F8BA46A96A22}"/>
            </a:ext>
          </a:extLst>
        </p:cNvPr>
        <p:cNvGrpSpPr/>
        <p:nvPr/>
      </p:nvGrpSpPr>
      <p:grpSpPr>
        <a:xfrm>
          <a:off x="0" y="0"/>
          <a:ext cx="0" cy="0"/>
          <a:chOff x="0" y="0"/>
          <a:chExt cx="0" cy="0"/>
        </a:xfrm>
      </p:grpSpPr>
      <p:sp useBgFill="1">
        <p:nvSpPr>
          <p:cNvPr id="7183" name="Rectangle 7182">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4" name="Rectangle 7183">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5" name="Rectangle 7184">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86" name="Rectangle 7185">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170" name="Picture 2" descr="Screenshot of the Copilot setting in the Fabric admin portal that lets admins set cross-geo and delegated cross-geo.">
            <a:extLst>
              <a:ext uri="{FF2B5EF4-FFF2-40B4-BE49-F238E27FC236}">
                <a16:creationId xmlns:a16="http://schemas.microsoft.com/office/drawing/2014/main" id="{EEA4270B-15DE-BD00-8076-133ECE197F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402"/>
          <a:stretch>
            <a:fillRect/>
          </a:stretch>
        </p:blipFill>
        <p:spPr bwMode="auto">
          <a:xfrm>
            <a:off x="457200" y="457200"/>
            <a:ext cx="11277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8843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8D083D-D321-8CAF-D871-72C51755B043}"/>
            </a:ext>
          </a:extLst>
        </p:cNvPr>
        <p:cNvGrpSpPr/>
        <p:nvPr/>
      </p:nvGrpSpPr>
      <p:grpSpPr>
        <a:xfrm>
          <a:off x="0" y="0"/>
          <a:ext cx="0" cy="0"/>
          <a:chOff x="0" y="0"/>
          <a:chExt cx="0" cy="0"/>
        </a:xfrm>
      </p:grpSpPr>
      <p:sp useBgFill="1">
        <p:nvSpPr>
          <p:cNvPr id="8199" name="Rectangle 8198">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1" name="Rectangle 8200">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3" name="Rectangle 8202">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194" name="Picture 2" descr="Screenshot of the Copilot setting in the Fabric admin portal that lets capacity admins set Copilot.">
            <a:extLst>
              <a:ext uri="{FF2B5EF4-FFF2-40B4-BE49-F238E27FC236}">
                <a16:creationId xmlns:a16="http://schemas.microsoft.com/office/drawing/2014/main" id="{E81B210D-F295-2E1C-5375-BF631A86CE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9523"/>
          <a:stretch>
            <a:fillRect/>
          </a:stretch>
        </p:blipFill>
        <p:spPr bwMode="auto">
          <a:xfrm>
            <a:off x="457200" y="457200"/>
            <a:ext cx="11277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463882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3" name="Rectangle 9222">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5" name="Rectangle 9224">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7" name="Rectangle 9226">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218" name="Picture 2" descr="Screenshot of the standalone Power BI Copilot setting in the Fabric Admin portal.">
            <a:extLst>
              <a:ext uri="{FF2B5EF4-FFF2-40B4-BE49-F238E27FC236}">
                <a16:creationId xmlns:a16="http://schemas.microsoft.com/office/drawing/2014/main" id="{BC1BDD5F-618E-F305-5551-E1D9319D86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b="1490"/>
          <a:stretch>
            <a:fillRect/>
          </a:stretch>
        </p:blipFill>
        <p:spPr bwMode="auto">
          <a:xfrm>
            <a:off x="457200" y="457200"/>
            <a:ext cx="11277600" cy="594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770427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4873D9F8-BB80-5617-3148-41E8CB8ECA51}"/>
              </a:ext>
            </a:extLst>
          </p:cNvPr>
          <p:cNvGraphicFramePr>
            <a:graphicFrameLocks noGrp="1"/>
          </p:cNvGraphicFramePr>
          <p:nvPr>
            <p:extLst>
              <p:ext uri="{D42A27DB-BD31-4B8C-83A1-F6EECF244321}">
                <p14:modId xmlns:p14="http://schemas.microsoft.com/office/powerpoint/2010/main" val="2959877321"/>
              </p:ext>
            </p:extLst>
          </p:nvPr>
        </p:nvGraphicFramePr>
        <p:xfrm>
          <a:off x="500064" y="643466"/>
          <a:ext cx="10284786" cy="5571069"/>
        </p:xfrm>
        <a:graphic>
          <a:graphicData uri="http://schemas.openxmlformats.org/drawingml/2006/table">
            <a:tbl>
              <a:tblPr firstRow="1">
                <a:tableStyleId>{21E4AEA4-8DFA-4A89-87EB-49C32662AFE0}</a:tableStyleId>
              </a:tblPr>
              <a:tblGrid>
                <a:gridCol w="1325531">
                  <a:extLst>
                    <a:ext uri="{9D8B030D-6E8A-4147-A177-3AD203B41FA5}">
                      <a16:colId xmlns:a16="http://schemas.microsoft.com/office/drawing/2014/main" val="2462353772"/>
                    </a:ext>
                  </a:extLst>
                </a:gridCol>
                <a:gridCol w="2224953">
                  <a:extLst>
                    <a:ext uri="{9D8B030D-6E8A-4147-A177-3AD203B41FA5}">
                      <a16:colId xmlns:a16="http://schemas.microsoft.com/office/drawing/2014/main" val="3963017500"/>
                    </a:ext>
                  </a:extLst>
                </a:gridCol>
                <a:gridCol w="2224953">
                  <a:extLst>
                    <a:ext uri="{9D8B030D-6E8A-4147-A177-3AD203B41FA5}">
                      <a16:colId xmlns:a16="http://schemas.microsoft.com/office/drawing/2014/main" val="172851865"/>
                    </a:ext>
                  </a:extLst>
                </a:gridCol>
                <a:gridCol w="2282496">
                  <a:extLst>
                    <a:ext uri="{9D8B030D-6E8A-4147-A177-3AD203B41FA5}">
                      <a16:colId xmlns:a16="http://schemas.microsoft.com/office/drawing/2014/main" val="3005245049"/>
                    </a:ext>
                  </a:extLst>
                </a:gridCol>
                <a:gridCol w="2226853">
                  <a:extLst>
                    <a:ext uri="{9D8B030D-6E8A-4147-A177-3AD203B41FA5}">
                      <a16:colId xmlns:a16="http://schemas.microsoft.com/office/drawing/2014/main" val="4006323070"/>
                    </a:ext>
                  </a:extLst>
                </a:gridCol>
              </a:tblGrid>
              <a:tr h="713251">
                <a:tc>
                  <a:txBody>
                    <a:bodyPr/>
                    <a:lstStyle/>
                    <a:p>
                      <a:pPr algn="l" fontAlgn="ctr">
                        <a:buNone/>
                      </a:pPr>
                      <a:endParaRPr lang="en-US"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1" u="none" strike="noStrike">
                          <a:effectLst/>
                        </a:rPr>
                        <a:t>CU per Hour</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1" u="none" strike="noStrike">
                          <a:effectLst/>
                        </a:rPr>
                        <a:t>CU per Minute</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1" u="none" strike="noStrike">
                          <a:effectLst/>
                        </a:rPr>
                        <a:t>Example Token Usage</a:t>
                      </a:r>
                      <a:endParaRPr lang="en-AU" sz="1900" b="0" i="0" u="none" strike="noStrike">
                        <a:effectLst/>
                        <a:latin typeface="Arial" panose="020B0604020202020204" pitchFamily="34" charset="0"/>
                      </a:endParaRPr>
                    </a:p>
                  </a:txBody>
                  <a:tcPr marL="96385" marR="96385" marT="48193" marB="48193" anchor="ctr"/>
                </a:tc>
                <a:tc>
                  <a:txBody>
                    <a:bodyPr/>
                    <a:lstStyle/>
                    <a:p>
                      <a:pPr algn="l" fontAlgn="t">
                        <a:buNone/>
                      </a:pPr>
                      <a:endParaRPr lang="en-US" sz="1900" b="0" i="0" u="none" strike="noStrike">
                        <a:effectLst/>
                        <a:latin typeface="Arial" panose="020B0604020202020204" pitchFamily="34" charset="0"/>
                      </a:endParaRPr>
                    </a:p>
                  </a:txBody>
                  <a:tcPr marL="96385" marR="96385" marT="48193" marB="48193"/>
                </a:tc>
                <a:extLst>
                  <a:ext uri="{0D108BD9-81ED-4DB2-BD59-A6C34878D82A}">
                    <a16:rowId xmlns:a16="http://schemas.microsoft.com/office/drawing/2014/main" val="474863616"/>
                  </a:ext>
                </a:extLst>
              </a:tr>
              <a:tr h="1291563">
                <a:tc>
                  <a:txBody>
                    <a:bodyPr/>
                    <a:lstStyle/>
                    <a:p>
                      <a:pPr algn="l" fontAlgn="ctr">
                        <a:buNone/>
                      </a:pPr>
                      <a:r>
                        <a:rPr lang="en-AU" sz="1900" b="1" u="none" strike="noStrike">
                          <a:effectLst/>
                        </a:rPr>
                        <a:t>F2</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2</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7,200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120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2,000 input + 500 output tokens ≈ 6.67 CU-min</a:t>
                      </a:r>
                      <a:endParaRPr lang="en-AU" sz="1900" b="0" i="0" u="none" strike="noStrike">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1430008325"/>
                  </a:ext>
                </a:extLst>
              </a:tr>
              <a:tr h="713251">
                <a:tc>
                  <a:txBody>
                    <a:bodyPr/>
                    <a:lstStyle/>
                    <a:p>
                      <a:pPr algn="l" fontAlgn="ctr">
                        <a:buNone/>
                      </a:pPr>
                      <a:r>
                        <a:rPr lang="en-AU" sz="1900" b="1" u="none" strike="noStrike">
                          <a:effectLst/>
                        </a:rPr>
                        <a:t>F4</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4</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14,400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240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Same request ≈ 3.33 CU-min</a:t>
                      </a:r>
                      <a:endParaRPr lang="en-AU" sz="1900" b="0" i="0" u="none" strike="noStrike">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3643132075"/>
                  </a:ext>
                </a:extLst>
              </a:tr>
              <a:tr h="713251">
                <a:tc>
                  <a:txBody>
                    <a:bodyPr/>
                    <a:lstStyle/>
                    <a:p>
                      <a:pPr algn="l" fontAlgn="ctr">
                        <a:buNone/>
                      </a:pPr>
                      <a:r>
                        <a:rPr lang="en-AU" sz="1900" b="1" u="none" strike="noStrike">
                          <a:effectLst/>
                        </a:rPr>
                        <a:t>F8</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8</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28,800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480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Same request ≈ 1.67 CU-min</a:t>
                      </a:r>
                      <a:endParaRPr lang="en-AU" sz="1900" b="0" i="0" u="none" strike="noStrike">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3728436180"/>
                  </a:ext>
                </a:extLst>
              </a:tr>
              <a:tr h="713251">
                <a:tc>
                  <a:txBody>
                    <a:bodyPr/>
                    <a:lstStyle/>
                    <a:p>
                      <a:pPr algn="l" fontAlgn="ctr">
                        <a:buNone/>
                      </a:pPr>
                      <a:r>
                        <a:rPr lang="en-AU" sz="1900" b="1" u="none" strike="noStrike">
                          <a:effectLst/>
                        </a:rPr>
                        <a:t>F16</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16</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57,600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960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Same request ≈ 0.83 CU-min</a:t>
                      </a:r>
                      <a:endParaRPr lang="en-AU" sz="1900" b="0" i="0" u="none" strike="noStrike">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1623039695"/>
                  </a:ext>
                </a:extLst>
              </a:tr>
              <a:tr h="713251">
                <a:tc>
                  <a:txBody>
                    <a:bodyPr/>
                    <a:lstStyle/>
                    <a:p>
                      <a:pPr algn="l" fontAlgn="ctr">
                        <a:buNone/>
                      </a:pPr>
                      <a:r>
                        <a:rPr lang="en-AU" sz="1900" b="1" u="none" strike="noStrike">
                          <a:effectLst/>
                        </a:rPr>
                        <a:t>F32</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32</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115,200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1,920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Same request ≈ 0.42 CU-min</a:t>
                      </a:r>
                      <a:endParaRPr lang="en-AU" sz="1900" b="0" i="0" u="none" strike="noStrike">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671640957"/>
                  </a:ext>
                </a:extLst>
              </a:tr>
              <a:tr h="713251">
                <a:tc>
                  <a:txBody>
                    <a:bodyPr/>
                    <a:lstStyle/>
                    <a:p>
                      <a:pPr algn="l" fontAlgn="ctr">
                        <a:buNone/>
                      </a:pPr>
                      <a:r>
                        <a:rPr lang="en-AU" sz="1900" b="1" u="none" strike="noStrike">
                          <a:effectLst/>
                        </a:rPr>
                        <a:t>F64</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64</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230,400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a:effectLst/>
                        </a:rPr>
                        <a:t>3,840</a:t>
                      </a:r>
                      <a:endParaRPr lang="en-AU" sz="1900" b="0" i="0" u="none" strike="noStrike">
                        <a:effectLst/>
                        <a:latin typeface="Arial" panose="020B0604020202020204" pitchFamily="34" charset="0"/>
                      </a:endParaRPr>
                    </a:p>
                  </a:txBody>
                  <a:tcPr marL="96385" marR="96385" marT="48193" marB="48193" anchor="ctr"/>
                </a:tc>
                <a:tc>
                  <a:txBody>
                    <a:bodyPr/>
                    <a:lstStyle/>
                    <a:p>
                      <a:pPr algn="l" fontAlgn="ctr">
                        <a:buNone/>
                      </a:pPr>
                      <a:r>
                        <a:rPr lang="en-AU" sz="1900" b="0" u="none" strike="noStrike" dirty="0">
                          <a:effectLst/>
                        </a:rPr>
                        <a:t>Same request ≈ 0.21 CU-min</a:t>
                      </a:r>
                      <a:endParaRPr lang="en-AU" sz="1900" b="0" i="0" u="none" strike="noStrike" dirty="0">
                        <a:effectLst/>
                        <a:latin typeface="Arial" panose="020B0604020202020204" pitchFamily="34" charset="0"/>
                      </a:endParaRPr>
                    </a:p>
                  </a:txBody>
                  <a:tcPr marL="96385" marR="96385" marT="48193" marB="48193" anchor="ctr"/>
                </a:tc>
                <a:extLst>
                  <a:ext uri="{0D108BD9-81ED-4DB2-BD59-A6C34878D82A}">
                    <a16:rowId xmlns:a16="http://schemas.microsoft.com/office/drawing/2014/main" val="1395685623"/>
                  </a:ext>
                </a:extLst>
              </a:tr>
            </a:tbl>
          </a:graphicData>
        </a:graphic>
      </p:graphicFrame>
    </p:spTree>
    <p:extLst>
      <p:ext uri="{BB962C8B-B14F-4D97-AF65-F5344CB8AC3E}">
        <p14:creationId xmlns:p14="http://schemas.microsoft.com/office/powerpoint/2010/main" val="144272016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45</TotalTime>
  <Words>1000</Words>
  <Application>Microsoft Office PowerPoint</Application>
  <PresentationFormat>Widescreen</PresentationFormat>
  <Paragraphs>88</Paragraphs>
  <Slides>13</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Display</vt:lpstr>
      <vt:lpstr>Arial</vt:lpstr>
      <vt:lpstr>Calibri</vt:lpstr>
      <vt:lpstr>Segoe Sans Text</vt:lpstr>
      <vt:lpstr>Segoe Sans Text Semibold</vt:lpstr>
      <vt:lpstr>Wingdings</vt:lpstr>
      <vt:lpstr>Office Theme</vt:lpstr>
      <vt:lpstr>Copilot in Fabric</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Ravikumar pasupuleti</dc:creator>
  <cp:lastModifiedBy>Ravikumar pasupuleti</cp:lastModifiedBy>
  <cp:revision>12</cp:revision>
  <dcterms:created xsi:type="dcterms:W3CDTF">2025-11-18T12:37:59Z</dcterms:created>
  <dcterms:modified xsi:type="dcterms:W3CDTF">2025-11-18T14:25:03Z</dcterms:modified>
</cp:coreProperties>
</file>